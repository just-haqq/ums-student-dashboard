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86" r:id="rId1"/>
  </p:sldMasterIdLst>
  <p:notesMasterIdLst>
    <p:notesMasterId r:id="rId74"/>
  </p:notesMasterIdLst>
  <p:handoutMasterIdLst>
    <p:handoutMasterId r:id="rId75"/>
  </p:handoutMasterIdLst>
  <p:sldIdLst>
    <p:sldId id="374" r:id="rId2"/>
    <p:sldId id="443" r:id="rId3"/>
    <p:sldId id="406" r:id="rId4"/>
    <p:sldId id="348" r:id="rId5"/>
    <p:sldId id="407" r:id="rId6"/>
    <p:sldId id="346" r:id="rId7"/>
    <p:sldId id="349" r:id="rId8"/>
    <p:sldId id="350" r:id="rId9"/>
    <p:sldId id="352" r:id="rId10"/>
    <p:sldId id="409" r:id="rId11"/>
    <p:sldId id="351" r:id="rId12"/>
    <p:sldId id="410" r:id="rId13"/>
    <p:sldId id="448" r:id="rId14"/>
    <p:sldId id="387" r:id="rId15"/>
    <p:sldId id="391" r:id="rId16"/>
    <p:sldId id="401" r:id="rId17"/>
    <p:sldId id="449" r:id="rId18"/>
    <p:sldId id="353" r:id="rId19"/>
    <p:sldId id="388" r:id="rId20"/>
    <p:sldId id="394" r:id="rId21"/>
    <p:sldId id="395" r:id="rId22"/>
    <p:sldId id="396" r:id="rId23"/>
    <p:sldId id="397" r:id="rId24"/>
    <p:sldId id="389" r:id="rId25"/>
    <p:sldId id="398" r:id="rId26"/>
    <p:sldId id="399" r:id="rId27"/>
    <p:sldId id="400" r:id="rId28"/>
    <p:sldId id="390" r:id="rId29"/>
    <p:sldId id="392" r:id="rId30"/>
    <p:sldId id="393" r:id="rId31"/>
    <p:sldId id="402" r:id="rId32"/>
    <p:sldId id="403" r:id="rId33"/>
    <p:sldId id="404" r:id="rId34"/>
    <p:sldId id="432" r:id="rId35"/>
    <p:sldId id="405" r:id="rId36"/>
    <p:sldId id="415" r:id="rId37"/>
    <p:sldId id="416" r:id="rId38"/>
    <p:sldId id="433" r:id="rId39"/>
    <p:sldId id="417" r:id="rId40"/>
    <p:sldId id="418" r:id="rId41"/>
    <p:sldId id="437" r:id="rId42"/>
    <p:sldId id="438" r:id="rId43"/>
    <p:sldId id="419" r:id="rId44"/>
    <p:sldId id="420" r:id="rId45"/>
    <p:sldId id="421" r:id="rId46"/>
    <p:sldId id="435" r:id="rId47"/>
    <p:sldId id="436" r:id="rId48"/>
    <p:sldId id="422" r:id="rId49"/>
    <p:sldId id="423" r:id="rId50"/>
    <p:sldId id="439" r:id="rId51"/>
    <p:sldId id="440" r:id="rId52"/>
    <p:sldId id="424" r:id="rId53"/>
    <p:sldId id="434" r:id="rId54"/>
    <p:sldId id="425" r:id="rId55"/>
    <p:sldId id="450" r:id="rId56"/>
    <p:sldId id="426" r:id="rId57"/>
    <p:sldId id="427" r:id="rId58"/>
    <p:sldId id="428" r:id="rId59"/>
    <p:sldId id="429" r:id="rId60"/>
    <p:sldId id="431" r:id="rId61"/>
    <p:sldId id="451" r:id="rId62"/>
    <p:sldId id="412" r:id="rId63"/>
    <p:sldId id="413" r:id="rId64"/>
    <p:sldId id="444" r:id="rId65"/>
    <p:sldId id="414" r:id="rId66"/>
    <p:sldId id="445" r:id="rId67"/>
    <p:sldId id="446" r:id="rId68"/>
    <p:sldId id="452" r:id="rId69"/>
    <p:sldId id="447" r:id="rId70"/>
    <p:sldId id="441" r:id="rId71"/>
    <p:sldId id="442" r:id="rId72"/>
    <p:sldId id="315" r:id="rId73"/>
  </p:sldIdLst>
  <p:sldSz cx="12192000" cy="6858000"/>
  <p:notesSz cx="7010400" cy="92964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64" y="216"/>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3177" tIns="46589" rIns="93177" bIns="46589"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3177" tIns="46589" rIns="93177" bIns="46589" rtlCol="0"/>
          <a:lstStyle>
            <a:lvl1pPr algn="r" eaLnBrk="1" fontAlgn="auto" hangingPunct="1">
              <a:spcBef>
                <a:spcPts val="0"/>
              </a:spcBef>
              <a:spcAft>
                <a:spcPts val="0"/>
              </a:spcAft>
              <a:defRPr sz="1200">
                <a:latin typeface="+mn-lt"/>
              </a:defRPr>
            </a:lvl1pPr>
          </a:lstStyle>
          <a:p>
            <a:pPr>
              <a:defRPr/>
            </a:pPr>
            <a:fld id="{601F2302-DAC5-4D1E-987F-F52F25F00B81}" type="datetimeFigureOut">
              <a:rPr lang="en-US"/>
              <a:pPr>
                <a:defRPr/>
              </a:pPr>
              <a:t>1/7/2023</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smtClean="0"/>
            </a:lvl1pPr>
          </a:lstStyle>
          <a:p>
            <a:pPr>
              <a:defRPr/>
            </a:pPr>
            <a:fld id="{50C6068A-C0BC-4A0C-8932-784B7340DC13}"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3"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fontAlgn="auto" hangingPunct="1">
              <a:spcBef>
                <a:spcPts val="0"/>
              </a:spcBef>
              <a:spcAft>
                <a:spcPts val="0"/>
              </a:spcAft>
              <a:defRPr sz="1200">
                <a:latin typeface="Arial" charset="0"/>
                <a:cs typeface="+mn-cs"/>
              </a:defRPr>
            </a:lvl1pPr>
          </a:lstStyle>
          <a:p>
            <a:pPr>
              <a:defRPr/>
            </a:pPr>
            <a:endParaRPr lang="en-GB"/>
          </a:p>
        </p:txBody>
      </p:sp>
      <p:sp>
        <p:nvSpPr>
          <p:cNvPr id="8196"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7"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smtClean="0"/>
            </a:lvl1pPr>
          </a:lstStyle>
          <a:p>
            <a:pPr>
              <a:defRPr/>
            </a:pPr>
            <a:fld id="{F7853838-6B8E-41A0-BC26-3FAB29C3EB49}"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3"/>
          <p:cNvSpPr>
            <a:spLocks noGrp="1"/>
          </p:cNvSpPr>
          <p:nvPr>
            <p:ph type="dt" sz="half" idx="10"/>
          </p:nvPr>
        </p:nvSpPr>
        <p:spPr/>
        <p:txBody>
          <a:bodyPr/>
          <a:lstStyle>
            <a:lvl1pPr>
              <a:defRPr/>
            </a:lvl1pPr>
          </a:lstStyle>
          <a:p>
            <a:pPr>
              <a:defRPr/>
            </a:pPr>
            <a:fld id="{F008D5B7-8EB4-4B01-AED9-92B2AA90B696}" type="datetime1">
              <a:rPr lang="en-GB"/>
              <a:pPr>
                <a:defRPr/>
              </a:pPr>
              <a:t>07/01/2023</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smtClean="0"/>
            </a:lvl1pPr>
          </a:lstStyle>
          <a:p>
            <a:pPr>
              <a:defRPr/>
            </a:pPr>
            <a:fld id="{93BD8515-2BF7-4FBF-99D5-CE15862887EF}" type="slidenum">
              <a:rPr lang="en-US" altLang="en-US"/>
              <a:pPr>
                <a:defRPr/>
              </a:pPr>
              <a:t>‹#›</a:t>
            </a:fld>
            <a:endParaRPr lang="en-US" altLang="en-US"/>
          </a:p>
        </p:txBody>
      </p:sp>
    </p:spTree>
    <p:extLst>
      <p:ext uri="{BB962C8B-B14F-4D97-AF65-F5344CB8AC3E}">
        <p14:creationId xmlns:p14="http://schemas.microsoft.com/office/powerpoint/2010/main" val="516557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A14FDC07-F2FD-4583-BEC3-8FB93ED31CD1}" type="datetime1">
              <a:rPr lang="en-GB"/>
              <a:pPr>
                <a:defRPr/>
              </a:pPr>
              <a:t>07/01/2023</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84CB106-59EF-4E38-AE9E-B3544BD66F06}" type="slidenum">
              <a:rPr lang="en-GB" altLang="en-US"/>
              <a:pPr>
                <a:defRPr/>
              </a:pPr>
              <a:t>‹#›</a:t>
            </a:fld>
            <a:endParaRPr lang="en-GB" altLang="en-US"/>
          </a:p>
        </p:txBody>
      </p:sp>
    </p:spTree>
    <p:extLst>
      <p:ext uri="{BB962C8B-B14F-4D97-AF65-F5344CB8AC3E}">
        <p14:creationId xmlns:p14="http://schemas.microsoft.com/office/powerpoint/2010/main" val="178113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AEFC9DBE-3FF2-4904-8C65-CD3160DF2904}" type="datetime1">
              <a:rPr lang="en-GB"/>
              <a:pPr>
                <a:defRPr/>
              </a:pPr>
              <a:t>07/01/2023</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smtClean="0"/>
            </a:lvl1pPr>
          </a:lstStyle>
          <a:p>
            <a:pPr>
              <a:defRPr/>
            </a:pPr>
            <a:fld id="{9044F6E1-4889-4B8B-8CBA-E842A144C017}" type="slidenum">
              <a:rPr lang="en-GB" altLang="en-US"/>
              <a:pPr>
                <a:defRPr/>
              </a:pPr>
              <a:t>‹#›</a:t>
            </a:fld>
            <a:endParaRPr lang="en-GB" altLang="en-US"/>
          </a:p>
        </p:txBody>
      </p:sp>
    </p:spTree>
    <p:extLst>
      <p:ext uri="{BB962C8B-B14F-4D97-AF65-F5344CB8AC3E}">
        <p14:creationId xmlns:p14="http://schemas.microsoft.com/office/powerpoint/2010/main" val="1032672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CDE2FB41-3CE1-4C50-8870-0B63D8FC210A}" type="datetime1">
              <a:rPr lang="en-GB"/>
              <a:pPr>
                <a:defRPr/>
              </a:pPr>
              <a:t>07/01/2023</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83D530C7-866A-4E32-9D84-AC8AA2B72CFB}" type="slidenum">
              <a:rPr lang="en-GB" altLang="en-US"/>
              <a:pPr>
                <a:defRPr/>
              </a:pPr>
              <a:t>‹#›</a:t>
            </a:fld>
            <a:endParaRPr lang="en-GB" altLang="en-US"/>
          </a:p>
        </p:txBody>
      </p:sp>
    </p:spTree>
    <p:extLst>
      <p:ext uri="{BB962C8B-B14F-4D97-AF65-F5344CB8AC3E}">
        <p14:creationId xmlns:p14="http://schemas.microsoft.com/office/powerpoint/2010/main" val="1301665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3AD151B0-93E0-4A5B-99F1-78C263DC671D}" type="datetime1">
              <a:rPr lang="en-GB"/>
              <a:pPr>
                <a:defRPr/>
              </a:pPr>
              <a:t>07/01/2023</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25D44D7B-0C50-411C-9F76-8A07733B21B9}" type="slidenum">
              <a:rPr lang="en-GB" altLang="en-US"/>
              <a:pPr>
                <a:defRPr/>
              </a:pPr>
              <a:t>‹#›</a:t>
            </a:fld>
            <a:endParaRPr lang="en-GB" altLang="en-US"/>
          </a:p>
        </p:txBody>
      </p:sp>
    </p:spTree>
    <p:extLst>
      <p:ext uri="{BB962C8B-B14F-4D97-AF65-F5344CB8AC3E}">
        <p14:creationId xmlns:p14="http://schemas.microsoft.com/office/powerpoint/2010/main" val="1905077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D6371072-3C1C-47E7-A7AC-5A0F34820F27}" type="datetime1">
              <a:rPr lang="en-GB"/>
              <a:pPr>
                <a:defRPr/>
              </a:pPr>
              <a:t>07/01/2023</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3C7A0EF-8E95-4010-8A9C-1A9186EB16D1}" type="slidenum">
              <a:rPr lang="en-GB" altLang="en-US"/>
              <a:pPr>
                <a:defRPr/>
              </a:pPr>
              <a:t>‹#›</a:t>
            </a:fld>
            <a:endParaRPr lang="en-GB" altLang="en-US"/>
          </a:p>
        </p:txBody>
      </p:sp>
    </p:spTree>
    <p:extLst>
      <p:ext uri="{BB962C8B-B14F-4D97-AF65-F5344CB8AC3E}">
        <p14:creationId xmlns:p14="http://schemas.microsoft.com/office/powerpoint/2010/main" val="249729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fld id="{E532D9E9-AAC4-45D0-BB4A-07628246358D}" type="datetime1">
              <a:rPr lang="en-GB"/>
              <a:pPr>
                <a:defRPr/>
              </a:pPr>
              <a:t>07/01/2023</a:t>
            </a:fld>
            <a:endParaRPr lang="en-GB"/>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endParaRPr lang="en-GB"/>
          </a:p>
        </p:txBody>
      </p:sp>
      <p:sp>
        <p:nvSpPr>
          <p:cNvPr id="6" name="Slide Number Placeholder 8"/>
          <p:cNvSpPr>
            <a:spLocks noGrp="1"/>
          </p:cNvSpPr>
          <p:nvPr>
            <p:ph type="sldNum" sz="quarter" idx="12"/>
          </p:nvPr>
        </p:nvSpPr>
        <p:spPr/>
        <p:txBody>
          <a:bodyPr/>
          <a:lstStyle>
            <a:lvl1pPr>
              <a:defRPr smtClean="0"/>
            </a:lvl1pPr>
          </a:lstStyle>
          <a:p>
            <a:pPr>
              <a:defRPr/>
            </a:pPr>
            <a:fld id="{9AE41378-A778-4B4E-B11B-CF45CD563F72}" type="slidenum">
              <a:rPr lang="en-GB" altLang="en-US"/>
              <a:pPr>
                <a:defRPr/>
              </a:pPr>
              <a:t>‹#›</a:t>
            </a:fld>
            <a:endParaRPr lang="en-GB" altLang="en-US"/>
          </a:p>
        </p:txBody>
      </p:sp>
    </p:spTree>
    <p:extLst>
      <p:ext uri="{BB962C8B-B14F-4D97-AF65-F5344CB8AC3E}">
        <p14:creationId xmlns:p14="http://schemas.microsoft.com/office/powerpoint/2010/main" val="3992267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465138" y="6459538"/>
            <a:ext cx="2619375" cy="365125"/>
          </a:xfrm>
        </p:spPr>
        <p:txBody>
          <a:bodyPr/>
          <a:lstStyle>
            <a:lvl1pPr algn="l">
              <a:defRPr/>
            </a:lvl1pPr>
          </a:lstStyle>
          <a:p>
            <a:pPr>
              <a:defRPr/>
            </a:pPr>
            <a:fld id="{74E99B4C-6587-42AE-9D8E-C616D137BB48}" type="datetime1">
              <a:rPr lang="en-GB"/>
              <a:pPr>
                <a:defRPr/>
              </a:pPr>
              <a:t>07/01/2023</a:t>
            </a:fld>
            <a:endParaRPr lang="en-GB"/>
          </a:p>
        </p:txBody>
      </p:sp>
      <p:sp>
        <p:nvSpPr>
          <p:cNvPr id="8" name="Footer Placeholder 5"/>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endParaRPr lang="en-GB"/>
          </a:p>
        </p:txBody>
      </p:sp>
      <p:sp>
        <p:nvSpPr>
          <p:cNvPr id="9" name="Slide Number Placeholder 6"/>
          <p:cNvSpPr>
            <a:spLocks noGrp="1"/>
          </p:cNvSpPr>
          <p:nvPr>
            <p:ph type="sldNum" sz="quarter" idx="12"/>
          </p:nvPr>
        </p:nvSpPr>
        <p:spPr/>
        <p:txBody>
          <a:bodyPr/>
          <a:lstStyle>
            <a:lvl1pPr>
              <a:defRPr smtClean="0">
                <a:solidFill>
                  <a:schemeClr val="tx2"/>
                </a:solidFill>
              </a:defRPr>
            </a:lvl1pPr>
          </a:lstStyle>
          <a:p>
            <a:pPr>
              <a:defRPr/>
            </a:pPr>
            <a:fld id="{256E23E5-6B83-4202-8C29-DA9226463B9B}" type="slidenum">
              <a:rPr lang="en-GB" altLang="en-US"/>
              <a:pPr>
                <a:defRPr/>
              </a:pPr>
              <a:t>‹#›</a:t>
            </a:fld>
            <a:endParaRPr lang="en-GB" altLang="en-US"/>
          </a:p>
        </p:txBody>
      </p:sp>
    </p:spTree>
    <p:extLst>
      <p:ext uri="{BB962C8B-B14F-4D97-AF65-F5344CB8AC3E}">
        <p14:creationId xmlns:p14="http://schemas.microsoft.com/office/powerpoint/2010/main" val="433717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fld id="{AB8E6A46-CF86-49A3-995E-F6F1B73B1C2C}" type="datetime1">
              <a:rPr lang="en-GB"/>
              <a:pPr>
                <a:defRPr/>
              </a:pPr>
              <a:t>07/01/2023</a:t>
            </a:fld>
            <a:endParaRPr lang="en-GB"/>
          </a:p>
        </p:txBody>
      </p:sp>
      <p:sp>
        <p:nvSpPr>
          <p:cNvPr id="8" name="Footer Placeholder 5"/>
          <p:cNvSpPr>
            <a:spLocks noGrp="1"/>
          </p:cNvSpPr>
          <p:nvPr>
            <p:ph type="ftr" sz="quarter" idx="11"/>
          </p:nvPr>
        </p:nvSpPr>
        <p:spPr/>
        <p:txBody>
          <a:bodyPr/>
          <a:lstStyle>
            <a:lvl1pPr>
              <a:defRPr/>
            </a:lvl1pPr>
          </a:lstStyle>
          <a:p>
            <a:pPr>
              <a:defRPr/>
            </a:pPr>
            <a:endParaRPr lang="en-GB"/>
          </a:p>
        </p:txBody>
      </p:sp>
      <p:sp>
        <p:nvSpPr>
          <p:cNvPr id="9" name="Slide Number Placeholder 6"/>
          <p:cNvSpPr>
            <a:spLocks noGrp="1"/>
          </p:cNvSpPr>
          <p:nvPr>
            <p:ph type="sldNum" sz="quarter" idx="12"/>
          </p:nvPr>
        </p:nvSpPr>
        <p:spPr/>
        <p:txBody>
          <a:bodyPr/>
          <a:lstStyle>
            <a:lvl1pPr>
              <a:defRPr smtClean="0"/>
            </a:lvl1pPr>
          </a:lstStyle>
          <a:p>
            <a:pPr>
              <a:defRPr/>
            </a:pPr>
            <a:fld id="{B7E4AA0E-9A21-4C1E-A369-2E3B56CB159C}" type="slidenum">
              <a:rPr lang="en-GB" altLang="en-US"/>
              <a:pPr>
                <a:defRPr/>
              </a:pPr>
              <a:t>‹#›</a:t>
            </a:fld>
            <a:endParaRPr lang="en-GB" altLang="en-US"/>
          </a:p>
        </p:txBody>
      </p:sp>
    </p:spTree>
    <p:extLst>
      <p:ext uri="{BB962C8B-B14F-4D97-AF65-F5344CB8AC3E}">
        <p14:creationId xmlns:p14="http://schemas.microsoft.com/office/powerpoint/2010/main" val="1673641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141D496-C7D3-47C1-B331-D4130B08CBA7}" type="datetime1">
              <a:rPr lang="en-GB"/>
              <a:pPr>
                <a:defRPr/>
              </a:pPr>
              <a:t>07/01/2023</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637334AF-872A-45DD-A6D9-07E710A9E53D}" type="slidenum">
              <a:rPr lang="en-GB" altLang="en-US"/>
              <a:pPr>
                <a:defRPr/>
              </a:pPr>
              <a:t>‹#›</a:t>
            </a:fld>
            <a:endParaRPr lang="en-GB" altLang="en-US"/>
          </a:p>
        </p:txBody>
      </p:sp>
    </p:spTree>
    <p:extLst>
      <p:ext uri="{BB962C8B-B14F-4D97-AF65-F5344CB8AC3E}">
        <p14:creationId xmlns:p14="http://schemas.microsoft.com/office/powerpoint/2010/main" val="3272324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pPr>
              <a:defRPr/>
            </a:pPr>
            <a:fld id="{EFE8098E-6422-404D-8452-7B0C90600AF1}" type="datetime1">
              <a:rPr lang="en-GB"/>
              <a:pPr>
                <a:defRPr/>
              </a:pPr>
              <a:t>07/01/2023</a:t>
            </a:fld>
            <a:endParaRPr lang="en-GB"/>
          </a:p>
        </p:txBody>
      </p:sp>
      <p:sp>
        <p:nvSpPr>
          <p:cNvPr id="7" name="Footer Placeholder 4"/>
          <p:cNvSpPr>
            <a:spLocks noGrp="1"/>
          </p:cNvSpPr>
          <p:nvPr>
            <p:ph type="ftr" sz="quarter" idx="11"/>
          </p:nvPr>
        </p:nvSpPr>
        <p:spPr/>
        <p:txBody>
          <a:bodyPr/>
          <a:lstStyle>
            <a:lvl1pPr>
              <a:defRPr/>
            </a:lvl1pPr>
          </a:lstStyle>
          <a:p>
            <a:pPr>
              <a:defRPr/>
            </a:pPr>
            <a:endParaRPr lang="en-GB"/>
          </a:p>
        </p:txBody>
      </p:sp>
      <p:sp>
        <p:nvSpPr>
          <p:cNvPr id="8" name="Slide Number Placeholder 5"/>
          <p:cNvSpPr>
            <a:spLocks noGrp="1"/>
          </p:cNvSpPr>
          <p:nvPr>
            <p:ph type="sldNum" sz="quarter" idx="12"/>
          </p:nvPr>
        </p:nvSpPr>
        <p:spPr/>
        <p:txBody>
          <a:bodyPr/>
          <a:lstStyle>
            <a:lvl1pPr>
              <a:defRPr smtClean="0"/>
            </a:lvl1pPr>
          </a:lstStyle>
          <a:p>
            <a:pPr>
              <a:defRPr/>
            </a:pPr>
            <a:fld id="{98686B9D-AD36-4074-9AA9-D74FA8069C51}" type="slidenum">
              <a:rPr lang="en-GB" altLang="en-US"/>
              <a:pPr>
                <a:defRPr/>
              </a:pPr>
              <a:t>‹#›</a:t>
            </a:fld>
            <a:endParaRPr lang="en-GB" altLang="en-US"/>
          </a:p>
        </p:txBody>
      </p:sp>
    </p:spTree>
    <p:extLst>
      <p:ext uri="{BB962C8B-B14F-4D97-AF65-F5344CB8AC3E}">
        <p14:creationId xmlns:p14="http://schemas.microsoft.com/office/powerpoint/2010/main" val="3502544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fld id="{F3EFD952-BC67-4641-B432-8D3FFC82FFEF}" type="datetime1">
              <a:rPr lang="en-GB"/>
              <a:pPr>
                <a:defRPr/>
              </a:pPr>
              <a:t>07/01/2023</a:t>
            </a:fld>
            <a:endParaRPr lang="en-GB"/>
          </a:p>
        </p:txBody>
      </p:sp>
      <p:sp>
        <p:nvSpPr>
          <p:cNvPr id="5" name="Footer Placeholder 4"/>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pPr>
              <a:defRPr/>
            </a:pPr>
            <a:endParaRPr lang="en-GB"/>
          </a:p>
        </p:txBody>
      </p:sp>
      <p:sp>
        <p:nvSpPr>
          <p:cNvPr id="6" name="Slide Number Placeholder 5"/>
          <p:cNvSpPr>
            <a:spLocks noGrp="1"/>
          </p:cNvSpPr>
          <p:nvPr>
            <p:ph type="sldNum" sz="quarter" idx="4"/>
          </p:nvPr>
        </p:nvSpPr>
        <p:spPr>
          <a:xfrm>
            <a:off x="9901238" y="6459538"/>
            <a:ext cx="13112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smtClean="0">
                <a:solidFill>
                  <a:srgbClr val="FFFFFF"/>
                </a:solidFill>
              </a:defRPr>
            </a:lvl1pPr>
          </a:lstStyle>
          <a:p>
            <a:pPr>
              <a:defRPr/>
            </a:pPr>
            <a:fld id="{14C802D5-7BFB-4C91-B5AD-E160672DD109}" type="slidenum">
              <a:rPr lang="en-GB" altLang="en-US"/>
              <a:pPr>
                <a:defRPr/>
              </a:pPr>
              <a:t>‹#›</a:t>
            </a:fld>
            <a:endParaRPr lang="en-GB" altLang="en-US"/>
          </a:p>
        </p:txBody>
      </p:sp>
      <p:cxnSp>
        <p:nvCxnSpPr>
          <p:cNvPr id="10" name="Straight Connector 9"/>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326" r:id="rId1"/>
    <p:sldLayoutId id="2147484321" r:id="rId2"/>
    <p:sldLayoutId id="2147484327" r:id="rId3"/>
    <p:sldLayoutId id="2147484322" r:id="rId4"/>
    <p:sldLayoutId id="2147484323" r:id="rId5"/>
    <p:sldLayoutId id="2147484324" r:id="rId6"/>
    <p:sldLayoutId id="2147484328" r:id="rId7"/>
    <p:sldLayoutId id="2147484329" r:id="rId8"/>
    <p:sldLayoutId id="2147484330" r:id="rId9"/>
    <p:sldLayoutId id="2147484325" r:id="rId10"/>
    <p:sldLayoutId id="2147484331" r:id="rId11"/>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nngroup.com/articles/how-to-conduct-a-heuristic-evaluatio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84175" y="1052513"/>
            <a:ext cx="10831513" cy="3168650"/>
          </a:xfrm>
        </p:spPr>
        <p:txBody>
          <a:bodyPr/>
          <a:lstStyle/>
          <a:p>
            <a:pPr algn="ctr" eaLnBrk="1" fontAlgn="auto" hangingPunct="1">
              <a:spcAft>
                <a:spcPts val="0"/>
              </a:spcAft>
              <a:defRPr/>
            </a:pPr>
            <a:r>
              <a:rPr lang="en-GB" altLang="en-US" dirty="0">
                <a:latin typeface="Times New Roman" panose="02020603050405020304" pitchFamily="18" charset="0"/>
                <a:cs typeface="Times New Roman" panose="02020603050405020304" pitchFamily="18" charset="0"/>
              </a:rPr>
              <a:t> </a:t>
            </a:r>
            <a:r>
              <a:rPr lang="en-GB" altLang="en-US" sz="3300" dirty="0">
                <a:latin typeface="Times New Roman" panose="02020603050405020304" pitchFamily="18" charset="0"/>
                <a:cs typeface="Times New Roman" panose="02020603050405020304" pitchFamily="18" charset="0"/>
              </a:rPr>
              <a:t>CSM 357</a:t>
            </a:r>
            <a:br>
              <a:rPr lang="en-GB" altLang="en-US" dirty="0">
                <a:latin typeface="Times New Roman" panose="02020603050405020304" pitchFamily="18" charset="0"/>
                <a:cs typeface="Times New Roman" panose="02020603050405020304" pitchFamily="18" charset="0"/>
              </a:rPr>
            </a:br>
            <a:r>
              <a:rPr lang="en-GB" altLang="en-US" sz="6000" dirty="0">
                <a:solidFill>
                  <a:schemeClr val="tx1"/>
                </a:solidFill>
                <a:latin typeface="Times New Roman" panose="02020603050405020304" pitchFamily="18" charset="0"/>
                <a:cs typeface="Times New Roman" panose="02020603050405020304" pitchFamily="18" charset="0"/>
              </a:rPr>
              <a:t>Human-Computer Interaction</a:t>
            </a:r>
            <a:br>
              <a:rPr lang="en-GB" altLang="en-US" dirty="0">
                <a:solidFill>
                  <a:srgbClr val="FFC551"/>
                </a:solidFill>
                <a:latin typeface="Times New Roman" panose="02020603050405020304" pitchFamily="18" charset="0"/>
                <a:cs typeface="Times New Roman" panose="02020603050405020304" pitchFamily="18" charset="0"/>
              </a:rPr>
            </a:br>
            <a:r>
              <a:rPr lang="en-GB" altLang="en-US" sz="2400" dirty="0">
                <a:solidFill>
                  <a:schemeClr val="tx1"/>
                </a:solidFill>
                <a:latin typeface="Times New Roman" panose="02020603050405020304" pitchFamily="18" charset="0"/>
                <a:cs typeface="Times New Roman" panose="02020603050405020304" pitchFamily="18" charset="0"/>
              </a:rPr>
              <a:t>lecture 5: </a:t>
            </a:r>
            <a:r>
              <a:rPr lang="en-GB" altLang="en-US" sz="2400" dirty="0">
                <a:latin typeface="Times New Roman" panose="02020603050405020304" pitchFamily="18" charset="0"/>
                <a:cs typeface="Times New Roman" panose="02020603050405020304" pitchFamily="18" charset="0"/>
              </a:rPr>
              <a:t>Evaluation Techniques</a:t>
            </a:r>
            <a:endParaRPr lang="en-GH" sz="2400" dirty="0">
              <a:latin typeface="Times New Roman" panose="02020603050405020304" pitchFamily="18" charset="0"/>
              <a:cs typeface="Times New Roman" panose="02020603050405020304" pitchFamily="18" charset="0"/>
            </a:endParaRPr>
          </a:p>
        </p:txBody>
      </p:sp>
      <p:sp>
        <p:nvSpPr>
          <p:cNvPr id="6" name="Subtitle 5"/>
          <p:cNvSpPr>
            <a:spLocks noGrp="1"/>
          </p:cNvSpPr>
          <p:nvPr>
            <p:ph type="subTitle" idx="1"/>
          </p:nvPr>
        </p:nvSpPr>
        <p:spPr>
          <a:xfrm>
            <a:off x="5375275" y="5949950"/>
            <a:ext cx="6646863" cy="441325"/>
          </a:xfrm>
        </p:spPr>
        <p:txBody>
          <a:bodyPr rtlCol="0"/>
          <a:lstStyle/>
          <a:p>
            <a:pPr eaLnBrk="1" fontAlgn="auto" hangingPunct="1">
              <a:defRPr/>
            </a:pPr>
            <a:r>
              <a:rPr lang="en-GB" sz="1800" b="1" dirty="0">
                <a:solidFill>
                  <a:srgbClr val="0070C0"/>
                </a:solidFill>
              </a:rPr>
              <a:t>Rose-Mary </a:t>
            </a:r>
            <a:r>
              <a:rPr lang="en-GB" sz="1800" b="1" dirty="0" err="1">
                <a:solidFill>
                  <a:srgbClr val="0070C0"/>
                </a:solidFill>
              </a:rPr>
              <a:t>Owusuaa</a:t>
            </a:r>
            <a:r>
              <a:rPr lang="en-GB" sz="1800" b="1" dirty="0">
                <a:solidFill>
                  <a:srgbClr val="0070C0"/>
                </a:solidFill>
              </a:rPr>
              <a:t> Mensah </a:t>
            </a:r>
            <a:r>
              <a:rPr lang="en-GB" sz="1800" b="1" dirty="0" err="1">
                <a:solidFill>
                  <a:srgbClr val="0070C0"/>
                </a:solidFill>
              </a:rPr>
              <a:t>Gyening</a:t>
            </a:r>
            <a:endParaRPr lang="en-GB" sz="1800" b="1" dirty="0">
              <a:solidFill>
                <a:srgbClr val="0070C0"/>
              </a:solidFill>
            </a:endParaRPr>
          </a:p>
          <a:p>
            <a:pPr eaLnBrk="1" fontAlgn="auto" hangingPunct="1">
              <a:defRPr/>
            </a:pPr>
            <a:endParaRPr lang="en-GH" dirty="0"/>
          </a:p>
        </p:txBody>
      </p:sp>
      <p:sp>
        <p:nvSpPr>
          <p:cNvPr id="102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074B10E-DA35-4F17-954A-30A0BB304FF7}" type="slidenum">
              <a:rPr lang="en-GB" altLang="en-US">
                <a:solidFill>
                  <a:srgbClr val="FFFFFF"/>
                </a:solidFill>
              </a:rPr>
              <a:pPr/>
              <a:t>1</a:t>
            </a:fld>
            <a:endParaRPr lang="en-GB" altLang="en-US">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D691-22EE-B93B-5985-6222098DB49E}"/>
              </a:ext>
            </a:extLst>
          </p:cNvPr>
          <p:cNvSpPr>
            <a:spLocks noGrp="1"/>
          </p:cNvSpPr>
          <p:nvPr>
            <p:ph type="title"/>
          </p:nvPr>
        </p:nvSpPr>
        <p:spPr>
          <a:xfrm>
            <a:off x="1096963" y="287339"/>
            <a:ext cx="10058400" cy="837406"/>
          </a:xfrm>
        </p:spPr>
        <p:txBody>
          <a:bodyPr/>
          <a:lstStyle/>
          <a:p>
            <a:endParaRPr lang="en-US" dirty="0"/>
          </a:p>
        </p:txBody>
      </p:sp>
      <p:sp>
        <p:nvSpPr>
          <p:cNvPr id="3" name="Content Placeholder 2">
            <a:extLst>
              <a:ext uri="{FF2B5EF4-FFF2-40B4-BE49-F238E27FC236}">
                <a16:creationId xmlns:a16="http://schemas.microsoft.com/office/drawing/2014/main" id="{8B64671A-8687-37C6-370B-59C14627E41D}"/>
              </a:ext>
            </a:extLst>
          </p:cNvPr>
          <p:cNvSpPr>
            <a:spLocks noGrp="1"/>
          </p:cNvSpPr>
          <p:nvPr>
            <p:ph idx="1"/>
          </p:nvPr>
        </p:nvSpPr>
        <p:spPr>
          <a:xfrm>
            <a:off x="1066800" y="1340768"/>
            <a:ext cx="10058400" cy="4022725"/>
          </a:xfrm>
        </p:spPr>
        <p:txBody>
          <a:bodyPr/>
          <a:lstStyle/>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The main goals of this chapter are to accomplish the following:</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Explain the key concepts and terms used in evaluation.</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Introduce a range of different types of evaluation methods.</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Show how different evaluation methods are used for different purposes at different</a:t>
            </a: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stages of the design process and in different contexts of use.</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Show how evaluation methods are mixed and modified to meet the demands of evaluating</a:t>
            </a: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novel systems.</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Discuss some of the practical challenges of doing evaluation.</a:t>
            </a:r>
            <a:endParaRPr lang="en-US"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BCFD942-EA65-34D5-B043-4C94B21AD596}"/>
              </a:ext>
            </a:extLst>
          </p:cNvPr>
          <p:cNvSpPr>
            <a:spLocks noGrp="1"/>
          </p:cNvSpPr>
          <p:nvPr>
            <p:ph type="sldNum" sz="quarter" idx="12"/>
          </p:nvPr>
        </p:nvSpPr>
        <p:spPr/>
        <p:txBody>
          <a:bodyPr/>
          <a:lstStyle/>
          <a:p>
            <a:pPr>
              <a:defRPr/>
            </a:pPr>
            <a:fld id="{784CB106-59EF-4E38-AE9E-B3544BD66F06}" type="slidenum">
              <a:rPr lang="en-GB" altLang="en-US" smtClean="0"/>
              <a:pPr>
                <a:defRPr/>
              </a:pPr>
              <a:t>2</a:t>
            </a:fld>
            <a:endParaRPr lang="en-GB" altLang="en-US"/>
          </a:p>
        </p:txBody>
      </p:sp>
    </p:spTree>
    <p:extLst>
      <p:ext uri="{BB962C8B-B14F-4D97-AF65-F5344CB8AC3E}">
        <p14:creationId xmlns:p14="http://schemas.microsoft.com/office/powerpoint/2010/main" val="3928395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FE718-C2E9-424F-B8CD-505CC962D68D}"/>
              </a:ext>
            </a:extLst>
          </p:cNvPr>
          <p:cNvSpPr>
            <a:spLocks noGrp="1"/>
          </p:cNvSpPr>
          <p:nvPr>
            <p:ph type="title"/>
          </p:nvPr>
        </p:nvSpPr>
        <p:spPr>
          <a:xfrm>
            <a:off x="1096963" y="287339"/>
            <a:ext cx="10058400" cy="1125438"/>
          </a:xfrm>
        </p:spPr>
        <p:txBody>
          <a:bodyPr/>
          <a:lstStyle/>
          <a:p>
            <a:r>
              <a:rPr lang="en-GB" dirty="0">
                <a:latin typeface="Times New Roman" panose="02020603050405020304" pitchFamily="18" charset="0"/>
                <a:cs typeface="Times New Roman" panose="02020603050405020304" pitchFamily="18" charset="0"/>
              </a:rPr>
              <a:t>Evaluation Techniques</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7C0263-F8BB-4889-9D45-EBB60C64F7F5}"/>
              </a:ext>
            </a:extLst>
          </p:cNvPr>
          <p:cNvSpPr>
            <a:spLocks noGrp="1"/>
          </p:cNvSpPr>
          <p:nvPr>
            <p:ph idx="1"/>
          </p:nvPr>
        </p:nvSpPr>
        <p:spPr>
          <a:xfrm>
            <a:off x="263352" y="1846263"/>
            <a:ext cx="11161240" cy="4247033"/>
          </a:xfrm>
        </p:spPr>
        <p:txBody>
          <a:bodyPr/>
          <a:lstStyle/>
          <a:p>
            <a:pPr algn="l"/>
            <a:r>
              <a:rPr lang="en-GB" sz="2600" b="0" i="0" u="none" strike="noStrike" baseline="0" dirty="0">
                <a:latin typeface="Times New Roman" panose="02020603050405020304" pitchFamily="18" charset="0"/>
                <a:cs typeface="Times New Roman" panose="02020603050405020304" pitchFamily="18" charset="0"/>
              </a:rPr>
              <a:t>In previous lecture, we have discussed </a:t>
            </a:r>
            <a:r>
              <a:rPr lang="en-GB" sz="2600" b="1" i="0" u="none" strike="noStrike" baseline="0" dirty="0">
                <a:latin typeface="Times New Roman" panose="02020603050405020304" pitchFamily="18" charset="0"/>
                <a:cs typeface="Times New Roman" panose="02020603050405020304" pitchFamily="18" charset="0"/>
              </a:rPr>
              <a:t>a design process </a:t>
            </a:r>
            <a:r>
              <a:rPr lang="en-GB" sz="2600" b="0" i="0" u="none" strike="noStrike" baseline="0" dirty="0">
                <a:latin typeface="Times New Roman" panose="02020603050405020304" pitchFamily="18" charset="0"/>
                <a:cs typeface="Times New Roman" panose="02020603050405020304" pitchFamily="18" charset="0"/>
              </a:rPr>
              <a:t>to support the design of usable interactive systems.</a:t>
            </a:r>
            <a:endParaRPr lang="en-GB" sz="2600" dirty="0">
              <a:latin typeface="Times New Roman" panose="02020603050405020304" pitchFamily="18" charset="0"/>
              <a:cs typeface="Times New Roman" panose="02020603050405020304" pitchFamily="18" charset="0"/>
            </a:endParaRPr>
          </a:p>
          <a:p>
            <a:pPr algn="l"/>
            <a:r>
              <a:rPr lang="en-GB" sz="2600" b="0" i="0" u="none" strike="noStrike" baseline="0" dirty="0">
                <a:solidFill>
                  <a:srgbClr val="00B050"/>
                </a:solidFill>
                <a:latin typeface="Times New Roman" panose="02020603050405020304" pitchFamily="18" charset="0"/>
                <a:cs typeface="Times New Roman" panose="02020603050405020304" pitchFamily="18" charset="0"/>
              </a:rPr>
              <a:t>However, even if such a process is used, we still need to assess our designs and test our systems to ensure that they actually behave as we expect and meet user requirements. This is the role of evaluation.</a:t>
            </a:r>
          </a:p>
          <a:p>
            <a:pPr marL="0" indent="0" algn="l">
              <a:buNone/>
            </a:pPr>
            <a:endParaRPr lang="en-GB" sz="2600" b="0" i="0" u="none" strike="noStrike" baseline="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Evaluation </a:t>
            </a:r>
            <a:r>
              <a:rPr lang="en-GB" sz="2600" b="1" i="0" u="none" strike="noStrike" baseline="0" dirty="0">
                <a:latin typeface="Times New Roman" panose="02020603050405020304" pitchFamily="18" charset="0"/>
                <a:cs typeface="Times New Roman" panose="02020603050405020304" pitchFamily="18" charset="0"/>
              </a:rPr>
              <a:t>should not be thought of as a single phase in the design process </a:t>
            </a:r>
          </a:p>
          <a:p>
            <a:pPr algn="l"/>
            <a:endParaRPr lang="en-GB" sz="2600" b="0" i="0" u="none" strike="noStrike" baseline="0" dirty="0">
              <a:latin typeface="Times New Roman" panose="02020603050405020304" pitchFamily="18" charset="0"/>
              <a:cs typeface="Times New Roman" panose="02020603050405020304" pitchFamily="18" charset="0"/>
            </a:endParaRPr>
          </a:p>
          <a:p>
            <a:pPr algn="l"/>
            <a:r>
              <a:rPr lang="en-GB" sz="2600" b="1" i="0" u="none" strike="noStrike" baseline="0" dirty="0">
                <a:latin typeface="Times New Roman" panose="02020603050405020304" pitchFamily="18" charset="0"/>
                <a:cs typeface="Times New Roman" panose="02020603050405020304" pitchFamily="18" charset="0"/>
              </a:rPr>
              <a:t>Ideally, evaluation should occur throughout the design life cycle, with the results of the evaluation feeding back into modifications to the design.</a:t>
            </a:r>
            <a:endParaRPr lang="en-GH" sz="26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44D6DEE-70DA-4844-B9C9-6CAF261F9ADD}"/>
              </a:ext>
            </a:extLst>
          </p:cNvPr>
          <p:cNvSpPr>
            <a:spLocks noGrp="1"/>
          </p:cNvSpPr>
          <p:nvPr>
            <p:ph type="sldNum" sz="quarter" idx="12"/>
          </p:nvPr>
        </p:nvSpPr>
        <p:spPr/>
        <p:txBody>
          <a:bodyPr/>
          <a:lstStyle/>
          <a:p>
            <a:pPr>
              <a:defRPr/>
            </a:pPr>
            <a:fld id="{784CB106-59EF-4E38-AE9E-B3544BD66F06}" type="slidenum">
              <a:rPr lang="en-GB" altLang="en-US" smtClean="0"/>
              <a:pPr>
                <a:defRPr/>
              </a:pPr>
              <a:t>3</a:t>
            </a:fld>
            <a:endParaRPr lang="en-GB" altLang="en-US"/>
          </a:p>
        </p:txBody>
      </p:sp>
    </p:spTree>
    <p:extLst>
      <p:ext uri="{BB962C8B-B14F-4D97-AF65-F5344CB8AC3E}">
        <p14:creationId xmlns:p14="http://schemas.microsoft.com/office/powerpoint/2010/main" val="2489246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Goals of Evaluation</a:t>
            </a:r>
          </a:p>
        </p:txBody>
      </p:sp>
      <p:sp>
        <p:nvSpPr>
          <p:cNvPr id="60419" name="Content Placeholder 2"/>
          <p:cNvSpPr>
            <a:spLocks noGrp="1" noChangeArrowheads="1"/>
          </p:cNvSpPr>
          <p:nvPr>
            <p:ph idx="1"/>
          </p:nvPr>
        </p:nvSpPr>
        <p:spPr/>
        <p:txBody>
          <a:bodyPr/>
          <a:lstStyle/>
          <a:p>
            <a:pPr eaLnBrk="1" hangingPunct="1"/>
            <a:r>
              <a:rPr lang="en-US" altLang="en-US" sz="2600" dirty="0">
                <a:latin typeface="Times New Roman" panose="02020603050405020304" pitchFamily="18" charset="0"/>
                <a:cs typeface="Times New Roman" panose="02020603050405020304" pitchFamily="18" charset="0"/>
              </a:rPr>
              <a:t>Evaluation has three main goals:</a:t>
            </a:r>
          </a:p>
          <a:p>
            <a:pPr eaLnBrk="1" hangingPunct="1"/>
            <a:endParaRPr lang="en-US" altLang="en-US" sz="2600" dirty="0">
              <a:latin typeface="Times New Roman" panose="02020603050405020304" pitchFamily="18" charset="0"/>
              <a:cs typeface="Times New Roman" panose="02020603050405020304" pitchFamily="18" charset="0"/>
            </a:endParaRPr>
          </a:p>
          <a:p>
            <a:pPr marL="800100" lvl="1" indent="-457200" eaLnBrk="1" hangingPunct="1">
              <a:lnSpc>
                <a:spcPct val="150000"/>
              </a:lnSpc>
              <a:buFont typeface="Calibri Light" panose="020F0302020204030204" pitchFamily="34" charset="0"/>
              <a:buAutoNum type="arabicPeriod"/>
            </a:pPr>
            <a:r>
              <a:rPr lang="en-US" altLang="en-US" sz="2600" dirty="0">
                <a:latin typeface="Times New Roman" panose="02020603050405020304" pitchFamily="18" charset="0"/>
                <a:cs typeface="Times New Roman" panose="02020603050405020304" pitchFamily="18" charset="0"/>
              </a:rPr>
              <a:t> to assess the </a:t>
            </a:r>
            <a:r>
              <a:rPr lang="en-US" altLang="en-US" sz="2600" b="1" dirty="0">
                <a:latin typeface="Times New Roman" panose="02020603050405020304" pitchFamily="18" charset="0"/>
                <a:cs typeface="Times New Roman" panose="02020603050405020304" pitchFamily="18" charset="0"/>
              </a:rPr>
              <a:t>extent and accessibility </a:t>
            </a:r>
            <a:r>
              <a:rPr lang="en-US" altLang="en-US" sz="2600" dirty="0">
                <a:latin typeface="Times New Roman" panose="02020603050405020304" pitchFamily="18" charset="0"/>
                <a:cs typeface="Times New Roman" panose="02020603050405020304" pitchFamily="18" charset="0"/>
              </a:rPr>
              <a:t>of the system’s functionality, </a:t>
            </a:r>
          </a:p>
          <a:p>
            <a:pPr marL="800100" lvl="1" indent="-457200" eaLnBrk="1" hangingPunct="1">
              <a:lnSpc>
                <a:spcPct val="150000"/>
              </a:lnSpc>
              <a:buFont typeface="Calibri Light" panose="020F0302020204030204" pitchFamily="34" charset="0"/>
              <a:buAutoNum type="arabicPeriod"/>
            </a:pPr>
            <a:r>
              <a:rPr lang="en-US" altLang="en-US" sz="2600" dirty="0">
                <a:latin typeface="Times New Roman" panose="02020603050405020304" pitchFamily="18" charset="0"/>
                <a:cs typeface="Times New Roman" panose="02020603050405020304" pitchFamily="18" charset="0"/>
              </a:rPr>
              <a:t>to assess </a:t>
            </a:r>
            <a:r>
              <a:rPr lang="en-US" altLang="en-US" sz="2600" b="1" dirty="0">
                <a:latin typeface="Times New Roman" panose="02020603050405020304" pitchFamily="18" charset="0"/>
                <a:cs typeface="Times New Roman" panose="02020603050405020304" pitchFamily="18" charset="0"/>
              </a:rPr>
              <a:t>users’ experience </a:t>
            </a:r>
            <a:r>
              <a:rPr lang="en-US" altLang="en-US" sz="2600" dirty="0">
                <a:latin typeface="Times New Roman" panose="02020603050405020304" pitchFamily="18" charset="0"/>
                <a:cs typeface="Times New Roman" panose="02020603050405020304" pitchFamily="18" charset="0"/>
              </a:rPr>
              <a:t>of the interaction, </a:t>
            </a:r>
          </a:p>
          <a:p>
            <a:pPr marL="800100" lvl="1" indent="-457200" eaLnBrk="1" hangingPunct="1">
              <a:lnSpc>
                <a:spcPct val="150000"/>
              </a:lnSpc>
              <a:buFont typeface="Calibri Light" panose="020F0302020204030204" pitchFamily="34" charset="0"/>
              <a:buAutoNum type="arabicPeriod"/>
            </a:pPr>
            <a:r>
              <a:rPr lang="en-US" altLang="en-US" sz="2600" dirty="0">
                <a:latin typeface="Times New Roman" panose="02020603050405020304" pitchFamily="18" charset="0"/>
                <a:cs typeface="Times New Roman" panose="02020603050405020304" pitchFamily="18" charset="0"/>
              </a:rPr>
              <a:t>and to identify any </a:t>
            </a:r>
            <a:r>
              <a:rPr lang="en-US" altLang="en-US" sz="2600" b="1" dirty="0">
                <a:latin typeface="Times New Roman" panose="02020603050405020304" pitchFamily="18" charset="0"/>
                <a:cs typeface="Times New Roman" panose="02020603050405020304" pitchFamily="18" charset="0"/>
              </a:rPr>
              <a:t>specific problems </a:t>
            </a:r>
            <a:r>
              <a:rPr lang="en-US" altLang="en-US" sz="2600" dirty="0">
                <a:latin typeface="Times New Roman" panose="02020603050405020304" pitchFamily="18" charset="0"/>
                <a:cs typeface="Times New Roman" panose="02020603050405020304" pitchFamily="18" charset="0"/>
              </a:rPr>
              <a:t>with the system.</a:t>
            </a:r>
          </a:p>
          <a:p>
            <a:pPr marL="800100" lvl="1" indent="-457200" eaLnBrk="1" hangingPunct="1">
              <a:lnSpc>
                <a:spcPct val="150000"/>
              </a:lnSpc>
              <a:buFont typeface="Calibri Light" panose="020F0302020204030204" pitchFamily="34" charset="0"/>
              <a:buAutoNum type="arabicPeriod"/>
            </a:pPr>
            <a:endParaRPr lang="en-US" altLang="en-US" sz="2600" dirty="0">
              <a:latin typeface="Times New Roman" panose="02020603050405020304" pitchFamily="18" charset="0"/>
              <a:cs typeface="Times New Roman" panose="02020603050405020304" pitchFamily="18" charset="0"/>
            </a:endParaRPr>
          </a:p>
        </p:txBody>
      </p:sp>
      <p:sp>
        <p:nvSpPr>
          <p:cNvPr id="604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0A0FC48-91A6-46BB-ADDE-2369B3D5E587}" type="slidenum">
              <a:rPr lang="en-GB" altLang="en-US">
                <a:solidFill>
                  <a:srgbClr val="FFC551"/>
                </a:solidFill>
                <a:latin typeface="Century Gothic" panose="020B0502020202020204" pitchFamily="34" charset="0"/>
                <a:cs typeface="Arial" panose="020B0604020202020204" pitchFamily="34" charset="0"/>
              </a:rPr>
              <a:pPr/>
              <a:t>4</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5A4E-621D-4550-A00F-CF69613364C9}"/>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Evaluation Techniques</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B0C3DF-A4B9-4210-B008-EB50C2F37E88}"/>
              </a:ext>
            </a:extLst>
          </p:cNvPr>
          <p:cNvSpPr>
            <a:spLocks noGrp="1"/>
          </p:cNvSpPr>
          <p:nvPr>
            <p:ph idx="1"/>
          </p:nvPr>
        </p:nvSpPr>
        <p:spPr>
          <a:xfrm>
            <a:off x="1096962" y="1846263"/>
            <a:ext cx="10471645" cy="4319041"/>
          </a:xfrm>
        </p:spPr>
        <p:txBody>
          <a:bodyPr/>
          <a:lstStyle/>
          <a:p>
            <a:pPr algn="l"/>
            <a:endParaRPr lang="en-GB" sz="1800" b="0" i="0" u="none" strike="noStrike" baseline="0" dirty="0">
              <a:latin typeface="Times New Roman" panose="02020603050405020304" pitchFamily="18" charset="0"/>
              <a:cs typeface="Times New Roman" panose="02020603050405020304" pitchFamily="18" charset="0"/>
            </a:endParaRPr>
          </a:p>
          <a:p>
            <a:pPr algn="l"/>
            <a:r>
              <a:rPr lang="en-GB" sz="2400" b="0" i="0" u="none" strike="noStrike" baseline="0" dirty="0">
                <a:latin typeface="Times New Roman" panose="02020603050405020304" pitchFamily="18" charset="0"/>
                <a:cs typeface="Times New Roman" panose="02020603050405020304" pitchFamily="18" charset="0"/>
              </a:rPr>
              <a:t>We will consider evaluation techniques under </a:t>
            </a:r>
            <a:r>
              <a:rPr lang="en-GB" sz="2400" b="1" i="0" u="none" strike="noStrike" baseline="0" dirty="0">
                <a:latin typeface="Times New Roman" panose="02020603050405020304" pitchFamily="18" charset="0"/>
                <a:cs typeface="Times New Roman" panose="02020603050405020304" pitchFamily="18" charset="0"/>
              </a:rPr>
              <a:t>two broad headings: expert analysis and user participation.</a:t>
            </a:r>
          </a:p>
          <a:p>
            <a:pPr algn="l"/>
            <a:endParaRPr lang="en-GB" sz="2400" dirty="0">
              <a:latin typeface="Times New Roman" panose="02020603050405020304" pitchFamily="18" charset="0"/>
              <a:cs typeface="Times New Roman" panose="02020603050405020304" pitchFamily="18" charset="0"/>
            </a:endParaRPr>
          </a:p>
          <a:p>
            <a:pPr algn="ctr"/>
            <a:r>
              <a:rPr lang="en-GB" sz="2400" dirty="0">
                <a:latin typeface="Times New Roman" panose="02020603050405020304" pitchFamily="18" charset="0"/>
                <a:cs typeface="Times New Roman" panose="02020603050405020304" pitchFamily="18" charset="0"/>
              </a:rPr>
              <a:t>Evaluation Techniques</a:t>
            </a:r>
            <a:endParaRPr lang="en-GH"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70FC284-3BC7-48AA-AE24-053EB5ECFCF4}"/>
              </a:ext>
            </a:extLst>
          </p:cNvPr>
          <p:cNvSpPr>
            <a:spLocks noGrp="1"/>
          </p:cNvSpPr>
          <p:nvPr>
            <p:ph type="sldNum" sz="quarter" idx="12"/>
          </p:nvPr>
        </p:nvSpPr>
        <p:spPr/>
        <p:txBody>
          <a:bodyPr/>
          <a:lstStyle/>
          <a:p>
            <a:pPr>
              <a:defRPr/>
            </a:pPr>
            <a:fld id="{784CB106-59EF-4E38-AE9E-B3544BD66F06}" type="slidenum">
              <a:rPr lang="en-GB" altLang="en-US" smtClean="0"/>
              <a:pPr>
                <a:defRPr/>
              </a:pPr>
              <a:t>5</a:t>
            </a:fld>
            <a:endParaRPr lang="en-GB" altLang="en-US"/>
          </a:p>
        </p:txBody>
      </p:sp>
      <p:cxnSp>
        <p:nvCxnSpPr>
          <p:cNvPr id="6" name="Straight Arrow Connector 5">
            <a:extLst>
              <a:ext uri="{FF2B5EF4-FFF2-40B4-BE49-F238E27FC236}">
                <a16:creationId xmlns:a16="http://schemas.microsoft.com/office/drawing/2014/main" id="{39A95B42-C49E-4495-8EC5-E8157458C9F8}"/>
              </a:ext>
            </a:extLst>
          </p:cNvPr>
          <p:cNvCxnSpPr/>
          <p:nvPr/>
        </p:nvCxnSpPr>
        <p:spPr>
          <a:xfrm flipH="1">
            <a:off x="4871864" y="3933056"/>
            <a:ext cx="1224136" cy="576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D2AA312-A602-40C3-A7C4-8C444E7D58CC}"/>
              </a:ext>
            </a:extLst>
          </p:cNvPr>
          <p:cNvCxnSpPr>
            <a:cxnSpLocks/>
          </p:cNvCxnSpPr>
          <p:nvPr/>
        </p:nvCxnSpPr>
        <p:spPr>
          <a:xfrm>
            <a:off x="6096000" y="3933056"/>
            <a:ext cx="864096" cy="648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BFF820D-3E2E-4E8E-923F-8C6128FB9B49}"/>
              </a:ext>
            </a:extLst>
          </p:cNvPr>
          <p:cNvSpPr txBox="1"/>
          <p:nvPr/>
        </p:nvSpPr>
        <p:spPr>
          <a:xfrm>
            <a:off x="3431704" y="4581128"/>
            <a:ext cx="2663306" cy="492443"/>
          </a:xfrm>
          <a:prstGeom prst="rect">
            <a:avLst/>
          </a:prstGeom>
          <a:noFill/>
        </p:spPr>
        <p:txBody>
          <a:bodyPr wrap="square" rtlCol="0">
            <a:spAutoFit/>
          </a:bodyPr>
          <a:lstStyle/>
          <a:p>
            <a:r>
              <a:rPr lang="en-GB" sz="2600" dirty="0">
                <a:latin typeface="Times New Roman" panose="02020603050405020304" pitchFamily="18" charset="0"/>
                <a:cs typeface="Times New Roman" panose="02020603050405020304" pitchFamily="18" charset="0"/>
              </a:rPr>
              <a:t>Expert analysis</a:t>
            </a:r>
            <a:endParaRPr lang="en-GH" sz="2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4A5A20C-A675-47D3-8B10-C0A3DE1454E6}"/>
              </a:ext>
            </a:extLst>
          </p:cNvPr>
          <p:cNvSpPr txBox="1"/>
          <p:nvPr/>
        </p:nvSpPr>
        <p:spPr>
          <a:xfrm>
            <a:off x="6331800" y="4584384"/>
            <a:ext cx="2961058" cy="492443"/>
          </a:xfrm>
          <a:prstGeom prst="rect">
            <a:avLst/>
          </a:prstGeom>
          <a:noFill/>
        </p:spPr>
        <p:txBody>
          <a:bodyPr wrap="square" rtlCol="0">
            <a:spAutoFit/>
          </a:bodyPr>
          <a:lstStyle/>
          <a:p>
            <a:r>
              <a:rPr lang="en-GB" sz="2600" dirty="0">
                <a:latin typeface="Times New Roman" panose="02020603050405020304" pitchFamily="18" charset="0"/>
                <a:cs typeface="Times New Roman" panose="02020603050405020304" pitchFamily="18" charset="0"/>
              </a:rPr>
              <a:t>User Participation</a:t>
            </a:r>
            <a:endParaRPr lang="en-GH"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385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a:xfrm>
            <a:off x="1096963" y="287338"/>
            <a:ext cx="10058400" cy="1449387"/>
          </a:xfrm>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Evaluation Techniques</a:t>
            </a:r>
          </a:p>
        </p:txBody>
      </p:sp>
      <p:sp>
        <p:nvSpPr>
          <p:cNvPr id="3" name="Content Placeholder 2"/>
          <p:cNvSpPr>
            <a:spLocks noGrp="1"/>
          </p:cNvSpPr>
          <p:nvPr>
            <p:ph sz="half" idx="1"/>
          </p:nvPr>
        </p:nvSpPr>
        <p:spPr>
          <a:xfrm>
            <a:off x="263525" y="1846263"/>
            <a:ext cx="5772150" cy="4022725"/>
          </a:xfrm>
        </p:spPr>
        <p:txBody>
          <a:bodyPr rtlCol="0">
            <a:noAutofit/>
          </a:bodyPr>
          <a:lstStyle/>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Evaluation tests the usability, functionality and acceptability of an interactive system.</a:t>
            </a:r>
          </a:p>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Evaluation may take place:</a:t>
            </a:r>
          </a:p>
          <a:p>
            <a:pPr marL="342900" lvl="1"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in the laboratory</a:t>
            </a:r>
          </a:p>
          <a:p>
            <a:pPr marL="342900" lvl="1"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in the field.</a:t>
            </a:r>
          </a:p>
          <a:p>
            <a:pPr marL="91440" indent="-91440" eaLnBrk="1" fontAlgn="auto" hangingPunct="1">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Some approaches are based on expert evaluation:</a:t>
            </a:r>
          </a:p>
          <a:p>
            <a:pPr marL="384048" lvl="1" indent="-18288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analytic methods</a:t>
            </a:r>
          </a:p>
          <a:p>
            <a:pPr marL="384048" lvl="1" indent="-18288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review methods</a:t>
            </a:r>
          </a:p>
          <a:p>
            <a:pPr marL="384048" lvl="1" indent="-18288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model-based methods.</a:t>
            </a: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endParaRPr 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sz="half" idx="2"/>
          </p:nvPr>
        </p:nvSpPr>
        <p:spPr>
          <a:xfrm>
            <a:off x="6218238" y="1846263"/>
            <a:ext cx="5854426" cy="4319587"/>
          </a:xfrm>
        </p:spPr>
        <p:txBody>
          <a:bodyPr rtlCol="0">
            <a:noAutofit/>
          </a:bodyPr>
          <a:lstStyle/>
          <a:p>
            <a:pPr marL="91440" indent="-91440" eaLnBrk="1" fontAlgn="auto" hangingPunct="1">
              <a:defRPr/>
            </a:pPr>
            <a:endParaRPr 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Some approaches involve users:</a:t>
            </a:r>
          </a:p>
          <a:p>
            <a:pPr marL="342900" lvl="1"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experimental methods</a:t>
            </a:r>
          </a:p>
          <a:p>
            <a:pPr marL="342900" lvl="1"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observational methods</a:t>
            </a:r>
          </a:p>
          <a:p>
            <a:pPr marL="342900" lvl="1"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query methods.</a:t>
            </a:r>
          </a:p>
          <a:p>
            <a:pPr marL="342900" lvl="1" indent="0" eaLnBrk="1" fontAlgn="auto" hangingPunct="1">
              <a:buFont typeface="Arial" panose="020B0604020202020204" pitchFamily="34" charset="0"/>
              <a:buNone/>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sz="2600" b="1" dirty="0">
                <a:solidFill>
                  <a:srgbClr val="0070C0"/>
                </a:solidFill>
                <a:latin typeface="Times New Roman" panose="02020603050405020304" pitchFamily="18" charset="0"/>
                <a:cs typeface="Times New Roman" panose="02020603050405020304" pitchFamily="18" charset="0"/>
              </a:rPr>
              <a:t>An evaluation method must be chosen carefully and must be suitable for the job.</a:t>
            </a:r>
          </a:p>
          <a:p>
            <a:pPr marL="91440" indent="-91440" eaLnBrk="1" fontAlgn="auto" hangingPunct="1">
              <a:defRPr/>
            </a:pPr>
            <a:endParaRPr lang="en-GH" sz="2600" dirty="0">
              <a:solidFill>
                <a:schemeClr val="tx1">
                  <a:lumMod val="75000"/>
                  <a:lumOff val="25000"/>
                </a:schemeClr>
              </a:solidFill>
            </a:endParaRPr>
          </a:p>
        </p:txBody>
      </p:sp>
      <p:sp>
        <p:nvSpPr>
          <p:cNvPr id="5837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A982B99-49E7-4ACA-8E00-A9B4D0C25CA7}" type="slidenum">
              <a:rPr lang="en-GB" altLang="en-US">
                <a:solidFill>
                  <a:srgbClr val="FFC551"/>
                </a:solidFill>
                <a:latin typeface="Century Gothic" panose="020B0502020202020204" pitchFamily="34" charset="0"/>
                <a:cs typeface="Arial" panose="020B0604020202020204" pitchFamily="34" charset="0"/>
              </a:rPr>
              <a:pPr/>
              <a:t>6</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1096963" y="287338"/>
            <a:ext cx="10058400" cy="1449387"/>
          </a:xfrm>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Evaluation through expert analysis</a:t>
            </a:r>
          </a:p>
        </p:txBody>
      </p:sp>
      <p:sp>
        <p:nvSpPr>
          <p:cNvPr id="61443" name="Content Placeholder 2"/>
          <p:cNvSpPr>
            <a:spLocks noGrp="1" noChangeArrowheads="1"/>
          </p:cNvSpPr>
          <p:nvPr>
            <p:ph sz="half" idx="1"/>
          </p:nvPr>
        </p:nvSpPr>
        <p:spPr>
          <a:xfrm>
            <a:off x="263352" y="1846263"/>
            <a:ext cx="5772323" cy="4319041"/>
          </a:xfrm>
        </p:spPr>
        <p:txBody>
          <a:bodyPr/>
          <a:lstStyle/>
          <a:p>
            <a:pPr eaLnBrk="1" hangingPunct="1">
              <a:buFont typeface="Wingdings" panose="05000000000000000000" pitchFamily="2" charset="2"/>
              <a:buChar char="§"/>
            </a:pPr>
            <a:r>
              <a:rPr lang="en-US" altLang="en-US" sz="2600" b="1" dirty="0">
                <a:latin typeface="Times New Roman" panose="02020603050405020304" pitchFamily="18" charset="0"/>
                <a:cs typeface="Times New Roman" panose="02020603050405020304" pitchFamily="18" charset="0"/>
              </a:rPr>
              <a:t>first evaluation of a system should ideally be performed before any implementation work has started</a:t>
            </a:r>
            <a:r>
              <a:rPr lang="en-US" altLang="en-US" sz="2600" dirty="0">
                <a:latin typeface="Times New Roman" panose="02020603050405020304" pitchFamily="18" charset="0"/>
                <a:cs typeface="Times New Roman" panose="02020603050405020304" pitchFamily="18" charset="0"/>
              </a:rPr>
              <a:t>.</a:t>
            </a:r>
          </a:p>
          <a:p>
            <a:pPr eaLnBrk="1" hangingPunct="1">
              <a:buFont typeface="Wingdings" panose="05000000000000000000" pitchFamily="2" charset="2"/>
              <a:buChar char="§"/>
            </a:pPr>
            <a:r>
              <a:rPr lang="en-US" altLang="en-US" sz="2600" dirty="0">
                <a:latin typeface="Times New Roman" panose="02020603050405020304" pitchFamily="18" charset="0"/>
                <a:cs typeface="Times New Roman" panose="02020603050405020304" pitchFamily="18" charset="0"/>
              </a:rPr>
              <a:t> If the design itself can be evaluated, expensive mistakes can be avoided, since the design can be altered prior to any major resource commitments. </a:t>
            </a:r>
          </a:p>
          <a:p>
            <a:pPr eaLnBrk="1" hangingPunct="1">
              <a:buFont typeface="Wingdings" panose="05000000000000000000" pitchFamily="2" charset="2"/>
              <a:buChar char="§"/>
            </a:pPr>
            <a:r>
              <a:rPr lang="en-US" altLang="en-US" sz="2600" dirty="0">
                <a:latin typeface="Times New Roman" panose="02020603050405020304" pitchFamily="18" charset="0"/>
                <a:cs typeface="Times New Roman" panose="02020603050405020304" pitchFamily="18" charset="0"/>
              </a:rPr>
              <a:t>Typically, the later in the design process that an error is discovered, the more costly it is to put right and, therefore, the less likely it is to be rectified.</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61444" name="Content Placeholder 1"/>
          <p:cNvSpPr>
            <a:spLocks noGrp="1" noChangeArrowheads="1"/>
          </p:cNvSpPr>
          <p:nvPr>
            <p:ph sz="half" idx="2"/>
          </p:nvPr>
        </p:nvSpPr>
        <p:spPr>
          <a:xfrm>
            <a:off x="6218238" y="1846263"/>
            <a:ext cx="5494386" cy="4319041"/>
          </a:xfrm>
        </p:spPr>
        <p:txBody>
          <a:bodyPr/>
          <a:lstStyle/>
          <a:p>
            <a:pPr eaLnBrk="1" hangingPunct="1">
              <a:buFont typeface="Wingdings" panose="05000000000000000000" pitchFamily="2" charset="2"/>
              <a:buChar char="§"/>
            </a:pPr>
            <a:r>
              <a:rPr lang="en-US" altLang="en-US" sz="2600" dirty="0">
                <a:solidFill>
                  <a:srgbClr val="FF0000"/>
                </a:solidFill>
                <a:latin typeface="Times New Roman" panose="02020603050405020304" pitchFamily="18" charset="0"/>
                <a:cs typeface="Times New Roman" panose="02020603050405020304" pitchFamily="18" charset="0"/>
              </a:rPr>
              <a:t>It can be expensive to carry out user testing at regular intervals during the design process</a:t>
            </a:r>
            <a:r>
              <a:rPr lang="en-US" altLang="en-US" sz="2600" dirty="0">
                <a:latin typeface="Times New Roman" panose="02020603050405020304" pitchFamily="18" charset="0"/>
                <a:cs typeface="Times New Roman" panose="02020603050405020304" pitchFamily="18" charset="0"/>
              </a:rPr>
              <a:t>, and it can be difficult to get an accurate assessment of the experience of interaction from incomplete designs and prototypes. </a:t>
            </a:r>
          </a:p>
          <a:p>
            <a:pPr eaLnBrk="1" hangingPunct="1">
              <a:buFont typeface="Wingdings" panose="05000000000000000000" pitchFamily="2" charset="2"/>
              <a:buChar char="§"/>
            </a:pPr>
            <a:endParaRPr lang="en-US" altLang="en-US" sz="26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2600" b="1" dirty="0">
                <a:latin typeface="Times New Roman" panose="02020603050405020304" pitchFamily="18" charset="0"/>
                <a:cs typeface="Times New Roman" panose="02020603050405020304" pitchFamily="18" charset="0"/>
              </a:rPr>
              <a:t>Consequently, a number of methods have been proposed to evaluate interactive systems through expert analysis.</a:t>
            </a:r>
          </a:p>
          <a:p>
            <a:pPr eaLnBrk="1" hangingPunct="1"/>
            <a:endParaRPr lang="en-US" altLang="en-US" sz="2600" dirty="0"/>
          </a:p>
        </p:txBody>
      </p:sp>
      <p:sp>
        <p:nvSpPr>
          <p:cNvPr id="6144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277D3F6-2561-4351-ABFE-DFABF91B811B}" type="slidenum">
              <a:rPr lang="en-GB" altLang="en-US">
                <a:solidFill>
                  <a:srgbClr val="FFC551"/>
                </a:solidFill>
                <a:latin typeface="Century Gothic" panose="020B0502020202020204" pitchFamily="34" charset="0"/>
                <a:cs typeface="Arial" panose="020B0604020202020204" pitchFamily="34" charset="0"/>
              </a:rPr>
              <a:pPr/>
              <a:t>7</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Evaluation through expert analysis</a:t>
            </a:r>
          </a:p>
        </p:txBody>
      </p:sp>
      <p:sp>
        <p:nvSpPr>
          <p:cNvPr id="3" name="Content Placeholder 2"/>
          <p:cNvSpPr>
            <a:spLocks noGrp="1"/>
          </p:cNvSpPr>
          <p:nvPr>
            <p:ph idx="1"/>
          </p:nvPr>
        </p:nvSpPr>
        <p:spPr>
          <a:xfrm>
            <a:off x="838200" y="1825625"/>
            <a:ext cx="10515600" cy="4556125"/>
          </a:xfrm>
        </p:spPr>
        <p:txBody>
          <a:bodyPr rtlCol="0">
            <a:normAutofit/>
          </a:bodyPr>
          <a:lstStyle/>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Let us consider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four approaches to evaluation through expert analysis</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800100" lvl="1" indent="-457200" eaLnBrk="1" fontAlgn="auto" hangingPunct="1">
              <a:lnSpc>
                <a:spcPct val="200000"/>
              </a:lnSpc>
              <a:buFont typeface="+mj-lt"/>
              <a:buAutoNum type="arabicPeriod"/>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cognitive walkthrough,</a:t>
            </a:r>
          </a:p>
          <a:p>
            <a:pPr marL="800100" lvl="1" indent="-457200" eaLnBrk="1" fontAlgn="auto" hangingPunct="1">
              <a:lnSpc>
                <a:spcPct val="200000"/>
              </a:lnSpc>
              <a:buFont typeface="+mj-lt"/>
              <a:buAutoNum type="arabicPeriod"/>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heuristic evaluation, </a:t>
            </a:r>
          </a:p>
          <a:p>
            <a:pPr marL="800100" lvl="1" indent="-457200" eaLnBrk="1" fontAlgn="auto" hangingPunct="1">
              <a:lnSpc>
                <a:spcPct val="200000"/>
              </a:lnSpc>
              <a:buFont typeface="+mj-lt"/>
              <a:buAutoNum type="arabicPeriod"/>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the use of models and</a:t>
            </a:r>
          </a:p>
          <a:p>
            <a:pPr marL="800100" lvl="1" indent="-457200" eaLnBrk="1" fontAlgn="auto" hangingPunct="1">
              <a:lnSpc>
                <a:spcPct val="200000"/>
              </a:lnSpc>
              <a:buFont typeface="+mj-lt"/>
              <a:buAutoNum type="arabicPeriod"/>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use of previous work.</a:t>
            </a:r>
          </a:p>
        </p:txBody>
      </p:sp>
      <p:sp>
        <p:nvSpPr>
          <p:cNvPr id="624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BF4F941-30F5-4C52-8E83-6537C287B139}" type="slidenum">
              <a:rPr lang="en-GB" altLang="en-US">
                <a:solidFill>
                  <a:srgbClr val="FFC551"/>
                </a:solidFill>
                <a:latin typeface="Century Gothic" panose="020B0502020202020204" pitchFamily="34" charset="0"/>
                <a:cs typeface="Arial" panose="020B0604020202020204" pitchFamily="34" charset="0"/>
              </a:rPr>
              <a:pPr/>
              <a:t>8</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pPr eaLnBrk="1" fontAlgn="auto" hangingPunct="1">
              <a:spcAft>
                <a:spcPts val="0"/>
              </a:spcAft>
              <a:defRPr/>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Evaluation through expert analysis</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1. </a:t>
            </a:r>
            <a:r>
              <a:rPr lang="en-US" altLang="en-US" sz="3500" dirty="0">
                <a:solidFill>
                  <a:schemeClr val="tx1">
                    <a:lumMod val="75000"/>
                    <a:lumOff val="25000"/>
                  </a:schemeClr>
                </a:solidFill>
                <a:latin typeface="Times New Roman" panose="02020603050405020304" pitchFamily="18" charset="0"/>
                <a:cs typeface="Times New Roman" panose="02020603050405020304" pitchFamily="18" charset="0"/>
              </a:rPr>
              <a:t>cognitive walkthrough </a:t>
            </a:r>
          </a:p>
        </p:txBody>
      </p:sp>
      <p:sp>
        <p:nvSpPr>
          <p:cNvPr id="63491" name="Content Placeholder 2"/>
          <p:cNvSpPr>
            <a:spLocks noGrp="1" noChangeArrowheads="1"/>
          </p:cNvSpPr>
          <p:nvPr>
            <p:ph sz="half" idx="1"/>
          </p:nvPr>
        </p:nvSpPr>
        <p:spPr/>
        <p:txBody>
          <a:bodyPr/>
          <a:lstStyle/>
          <a:p>
            <a:pPr eaLnBrk="1" hangingPunct="1"/>
            <a:r>
              <a:rPr lang="en-US" altLang="en-US" sz="2600" dirty="0">
                <a:latin typeface="Times New Roman" panose="02020603050405020304" pitchFamily="18" charset="0"/>
                <a:cs typeface="Times New Roman" panose="02020603050405020304" pitchFamily="18" charset="0"/>
              </a:rPr>
              <a:t>The cognitive walkthrough is one way to </a:t>
            </a:r>
            <a:r>
              <a:rPr lang="en-US" altLang="en-US" sz="2600" b="1" dirty="0">
                <a:latin typeface="Times New Roman" panose="02020603050405020304" pitchFamily="18" charset="0"/>
                <a:cs typeface="Times New Roman" panose="02020603050405020304" pitchFamily="18" charset="0"/>
              </a:rPr>
              <a:t>test the usability of interactive software.</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It focuses on</a:t>
            </a:r>
          </a:p>
          <a:p>
            <a:pPr lvl="1" eaLnBrk="1" hangingPunct="1"/>
            <a:r>
              <a:rPr lang="en-US" altLang="en-US" sz="2600" b="1" dirty="0">
                <a:latin typeface="Times New Roman" panose="02020603050405020304" pitchFamily="18" charset="0"/>
                <a:cs typeface="Times New Roman" panose="02020603050405020304" pitchFamily="18" charset="0"/>
              </a:rPr>
              <a:t>User’s task(s)</a:t>
            </a:r>
          </a:p>
          <a:p>
            <a:pPr lvl="1" eaLnBrk="1" hangingPunct="1"/>
            <a:endParaRPr lang="en-US" altLang="en-US" sz="2600" b="1" dirty="0">
              <a:latin typeface="Times New Roman" panose="02020603050405020304" pitchFamily="18" charset="0"/>
              <a:cs typeface="Times New Roman" panose="02020603050405020304" pitchFamily="18" charset="0"/>
            </a:endParaRPr>
          </a:p>
          <a:p>
            <a:pPr lvl="1" eaLnBrk="1" hangingPunct="1"/>
            <a:r>
              <a:rPr lang="en-US" altLang="en-US" sz="2600" b="1" dirty="0">
                <a:latin typeface="Times New Roman" panose="02020603050405020304" pitchFamily="18" charset="0"/>
                <a:cs typeface="Times New Roman" panose="02020603050405020304" pitchFamily="18" charset="0"/>
              </a:rPr>
              <a:t>System’s Interface</a:t>
            </a:r>
          </a:p>
          <a:p>
            <a:pPr lvl="1" eaLnBrk="1" hangingPunct="1"/>
            <a:endParaRPr lang="en-US" altLang="en-US" sz="2600" dirty="0">
              <a:latin typeface="Times New Roman" panose="02020603050405020304" pitchFamily="18" charset="0"/>
              <a:cs typeface="Times New Roman" panose="02020603050405020304" pitchFamily="18" charset="0"/>
            </a:endParaRPr>
          </a:p>
          <a:p>
            <a:pPr lvl="1"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sz="half" idx="2"/>
          </p:nvPr>
        </p:nvSpPr>
        <p:spPr>
          <a:xfrm>
            <a:off x="6217920" y="2132855"/>
            <a:ext cx="4937760" cy="3736239"/>
          </a:xfrm>
        </p:spPr>
        <p:txBody>
          <a:bodyPr/>
          <a:lstStyle/>
          <a:p>
            <a:pPr eaLnBrk="1" hangingPunct="1"/>
            <a:r>
              <a:rPr lang="en-US" altLang="en-US" sz="2600" dirty="0">
                <a:latin typeface="Times New Roman" panose="02020603050405020304" pitchFamily="18" charset="0"/>
                <a:cs typeface="Times New Roman" panose="02020603050405020304" pitchFamily="18" charset="0"/>
              </a:rPr>
              <a:t>The cognitive walkthrough may be used</a:t>
            </a:r>
          </a:p>
          <a:p>
            <a:pPr lvl="1" eaLnBrk="1" hangingPunct="1"/>
            <a:r>
              <a:rPr lang="en-US" altLang="en-US" sz="2600" dirty="0">
                <a:latin typeface="Times New Roman" panose="02020603050405020304" pitchFamily="18" charset="0"/>
                <a:cs typeface="Times New Roman" panose="02020603050405020304" pitchFamily="18" charset="0"/>
              </a:rPr>
              <a:t>without “real” uses, e.g. proposed vs. actual tasks</a:t>
            </a:r>
          </a:p>
          <a:p>
            <a:pPr lvl="1" eaLnBrk="1" hangingPunct="1"/>
            <a:r>
              <a:rPr lang="en-US" altLang="en-US" sz="2600" dirty="0">
                <a:latin typeface="Times New Roman" panose="02020603050405020304" pitchFamily="18" charset="0"/>
                <a:cs typeface="Times New Roman" panose="02020603050405020304" pitchFamily="18" charset="0"/>
              </a:rPr>
              <a:t>before a system is implemented</a:t>
            </a:r>
          </a:p>
          <a:p>
            <a:endParaRPr lang="en-US" sz="2600" dirty="0"/>
          </a:p>
        </p:txBody>
      </p:sp>
      <p:sp>
        <p:nvSpPr>
          <p:cNvPr id="6349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A2C6927-6F19-48CB-895F-0843C9EAB4FC}" type="slidenum">
              <a:rPr lang="en-GB" altLang="en-US">
                <a:solidFill>
                  <a:srgbClr val="FFC551"/>
                </a:solidFill>
                <a:latin typeface="Century Gothic" panose="020B0502020202020204" pitchFamily="34" charset="0"/>
                <a:cs typeface="Arial" panose="020B0604020202020204" pitchFamily="34" charset="0"/>
              </a:rPr>
              <a:pPr/>
              <a:t>9</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pPr marL="342900" indent="-342900" eaLnBrk="1" fontAlgn="auto" hangingPunct="1">
              <a:spcAft>
                <a:spcPts val="0"/>
              </a:spcAft>
              <a:defRPr/>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Evaluation through expert analysis</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1. </a:t>
            </a:r>
            <a:r>
              <a:rPr lang="en-US" altLang="en-US" sz="3500" b="1" dirty="0">
                <a:solidFill>
                  <a:schemeClr val="tx1">
                    <a:lumMod val="75000"/>
                    <a:lumOff val="25000"/>
                  </a:schemeClr>
                </a:solidFill>
                <a:latin typeface="Times New Roman" panose="02020603050405020304" pitchFamily="18" charset="0"/>
                <a:cs typeface="Times New Roman" panose="02020603050405020304" pitchFamily="18" charset="0"/>
              </a:rPr>
              <a:t>cognitive walkthrough </a:t>
            </a:r>
          </a:p>
        </p:txBody>
      </p:sp>
      <p:sp>
        <p:nvSpPr>
          <p:cNvPr id="3" name="Content Placeholder 2"/>
          <p:cNvSpPr>
            <a:spLocks noGrp="1"/>
          </p:cNvSpPr>
          <p:nvPr>
            <p:ph idx="1"/>
          </p:nvPr>
        </p:nvSpPr>
        <p:spPr>
          <a:xfrm>
            <a:off x="838200" y="1825625"/>
            <a:ext cx="10515600" cy="4483695"/>
          </a:xfrm>
        </p:spPr>
        <p:txBody>
          <a:bodyPr rtlCol="0">
            <a:normAutofit/>
          </a:bodyPr>
          <a:lstStyle/>
          <a:p>
            <a:pPr algn="l">
              <a:buFont typeface="Wingdings" panose="05000000000000000000" pitchFamily="2" charset="2"/>
              <a:buChar char="§"/>
            </a:pPr>
            <a:r>
              <a:rPr lang="en-GB" sz="2600" b="0" i="0" u="none" strike="noStrike" baseline="0" dirty="0">
                <a:latin typeface="Times New Roman" panose="02020603050405020304" pitchFamily="18" charset="0"/>
                <a:cs typeface="Times New Roman" panose="02020603050405020304" pitchFamily="18" charset="0"/>
              </a:rPr>
              <a:t>In the cognitive walkthrough, the </a:t>
            </a:r>
            <a:r>
              <a:rPr lang="en-GB" sz="2600" b="1" i="0" u="none" strike="noStrike" baseline="0" dirty="0">
                <a:latin typeface="Times New Roman" panose="02020603050405020304" pitchFamily="18" charset="0"/>
                <a:cs typeface="Times New Roman" panose="02020603050405020304" pitchFamily="18" charset="0"/>
              </a:rPr>
              <a:t>sequence of actions </a:t>
            </a:r>
            <a:r>
              <a:rPr lang="en-GB" sz="2600" b="0" i="0" u="none" strike="noStrike" baseline="0" dirty="0">
                <a:latin typeface="Times New Roman" panose="02020603050405020304" pitchFamily="18" charset="0"/>
                <a:cs typeface="Times New Roman" panose="02020603050405020304" pitchFamily="18" charset="0"/>
              </a:rPr>
              <a:t>refers to the steps that an interface will require a user to perform in order to accomplish some known task. </a:t>
            </a:r>
          </a:p>
          <a:p>
            <a:pPr algn="l">
              <a:buFont typeface="Wingdings" panose="05000000000000000000" pitchFamily="2" charset="2"/>
              <a:buChar char="§"/>
            </a:pPr>
            <a:endParaRPr lang="en-GB" sz="260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GB" sz="2600" b="0" i="0" u="none" strike="noStrike" baseline="0" dirty="0">
                <a:latin typeface="Times New Roman" panose="02020603050405020304" pitchFamily="18" charset="0"/>
                <a:cs typeface="Times New Roman" panose="02020603050405020304" pitchFamily="18" charset="0"/>
              </a:rPr>
              <a:t>The evaluators then ‘step through’ that action sequence to check it for potential usability problems.</a:t>
            </a:r>
          </a:p>
          <a:p>
            <a:pPr algn="l">
              <a:buFont typeface="Wingdings" panose="05000000000000000000" pitchFamily="2" charset="2"/>
              <a:buChar char="§"/>
            </a:pPr>
            <a:endParaRPr lang="en-GB" sz="2600" b="0" i="0" u="none" strike="noStrike" baseline="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GB" sz="2600" b="1" i="0" u="none" strike="noStrike" baseline="0" dirty="0">
                <a:latin typeface="Times New Roman" panose="02020603050405020304" pitchFamily="18" charset="0"/>
                <a:cs typeface="Times New Roman" panose="02020603050405020304" pitchFamily="18" charset="0"/>
              </a:rPr>
              <a:t>Usually, the main focus of the cognitive walkthrough is to establish how easy a system is to learn.</a:t>
            </a:r>
            <a:endParaRPr lang="en-GH" sz="2600" b="1" dirty="0">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645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B2A6CC4-A522-4F10-8FCB-7162077972A8}" type="slidenum">
              <a:rPr lang="en-GB" altLang="en-US">
                <a:solidFill>
                  <a:srgbClr val="FFC551"/>
                </a:solidFill>
                <a:latin typeface="Century Gothic" panose="020B0502020202020204" pitchFamily="34" charset="0"/>
                <a:cs typeface="Arial" panose="020B0604020202020204" pitchFamily="34" charset="0"/>
              </a:rPr>
              <a:pPr/>
              <a:t>10</a:t>
            </a:fld>
            <a:endParaRPr lang="en-GB" altLang="en-US">
              <a:solidFill>
                <a:srgbClr val="FFC551"/>
              </a:solidFill>
              <a:latin typeface="Century Gothic" panose="020B0502020202020204" pitchFamily="34" charset="0"/>
              <a:cs typeface="Arial" panose="020B0604020202020204" pitchFamily="34" charset="0"/>
            </a:endParaRPr>
          </a:p>
        </p:txBody>
      </p:sp>
    </p:spTree>
    <p:extLst>
      <p:ext uri="{BB962C8B-B14F-4D97-AF65-F5344CB8AC3E}">
        <p14:creationId xmlns:p14="http://schemas.microsoft.com/office/powerpoint/2010/main" val="719617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pPr marL="342900" indent="-342900" eaLnBrk="1" fontAlgn="auto" hangingPunct="1">
              <a:spcAft>
                <a:spcPts val="0"/>
              </a:spcAft>
              <a:defRPr/>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Evaluation through expert analysis</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1. </a:t>
            </a:r>
            <a:r>
              <a:rPr lang="en-US" altLang="en-US" sz="3500" b="1" dirty="0">
                <a:solidFill>
                  <a:schemeClr val="tx1">
                    <a:lumMod val="75000"/>
                    <a:lumOff val="25000"/>
                  </a:schemeClr>
                </a:solidFill>
                <a:latin typeface="Times New Roman" panose="02020603050405020304" pitchFamily="18" charset="0"/>
                <a:cs typeface="Times New Roman" panose="02020603050405020304" pitchFamily="18" charset="0"/>
              </a:rPr>
              <a:t>cognitive walkthrough </a:t>
            </a:r>
          </a:p>
        </p:txBody>
      </p:sp>
      <p:sp>
        <p:nvSpPr>
          <p:cNvPr id="3" name="Content Placeholder 2"/>
          <p:cNvSpPr>
            <a:spLocks noGrp="1"/>
          </p:cNvSpPr>
          <p:nvPr>
            <p:ph idx="1"/>
          </p:nvPr>
        </p:nvSpPr>
        <p:spPr>
          <a:xfrm>
            <a:off x="335360" y="1825625"/>
            <a:ext cx="11018440" cy="5003800"/>
          </a:xfrm>
        </p:spPr>
        <p:txBody>
          <a:bodyPr rtlCol="0">
            <a:noAutofit/>
          </a:bodyPr>
          <a:lstStyle/>
          <a:p>
            <a:pPr algn="l"/>
            <a:r>
              <a:rPr lang="en-GB" sz="2600" b="1" i="0" u="none" strike="noStrike" baseline="0" dirty="0">
                <a:latin typeface="Times New Roman" panose="02020603050405020304" pitchFamily="18" charset="0"/>
                <a:cs typeface="Times New Roman" panose="02020603050405020304" pitchFamily="18" charset="0"/>
              </a:rPr>
              <a:t>To do a cognitive walkthrough, you need four things</a:t>
            </a:r>
            <a:r>
              <a:rPr lang="en-GB" sz="2600" b="0" i="0" u="none" strike="noStrike" baseline="0" dirty="0">
                <a:latin typeface="Times New Roman" panose="02020603050405020304" pitchFamily="18" charset="0"/>
                <a:cs typeface="Times New Roman" panose="02020603050405020304" pitchFamily="18" charset="0"/>
              </a:rPr>
              <a:t>:</a:t>
            </a:r>
          </a:p>
          <a:p>
            <a:pPr algn="l"/>
            <a:r>
              <a:rPr lang="en-GB" sz="2600" b="0" i="0" u="none" strike="noStrike" baseline="0" dirty="0">
                <a:latin typeface="Times New Roman" panose="02020603050405020304" pitchFamily="18" charset="0"/>
                <a:cs typeface="Times New Roman" panose="02020603050405020304" pitchFamily="18" charset="0"/>
              </a:rPr>
              <a:t>1. A </a:t>
            </a:r>
            <a:r>
              <a:rPr lang="en-GB" sz="2600" b="1" i="0" u="none" strike="noStrike" baseline="0" dirty="0">
                <a:solidFill>
                  <a:srgbClr val="00B050"/>
                </a:solidFill>
                <a:latin typeface="Times New Roman" panose="02020603050405020304" pitchFamily="18" charset="0"/>
                <a:cs typeface="Times New Roman" panose="02020603050405020304" pitchFamily="18" charset="0"/>
              </a:rPr>
              <a:t>specification or prototype </a:t>
            </a:r>
            <a:r>
              <a:rPr lang="en-GB" sz="2600" b="0" i="0" u="none" strike="noStrike" baseline="0" dirty="0">
                <a:latin typeface="Times New Roman" panose="02020603050405020304" pitchFamily="18" charset="0"/>
                <a:cs typeface="Times New Roman" panose="02020603050405020304" pitchFamily="18" charset="0"/>
              </a:rPr>
              <a:t>of the system. </a:t>
            </a:r>
            <a:endParaRPr lang="en-GB" sz="260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2. A </a:t>
            </a:r>
            <a:r>
              <a:rPr lang="en-GB" sz="2600" b="1" i="0" u="none" strike="noStrike" baseline="0" dirty="0">
                <a:solidFill>
                  <a:srgbClr val="00B050"/>
                </a:solidFill>
                <a:latin typeface="Times New Roman" panose="02020603050405020304" pitchFamily="18" charset="0"/>
                <a:cs typeface="Times New Roman" panose="02020603050405020304" pitchFamily="18" charset="0"/>
              </a:rPr>
              <a:t>description of the task </a:t>
            </a:r>
            <a:r>
              <a:rPr lang="en-GB" sz="2600" b="0" i="0" u="none" strike="noStrike" baseline="0" dirty="0">
                <a:latin typeface="Times New Roman" panose="02020603050405020304" pitchFamily="18" charset="0"/>
                <a:cs typeface="Times New Roman" panose="02020603050405020304" pitchFamily="18" charset="0"/>
              </a:rPr>
              <a:t>the user is to perform on the system. </a:t>
            </a:r>
          </a:p>
          <a:p>
            <a:pPr algn="l"/>
            <a:r>
              <a:rPr lang="en-GB" sz="2600" b="0" i="0" u="none" strike="noStrike" baseline="0" dirty="0">
                <a:latin typeface="Times New Roman" panose="02020603050405020304" pitchFamily="18" charset="0"/>
                <a:cs typeface="Times New Roman" panose="02020603050405020304" pitchFamily="18" charset="0"/>
              </a:rPr>
              <a:t>3. A </a:t>
            </a:r>
            <a:r>
              <a:rPr lang="en-GB" sz="2600" b="1" i="0" u="none" strike="noStrike" baseline="0" dirty="0">
                <a:solidFill>
                  <a:srgbClr val="00B050"/>
                </a:solidFill>
                <a:latin typeface="Times New Roman" panose="02020603050405020304" pitchFamily="18" charset="0"/>
                <a:cs typeface="Times New Roman" panose="02020603050405020304" pitchFamily="18" charset="0"/>
              </a:rPr>
              <a:t>complete, written list of the actions </a:t>
            </a:r>
            <a:r>
              <a:rPr lang="en-GB" sz="2600" b="0" i="0" u="none" strike="noStrike" baseline="0" dirty="0">
                <a:latin typeface="Times New Roman" panose="02020603050405020304" pitchFamily="18" charset="0"/>
                <a:cs typeface="Times New Roman" panose="02020603050405020304" pitchFamily="18" charset="0"/>
              </a:rPr>
              <a:t>needed to complete the task with the proposed system.</a:t>
            </a:r>
          </a:p>
          <a:p>
            <a:pPr algn="l"/>
            <a:r>
              <a:rPr lang="en-GB" sz="2600" b="0" i="0" u="none" strike="noStrike" baseline="0" dirty="0">
                <a:latin typeface="Times New Roman" panose="02020603050405020304" pitchFamily="18" charset="0"/>
                <a:cs typeface="Times New Roman" panose="02020603050405020304" pitchFamily="18" charset="0"/>
              </a:rPr>
              <a:t>4. </a:t>
            </a:r>
            <a:r>
              <a:rPr lang="en-GB" sz="2600" b="1" i="0" u="none" strike="noStrike" baseline="0" dirty="0">
                <a:solidFill>
                  <a:srgbClr val="00B050"/>
                </a:solidFill>
                <a:latin typeface="Times New Roman" panose="02020603050405020304" pitchFamily="18" charset="0"/>
                <a:cs typeface="Times New Roman" panose="02020603050405020304" pitchFamily="18" charset="0"/>
              </a:rPr>
              <a:t>An indication of who the users are and what kind of experience and knowledge </a:t>
            </a:r>
            <a:r>
              <a:rPr lang="en-GB" sz="2600" b="0" i="0" u="none" strike="noStrike" baseline="0" dirty="0">
                <a:latin typeface="Times New Roman" panose="02020603050405020304" pitchFamily="18" charset="0"/>
                <a:cs typeface="Times New Roman" panose="02020603050405020304" pitchFamily="18" charset="0"/>
              </a:rPr>
              <a:t>the evaluators can assume about them.</a:t>
            </a:r>
          </a:p>
          <a:p>
            <a:pPr lvl="1"/>
            <a:r>
              <a:rPr lang="en-GB" sz="2600" b="0" i="0" u="none" strike="noStrike" baseline="0" dirty="0">
                <a:latin typeface="Times New Roman" panose="02020603050405020304" pitchFamily="18" charset="0"/>
                <a:cs typeface="Times New Roman" panose="02020603050405020304" pitchFamily="18" charset="0"/>
              </a:rPr>
              <a:t>Given this information, the evaluators step through the action sequence (identified in item 3 above) to critique the system and tell a believable story about its usability.</a:t>
            </a: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645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B2A6CC4-A522-4F10-8FCB-7162077972A8}" type="slidenum">
              <a:rPr lang="en-GB" altLang="en-US">
                <a:solidFill>
                  <a:srgbClr val="FFC551"/>
                </a:solidFill>
                <a:latin typeface="Century Gothic" panose="020B0502020202020204" pitchFamily="34" charset="0"/>
                <a:cs typeface="Arial" panose="020B0604020202020204" pitchFamily="34" charset="0"/>
              </a:rPr>
              <a:pPr/>
              <a:t>11</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pPr marL="342900" indent="-342900" eaLnBrk="1" fontAlgn="auto" hangingPunct="1">
              <a:spcAft>
                <a:spcPts val="0"/>
              </a:spcAft>
              <a:defRPr/>
            </a:pPr>
            <a:r>
              <a:rPr lang="en-US" altLang="en-US" sz="2000" dirty="0">
                <a:solidFill>
                  <a:schemeClr val="tx1">
                    <a:lumMod val="75000"/>
                    <a:lumOff val="25000"/>
                  </a:schemeClr>
                </a:solidFill>
                <a:latin typeface="Futura Md BT"/>
              </a:rPr>
              <a:t>Evaluation through expert analysis</a:t>
            </a:r>
            <a:r>
              <a:rPr lang="en-US" altLang="en-US" dirty="0">
                <a:solidFill>
                  <a:schemeClr val="tx1">
                    <a:lumMod val="75000"/>
                    <a:lumOff val="25000"/>
                  </a:schemeClr>
                </a:solidFill>
                <a:latin typeface="Futura Md BT"/>
              </a:rPr>
              <a:t>: 1. </a:t>
            </a:r>
            <a:r>
              <a:rPr lang="en-US" altLang="en-US" sz="3500" b="1" dirty="0">
                <a:solidFill>
                  <a:schemeClr val="tx1">
                    <a:lumMod val="75000"/>
                    <a:lumOff val="25000"/>
                  </a:schemeClr>
                </a:solidFill>
                <a:latin typeface="Times New Roman" panose="02020603050405020304" pitchFamily="18" charset="0"/>
                <a:cs typeface="Times New Roman" panose="02020603050405020304" pitchFamily="18" charset="0"/>
              </a:rPr>
              <a:t>cognitive walkthrough</a:t>
            </a:r>
            <a:r>
              <a:rPr lang="en-US" altLang="en-US" sz="3500" b="1" dirty="0">
                <a:solidFill>
                  <a:schemeClr val="tx1">
                    <a:lumMod val="75000"/>
                    <a:lumOff val="25000"/>
                  </a:schemeClr>
                </a:solidFill>
                <a:latin typeface="Futura Md BT"/>
              </a:rPr>
              <a:t> </a:t>
            </a:r>
          </a:p>
        </p:txBody>
      </p:sp>
      <p:sp>
        <p:nvSpPr>
          <p:cNvPr id="3" name="Content Placeholder 2"/>
          <p:cNvSpPr>
            <a:spLocks noGrp="1"/>
          </p:cNvSpPr>
          <p:nvPr>
            <p:ph idx="1"/>
          </p:nvPr>
        </p:nvSpPr>
        <p:spPr>
          <a:xfrm>
            <a:off x="838200" y="1825625"/>
            <a:ext cx="10515600" cy="5003800"/>
          </a:xfrm>
        </p:spPr>
        <p:txBody>
          <a:bodyPr rtlCol="0">
            <a:noAutofit/>
          </a:bodyPr>
          <a:lstStyle/>
          <a:p>
            <a:pPr algn="l"/>
            <a:r>
              <a:rPr lang="en-GB" sz="2600" b="0" i="0" u="none" strike="noStrike" baseline="0" dirty="0">
                <a:latin typeface="Times New Roman" panose="02020603050405020304" pitchFamily="18" charset="0"/>
                <a:cs typeface="Times New Roman" panose="02020603050405020304" pitchFamily="18" charset="0"/>
              </a:rPr>
              <a:t>To do this, for each action, the evaluators try to answer the following </a:t>
            </a:r>
            <a:r>
              <a:rPr lang="en-GB" sz="2600" b="1" i="0" u="none" strike="noStrike" baseline="0" dirty="0">
                <a:latin typeface="Times New Roman" panose="02020603050405020304" pitchFamily="18" charset="0"/>
                <a:cs typeface="Times New Roman" panose="02020603050405020304" pitchFamily="18" charset="0"/>
              </a:rPr>
              <a:t>four questions </a:t>
            </a:r>
            <a:r>
              <a:rPr lang="en-GB" sz="2600" b="0" i="0" u="none" strike="noStrike" baseline="0" dirty="0">
                <a:latin typeface="Times New Roman" panose="02020603050405020304" pitchFamily="18" charset="0"/>
                <a:cs typeface="Times New Roman" panose="02020603050405020304" pitchFamily="18" charset="0"/>
              </a:rPr>
              <a:t>for each step in the action sequence</a:t>
            </a:r>
          </a:p>
          <a:p>
            <a:pPr algn="l"/>
            <a:r>
              <a:rPr lang="en-GB" sz="2600" b="0" i="0" u="none" strike="noStrike" baseline="0" dirty="0">
                <a:latin typeface="Times New Roman" panose="02020603050405020304" pitchFamily="18" charset="0"/>
                <a:cs typeface="Times New Roman" panose="02020603050405020304" pitchFamily="18" charset="0"/>
              </a:rPr>
              <a:t>1. </a:t>
            </a:r>
            <a:r>
              <a:rPr lang="en-GB" sz="2600" b="1" i="0" u="none" strike="noStrike" baseline="0" dirty="0">
                <a:latin typeface="Times New Roman" panose="02020603050405020304" pitchFamily="18" charset="0"/>
                <a:cs typeface="Times New Roman" panose="02020603050405020304" pitchFamily="18" charset="0"/>
              </a:rPr>
              <a:t>Is the effect of the action the same as the user’s goal at that point?</a:t>
            </a:r>
            <a:endParaRPr lang="en-GB" sz="2600" dirty="0">
              <a:latin typeface="Times New Roman" panose="02020603050405020304" pitchFamily="18" charset="0"/>
              <a:cs typeface="Times New Roman" panose="02020603050405020304" pitchFamily="18" charset="0"/>
            </a:endParaRPr>
          </a:p>
          <a:p>
            <a:pPr algn="l"/>
            <a:r>
              <a:rPr lang="en-GB" sz="2600" b="1" i="0" u="none" strike="noStrike" baseline="0" dirty="0">
                <a:solidFill>
                  <a:srgbClr val="000000"/>
                </a:solidFill>
                <a:latin typeface="Times New Roman" panose="02020603050405020304" pitchFamily="18" charset="0"/>
                <a:cs typeface="Times New Roman" panose="02020603050405020304" pitchFamily="18" charset="0"/>
              </a:rPr>
              <a:t>2. Will users see that the action is available? </a:t>
            </a:r>
            <a:r>
              <a:rPr lang="en-GB" sz="2600" b="0" i="0" u="none" strike="noStrike" baseline="0" dirty="0">
                <a:solidFill>
                  <a:srgbClr val="000000"/>
                </a:solidFill>
                <a:latin typeface="Times New Roman" panose="02020603050405020304" pitchFamily="18" charset="0"/>
                <a:cs typeface="Times New Roman" panose="02020603050405020304" pitchFamily="18" charset="0"/>
              </a:rPr>
              <a:t>Will users see the button or menu item, for example, that is used to produce the action? </a:t>
            </a:r>
            <a:r>
              <a:rPr lang="en-GB" sz="2600" b="0" i="0" u="none" strike="noStrike" baseline="0" dirty="0">
                <a:solidFill>
                  <a:srgbClr val="FF0000"/>
                </a:solidFill>
                <a:latin typeface="Times New Roman" panose="02020603050405020304" pitchFamily="18" charset="0"/>
                <a:cs typeface="Times New Roman" panose="02020603050405020304" pitchFamily="18" charset="0"/>
              </a:rPr>
              <a:t>This is </a:t>
            </a:r>
            <a:r>
              <a:rPr lang="en-GB" sz="2600" b="0" i="1" u="none" strike="noStrike" baseline="0" dirty="0">
                <a:solidFill>
                  <a:srgbClr val="FF0000"/>
                </a:solidFill>
                <a:latin typeface="Times New Roman" panose="02020603050405020304" pitchFamily="18" charset="0"/>
                <a:cs typeface="Times New Roman" panose="02020603050405020304" pitchFamily="18" charset="0"/>
              </a:rPr>
              <a:t>not </a:t>
            </a:r>
            <a:r>
              <a:rPr lang="en-GB" sz="2600" b="0" i="0" u="none" strike="noStrike" baseline="0" dirty="0">
                <a:solidFill>
                  <a:srgbClr val="FF0000"/>
                </a:solidFill>
                <a:latin typeface="Times New Roman" panose="02020603050405020304" pitchFamily="18" charset="0"/>
                <a:cs typeface="Times New Roman" panose="02020603050405020304" pitchFamily="18" charset="0"/>
              </a:rPr>
              <a:t>asking whether they will recognize that the button is the one they want</a:t>
            </a:r>
            <a:r>
              <a:rPr lang="en-GB" sz="2600" b="0" i="0" u="none" strike="noStrike" baseline="0" dirty="0">
                <a:solidFill>
                  <a:srgbClr val="000000"/>
                </a:solidFill>
                <a:latin typeface="Times New Roman" panose="02020603050405020304" pitchFamily="18" charset="0"/>
                <a:cs typeface="Times New Roman" panose="02020603050405020304" pitchFamily="18" charset="0"/>
              </a:rPr>
              <a:t>. </a:t>
            </a:r>
            <a:r>
              <a:rPr lang="en-GB" sz="2600" b="0" i="0" u="none" strike="noStrike" baseline="0" dirty="0">
                <a:solidFill>
                  <a:srgbClr val="00B050"/>
                </a:solidFill>
                <a:latin typeface="Times New Roman" panose="02020603050405020304" pitchFamily="18" charset="0"/>
                <a:cs typeface="Times New Roman" panose="02020603050405020304" pitchFamily="18" charset="0"/>
              </a:rPr>
              <a:t>This is merely asking whether it is visible to them at the time when they will need to use it.</a:t>
            </a:r>
          </a:p>
        </p:txBody>
      </p:sp>
      <p:sp>
        <p:nvSpPr>
          <p:cNvPr id="645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B2A6CC4-A522-4F10-8FCB-7162077972A8}" type="slidenum">
              <a:rPr lang="en-GB" altLang="en-US">
                <a:solidFill>
                  <a:srgbClr val="FFC551"/>
                </a:solidFill>
                <a:latin typeface="Century Gothic" panose="020B0502020202020204" pitchFamily="34" charset="0"/>
                <a:cs typeface="Arial" panose="020B0604020202020204" pitchFamily="34" charset="0"/>
              </a:rPr>
              <a:pPr/>
              <a:t>12</a:t>
            </a:fld>
            <a:endParaRPr lang="en-GB" altLang="en-US">
              <a:solidFill>
                <a:srgbClr val="FFC551"/>
              </a:solidFill>
              <a:latin typeface="Century Gothic" panose="020B0502020202020204" pitchFamily="34" charset="0"/>
              <a:cs typeface="Arial" panose="020B0604020202020204" pitchFamily="34" charset="0"/>
            </a:endParaRPr>
          </a:p>
        </p:txBody>
      </p:sp>
    </p:spTree>
    <p:extLst>
      <p:ext uri="{BB962C8B-B14F-4D97-AF65-F5344CB8AC3E}">
        <p14:creationId xmlns:p14="http://schemas.microsoft.com/office/powerpoint/2010/main" val="2716963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0F3C6-D358-0FC2-8BFE-BF725EDD769B}"/>
              </a:ext>
            </a:extLst>
          </p:cNvPr>
          <p:cNvSpPr>
            <a:spLocks noGrp="1"/>
          </p:cNvSpPr>
          <p:nvPr>
            <p:ph type="title"/>
          </p:nvPr>
        </p:nvSpPr>
        <p:spPr/>
        <p:txBody>
          <a:bodyPr/>
          <a:lstStyle/>
          <a:p>
            <a:r>
              <a:rPr kumimoji="0" lang="en-US" altLang="en-US" sz="2000" b="0" i="0" u="none" strike="noStrike" kern="1200" cap="none" spc="-50" normalizeH="0" baseline="0" noProof="0" dirty="0">
                <a:ln>
                  <a:noFill/>
                </a:ln>
                <a:solidFill>
                  <a:srgbClr val="000000">
                    <a:lumMod val="75000"/>
                    <a:lumOff val="25000"/>
                  </a:srgbClr>
                </a:solidFill>
                <a:effectLst/>
                <a:uLnTx/>
                <a:uFillTx/>
                <a:latin typeface="Futura Md BT"/>
                <a:ea typeface="+mj-ea"/>
                <a:cs typeface="+mj-cs"/>
              </a:rPr>
              <a:t>Evaluation through expert analysis</a:t>
            </a:r>
            <a:r>
              <a:rPr kumimoji="0" lang="en-US" altLang="en-US" sz="4800" b="0" i="0" u="none" strike="noStrike" kern="1200" cap="none" spc="-50" normalizeH="0" baseline="0" noProof="0" dirty="0">
                <a:ln>
                  <a:noFill/>
                </a:ln>
                <a:solidFill>
                  <a:srgbClr val="000000">
                    <a:lumMod val="75000"/>
                    <a:lumOff val="25000"/>
                  </a:srgbClr>
                </a:solidFill>
                <a:effectLst/>
                <a:uLnTx/>
                <a:uFillTx/>
                <a:latin typeface="Futura Md BT"/>
                <a:ea typeface="+mj-ea"/>
                <a:cs typeface="+mj-cs"/>
              </a:rPr>
              <a:t>: 1. </a:t>
            </a:r>
            <a:r>
              <a:rPr kumimoji="0" lang="en-US" altLang="en-US" sz="3500" b="1"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rPr>
              <a:t>cognitive walkthrough</a:t>
            </a:r>
            <a:r>
              <a:rPr kumimoji="0" lang="en-US" altLang="en-US" sz="3500" b="1" i="0" u="none" strike="noStrike" kern="1200" cap="none" spc="-50" normalizeH="0" baseline="0" noProof="0" dirty="0">
                <a:ln>
                  <a:noFill/>
                </a:ln>
                <a:solidFill>
                  <a:srgbClr val="000000">
                    <a:lumMod val="75000"/>
                    <a:lumOff val="25000"/>
                  </a:srgbClr>
                </a:solidFill>
                <a:effectLst/>
                <a:uLnTx/>
                <a:uFillTx/>
                <a:latin typeface="Futura Md BT"/>
                <a:ea typeface="+mj-ea"/>
                <a:cs typeface="+mj-cs"/>
              </a:rPr>
              <a:t> </a:t>
            </a:r>
            <a:endParaRPr lang="en-US" dirty="0"/>
          </a:p>
        </p:txBody>
      </p:sp>
      <p:sp>
        <p:nvSpPr>
          <p:cNvPr id="3" name="Content Placeholder 2">
            <a:extLst>
              <a:ext uri="{FF2B5EF4-FFF2-40B4-BE49-F238E27FC236}">
                <a16:creationId xmlns:a16="http://schemas.microsoft.com/office/drawing/2014/main" id="{55DA0542-5BBC-8C80-0823-08E2E77C3C6C}"/>
              </a:ext>
            </a:extLst>
          </p:cNvPr>
          <p:cNvSpPr>
            <a:spLocks noGrp="1"/>
          </p:cNvSpPr>
          <p:nvPr>
            <p:ph idx="1"/>
          </p:nvPr>
        </p:nvSpPr>
        <p:spPr/>
        <p:txBody>
          <a:bodyPr/>
          <a:lstStyle/>
          <a:p>
            <a:pPr algn="l"/>
            <a:r>
              <a:rPr lang="en-GB" sz="2600" b="1" i="0" u="none" strike="noStrike" baseline="0" dirty="0">
                <a:latin typeface="Times New Roman" panose="02020603050405020304" pitchFamily="18" charset="0"/>
                <a:cs typeface="Times New Roman" panose="02020603050405020304" pitchFamily="18" charset="0"/>
              </a:rPr>
              <a:t>3. Once users have found the correct action, will they know it is the one they need? </a:t>
            </a:r>
            <a:r>
              <a:rPr lang="en-GB" sz="2600" b="0" i="0" u="none" strike="noStrike" baseline="0" dirty="0">
                <a:latin typeface="Times New Roman" panose="02020603050405020304" pitchFamily="18" charset="0"/>
                <a:cs typeface="Times New Roman" panose="02020603050405020304" pitchFamily="18" charset="0"/>
              </a:rPr>
              <a:t>This complements the previous question. It is one thing for a button or menu item to be visible, but will the user recognize that it is the one he is looking for to complete his task? </a:t>
            </a:r>
            <a:r>
              <a:rPr lang="en-GB" sz="2600" b="0" i="0" u="none" strike="noStrike" baseline="0" dirty="0">
                <a:solidFill>
                  <a:srgbClr val="00B050"/>
                </a:solidFill>
                <a:latin typeface="Times New Roman" panose="02020603050405020304" pitchFamily="18" charset="0"/>
                <a:cs typeface="Times New Roman" panose="02020603050405020304" pitchFamily="18" charset="0"/>
              </a:rPr>
              <a:t>Where the previous question was about the visibility of the action, this one is about whether its meaning and effect is clear.</a:t>
            </a:r>
          </a:p>
          <a:p>
            <a:pPr algn="l"/>
            <a:r>
              <a:rPr lang="en-GB" sz="2600" dirty="0">
                <a:solidFill>
                  <a:schemeClr val="tx1"/>
                </a:solidFill>
                <a:latin typeface="Times New Roman" panose="02020603050405020304" pitchFamily="18" charset="0"/>
                <a:cs typeface="Times New Roman" panose="02020603050405020304" pitchFamily="18" charset="0"/>
              </a:rPr>
              <a:t>4</a:t>
            </a:r>
            <a:r>
              <a:rPr lang="en-GB" sz="2600" dirty="0">
                <a:solidFill>
                  <a:srgbClr val="00B050"/>
                </a:solidFill>
                <a:latin typeface="Times New Roman" panose="02020603050405020304" pitchFamily="18" charset="0"/>
                <a:cs typeface="Times New Roman" panose="02020603050405020304" pitchFamily="18" charset="0"/>
              </a:rPr>
              <a:t>. </a:t>
            </a:r>
            <a:r>
              <a:rPr lang="en-GB" sz="2600" b="1" i="0" u="none" strike="noStrike" baseline="0" dirty="0">
                <a:latin typeface="Times New Roman" panose="02020603050405020304" pitchFamily="18" charset="0"/>
                <a:cs typeface="Times New Roman" panose="02020603050405020304" pitchFamily="18" charset="0"/>
              </a:rPr>
              <a:t>After the action is taken, will users understand the feedback they get? </a:t>
            </a:r>
            <a:r>
              <a:rPr lang="en-GB" sz="2600" b="0" i="0" u="none" strike="noStrike" baseline="0" dirty="0">
                <a:latin typeface="Times New Roman" panose="02020603050405020304" pitchFamily="18" charset="0"/>
                <a:cs typeface="Times New Roman" panose="02020603050405020304" pitchFamily="18" charset="0"/>
              </a:rPr>
              <a:t>If you now assume that the user did manage to achieve the correct action, will he know that he has done so? </a:t>
            </a:r>
            <a:r>
              <a:rPr lang="en-GB" sz="2600" b="1" i="0" u="none" strike="noStrike" baseline="0" dirty="0">
                <a:solidFill>
                  <a:srgbClr val="00B050"/>
                </a:solidFill>
                <a:latin typeface="Times New Roman" panose="02020603050405020304" pitchFamily="18" charset="0"/>
                <a:cs typeface="Times New Roman" panose="02020603050405020304" pitchFamily="18" charset="0"/>
              </a:rPr>
              <a:t>Will the feedback given be sufficient confirmation of what has actually happened?</a:t>
            </a:r>
            <a:endParaRPr lang="en-US" sz="2600" b="1" dirty="0">
              <a:solidFill>
                <a:srgbClr val="00B050"/>
              </a:solidFill>
              <a:latin typeface="Times New Roman" panose="02020603050405020304" pitchFamily="18" charset="0"/>
              <a:cs typeface="Times New Roman" panose="02020603050405020304" pitchFamily="18" charset="0"/>
            </a:endParaRPr>
          </a:p>
          <a:p>
            <a:endParaRPr lang="en-US" sz="2600" dirty="0"/>
          </a:p>
        </p:txBody>
      </p:sp>
      <p:sp>
        <p:nvSpPr>
          <p:cNvPr id="4" name="Slide Number Placeholder 3">
            <a:extLst>
              <a:ext uri="{FF2B5EF4-FFF2-40B4-BE49-F238E27FC236}">
                <a16:creationId xmlns:a16="http://schemas.microsoft.com/office/drawing/2014/main" id="{37563A2A-F802-E658-B761-AFDDCBAF2EE6}"/>
              </a:ext>
            </a:extLst>
          </p:cNvPr>
          <p:cNvSpPr>
            <a:spLocks noGrp="1"/>
          </p:cNvSpPr>
          <p:nvPr>
            <p:ph type="sldNum" sz="quarter" idx="12"/>
          </p:nvPr>
        </p:nvSpPr>
        <p:spPr/>
        <p:txBody>
          <a:bodyPr/>
          <a:lstStyle/>
          <a:p>
            <a:pPr>
              <a:defRPr/>
            </a:pPr>
            <a:fld id="{784CB106-59EF-4E38-AE9E-B3544BD66F06}" type="slidenum">
              <a:rPr lang="en-GB" altLang="en-US" smtClean="0"/>
              <a:pPr>
                <a:defRPr/>
              </a:pPr>
              <a:t>13</a:t>
            </a:fld>
            <a:endParaRPr lang="en-GB" altLang="en-US"/>
          </a:p>
        </p:txBody>
      </p:sp>
    </p:spTree>
    <p:extLst>
      <p:ext uri="{BB962C8B-B14F-4D97-AF65-F5344CB8AC3E}">
        <p14:creationId xmlns:p14="http://schemas.microsoft.com/office/powerpoint/2010/main" val="1831137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pPr algn="ctr" eaLnBrk="1" fontAlgn="auto" hangingPunct="1">
              <a:spcAft>
                <a:spcPts val="0"/>
              </a:spcAft>
              <a:defRPr/>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Evaluation through expert analysis</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2. Heuristic evaluation</a:t>
            </a:r>
          </a:p>
        </p:txBody>
      </p:sp>
      <p:sp>
        <p:nvSpPr>
          <p:cNvPr id="71684" name="Content Placeholder 5"/>
          <p:cNvSpPr>
            <a:spLocks noGrp="1"/>
          </p:cNvSpPr>
          <p:nvPr>
            <p:ph idx="1"/>
          </p:nvPr>
        </p:nvSpPr>
        <p:spPr>
          <a:xfrm>
            <a:off x="838200" y="1557338"/>
            <a:ext cx="10515600" cy="4619625"/>
          </a:xfrm>
        </p:spPr>
        <p:txBody>
          <a:bodyPr rtlCol="0">
            <a:noAutofit/>
          </a:bodyPr>
          <a:lstStyle/>
          <a:p>
            <a:pPr marL="91440" indent="-91440" eaLnBrk="1" fontAlgn="auto" hangingPunct="1">
              <a:defRPr/>
            </a:pPr>
            <a:endPar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 heuristic is a guideline or general principle or rule of thumb that can guide a design decision or be used to critique a decision that has already been made.</a:t>
            </a:r>
            <a:endParaRPr lang="en-GB"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Heuristic evaluation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developed by Jakob Nielsen and Rolf </a:t>
            </a:r>
            <a:r>
              <a:rPr lang="en-US" altLang="en-US" sz="2600" dirty="0" err="1">
                <a:solidFill>
                  <a:schemeClr val="tx1">
                    <a:lumMod val="75000"/>
                    <a:lumOff val="25000"/>
                  </a:schemeClr>
                </a:solidFill>
                <a:latin typeface="Times New Roman" panose="02020603050405020304" pitchFamily="18" charset="0"/>
                <a:cs typeface="Times New Roman" panose="02020603050405020304" pitchFamily="18" charset="0"/>
              </a:rPr>
              <a:t>Molich</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is a method for structuring the critique of a system using a set of relatively simple and general heuristics.</a:t>
            </a: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Heuristic evaluation can be performed on a design specification so it is useful for evaluating early design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But it can also be used on </a:t>
            </a:r>
            <a:r>
              <a:rPr lang="en-US" altLang="en-US" sz="2600" dirty="0">
                <a:solidFill>
                  <a:srgbClr val="00B050"/>
                </a:solidFill>
                <a:latin typeface="Times New Roman" panose="02020603050405020304" pitchFamily="18" charset="0"/>
                <a:cs typeface="Times New Roman" panose="02020603050405020304" pitchFamily="18" charset="0"/>
              </a:rPr>
              <a:t>prototypes, storyboards and fully functioning systems. It is therefore a flexible, relatively cheap approach.</a:t>
            </a:r>
          </a:p>
        </p:txBody>
      </p:sp>
      <p:sp>
        <p:nvSpPr>
          <p:cNvPr id="655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CE671EC-2FB5-489C-872F-F0FC1C33483B}" type="slidenum">
              <a:rPr lang="en-GB" altLang="en-US">
                <a:solidFill>
                  <a:srgbClr val="FFC551"/>
                </a:solidFill>
                <a:latin typeface="Century Gothic" panose="020B0502020202020204" pitchFamily="34" charset="0"/>
                <a:cs typeface="Arial" panose="020B0604020202020204" pitchFamily="34" charset="0"/>
              </a:rPr>
              <a:pPr/>
              <a:t>14</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How to perform a heuristic evaluation</a:t>
            </a:r>
          </a:p>
        </p:txBody>
      </p:sp>
      <p:sp>
        <p:nvSpPr>
          <p:cNvPr id="73731" name="Content Placeholder 2"/>
          <p:cNvSpPr>
            <a:spLocks noGrp="1"/>
          </p:cNvSpPr>
          <p:nvPr>
            <p:ph idx="1"/>
          </p:nvPr>
        </p:nvSpPr>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Systematic inspection to see if interface complies to guidelines</a:t>
            </a: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Method</a:t>
            </a:r>
          </a:p>
          <a:p>
            <a:pPr marL="384048" lvl="1" indent="-18288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3-5 inspectors</a:t>
            </a:r>
          </a:p>
          <a:p>
            <a:pPr marL="384048" lvl="1" indent="-18288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usability engineers, end users, double experts…</a:t>
            </a:r>
          </a:p>
          <a:p>
            <a:pPr marL="384048" lvl="1" indent="-18288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inspect interface in isolation (~1–2 hours for simple interfaces)</a:t>
            </a:r>
          </a:p>
          <a:p>
            <a:pPr marL="384048" lvl="1" indent="-18288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compare notes afterwards</a:t>
            </a:r>
          </a:p>
          <a:p>
            <a:pPr marL="566928" lvl="2" indent="-18288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single evaluator only catches ~35% of usability problems</a:t>
            </a:r>
          </a:p>
          <a:p>
            <a:pPr marL="566928" lvl="2" indent="-18288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5 evaluators catch 75%</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Works for paper, prototypes, and working systems</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6758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88AD74D-5972-4CA3-8B6D-6DFE25009AA7}" type="slidenum">
              <a:rPr lang="en-GB" altLang="en-US">
                <a:solidFill>
                  <a:srgbClr val="FFC551"/>
                </a:solidFill>
                <a:latin typeface="Century Gothic" panose="020B0502020202020204" pitchFamily="34" charset="0"/>
                <a:cs typeface="Arial" panose="020B0604020202020204" pitchFamily="34" charset="0"/>
              </a:rPr>
              <a:pPr/>
              <a:t>15</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a:xfrm>
            <a:off x="1096963" y="287339"/>
            <a:ext cx="10058400" cy="909413"/>
          </a:xfrm>
        </p:spPr>
        <p:txBody>
          <a:bodyPr>
            <a:normAutofit fontScale="90000"/>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How to perform heuristic evaluation cont’d</a:t>
            </a:r>
          </a:p>
        </p:txBody>
      </p:sp>
      <p:sp>
        <p:nvSpPr>
          <p:cNvPr id="74756" name="Content Placeholder 5"/>
          <p:cNvSpPr>
            <a:spLocks noGrp="1"/>
          </p:cNvSpPr>
          <p:nvPr>
            <p:ph idx="1"/>
          </p:nvPr>
        </p:nvSpPr>
        <p:spPr>
          <a:xfrm>
            <a:off x="838200" y="1844675"/>
            <a:ext cx="10515600" cy="4321175"/>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Each evaluator assesses the system and notes violations of any of these heuristics(</a:t>
            </a:r>
            <a:r>
              <a:rPr lang="en-US" altLang="en-US" sz="2600" dirty="0" err="1">
                <a:solidFill>
                  <a:schemeClr val="tx1">
                    <a:lumMod val="75000"/>
                    <a:lumOff val="25000"/>
                  </a:schemeClr>
                </a:solidFill>
                <a:latin typeface="Times New Roman" panose="02020603050405020304" pitchFamily="18" charset="0"/>
                <a:cs typeface="Times New Roman" panose="02020603050405020304" pitchFamily="18" charset="0"/>
              </a:rPr>
              <a:t>eg</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Nielson’s heuristics) that would indicate a potential usability problem.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evaluator also assesses the severity of each usability problem using a severity rating on a scale of 0–4:</a:t>
            </a:r>
          </a:p>
          <a:p>
            <a:pPr marL="342900" lvl="1" indent="0" eaLnBrk="1" fontAlgn="auto" hangingPunct="1">
              <a:lnSpc>
                <a:spcPct val="15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0 = I don’t agree that this is a usability problem at all</a:t>
            </a:r>
          </a:p>
          <a:p>
            <a:pPr marL="342900" lvl="1" indent="0" eaLnBrk="1" fontAlgn="auto" hangingPunct="1">
              <a:lnSpc>
                <a:spcPct val="15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1 = Cosmetic problem only: need not be fixed unless extra time is available on project</a:t>
            </a:r>
          </a:p>
          <a:p>
            <a:pPr marL="342900" lvl="1" indent="0" eaLnBrk="1" fontAlgn="auto" hangingPunct="1">
              <a:lnSpc>
                <a:spcPct val="15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2 = Minor usability problem: fixing this should be given low priority</a:t>
            </a:r>
          </a:p>
        </p:txBody>
      </p:sp>
      <p:sp>
        <p:nvSpPr>
          <p:cNvPr id="686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B5353EC-7E5F-4185-934B-D39D155AE28F}" type="slidenum">
              <a:rPr lang="en-GB" altLang="en-US">
                <a:solidFill>
                  <a:srgbClr val="FFC551"/>
                </a:solidFill>
                <a:latin typeface="Century Gothic" panose="020B0502020202020204" pitchFamily="34" charset="0"/>
                <a:cs typeface="Arial" panose="020B0604020202020204" pitchFamily="34" charset="0"/>
              </a:rPr>
              <a:pPr/>
              <a:t>16</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F8DA0-F037-0D4E-93F7-451F76A57EBD}"/>
              </a:ext>
            </a:extLst>
          </p:cNvPr>
          <p:cNvSpPr>
            <a:spLocks noGrp="1"/>
          </p:cNvSpPr>
          <p:nvPr>
            <p:ph type="title"/>
          </p:nvPr>
        </p:nvSpPr>
        <p:spPr/>
        <p:txBody>
          <a:bodyPr/>
          <a:lstStyle/>
          <a:p>
            <a:r>
              <a:rPr kumimoji="0" lang="en-US" altLang="en-US" sz="4300" b="0"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rPr>
              <a:t>How to perform heuristic evaluation cont’d</a:t>
            </a:r>
            <a:endParaRPr lang="en-US" dirty="0"/>
          </a:p>
        </p:txBody>
      </p:sp>
      <p:sp>
        <p:nvSpPr>
          <p:cNvPr id="3" name="Content Placeholder 2">
            <a:extLst>
              <a:ext uri="{FF2B5EF4-FFF2-40B4-BE49-F238E27FC236}">
                <a16:creationId xmlns:a16="http://schemas.microsoft.com/office/drawing/2014/main" id="{8BFA21A5-8688-70CF-F6F6-00E0037444E9}"/>
              </a:ext>
            </a:extLst>
          </p:cNvPr>
          <p:cNvSpPr>
            <a:spLocks noGrp="1"/>
          </p:cNvSpPr>
          <p:nvPr>
            <p:ph idx="1"/>
          </p:nvPr>
        </p:nvSpPr>
        <p:spPr/>
        <p:txBody>
          <a:bodyPr/>
          <a:lstStyle/>
          <a:p>
            <a:pPr marL="342900" lvl="1" indent="0" eaLnBrk="1" fontAlgn="auto" hangingPunct="1">
              <a:lnSpc>
                <a:spcPct val="15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3 = Major usability problem: important to fix, so should be given high priority</a:t>
            </a:r>
          </a:p>
          <a:p>
            <a:pPr marL="342900" lvl="1" indent="0" eaLnBrk="1" fontAlgn="auto" hangingPunct="1">
              <a:lnSpc>
                <a:spcPct val="15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4 = Usability catastrophe: imperative to fix this before product can be released</a:t>
            </a:r>
          </a:p>
          <a:p>
            <a:pPr>
              <a:lnSpc>
                <a:spcPct val="150000"/>
              </a:lnSpc>
            </a:pPr>
            <a:endParaRPr lang="en-US" sz="2600" dirty="0"/>
          </a:p>
        </p:txBody>
      </p:sp>
      <p:sp>
        <p:nvSpPr>
          <p:cNvPr id="4" name="Slide Number Placeholder 3">
            <a:extLst>
              <a:ext uri="{FF2B5EF4-FFF2-40B4-BE49-F238E27FC236}">
                <a16:creationId xmlns:a16="http://schemas.microsoft.com/office/drawing/2014/main" id="{9215E11D-7149-AEAD-5689-1705810ACFDB}"/>
              </a:ext>
            </a:extLst>
          </p:cNvPr>
          <p:cNvSpPr>
            <a:spLocks noGrp="1"/>
          </p:cNvSpPr>
          <p:nvPr>
            <p:ph type="sldNum" sz="quarter" idx="12"/>
          </p:nvPr>
        </p:nvSpPr>
        <p:spPr/>
        <p:txBody>
          <a:bodyPr/>
          <a:lstStyle/>
          <a:p>
            <a:pPr>
              <a:defRPr/>
            </a:pPr>
            <a:fld id="{784CB106-59EF-4E38-AE9E-B3544BD66F06}" type="slidenum">
              <a:rPr lang="en-GB" altLang="en-US" smtClean="0"/>
              <a:pPr>
                <a:defRPr/>
              </a:pPr>
              <a:t>17</a:t>
            </a:fld>
            <a:endParaRPr lang="en-GB" altLang="en-US"/>
          </a:p>
        </p:txBody>
      </p:sp>
    </p:spTree>
    <p:extLst>
      <p:ext uri="{BB962C8B-B14F-4D97-AF65-F5344CB8AC3E}">
        <p14:creationId xmlns:p14="http://schemas.microsoft.com/office/powerpoint/2010/main" val="631594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fontAlgn="auto" hangingPunct="1">
              <a:spcAft>
                <a:spcPts val="0"/>
              </a:spcAft>
              <a:defRPr/>
            </a:pPr>
            <a:r>
              <a:rPr lang="en-GB" altLang="en-US" dirty="0">
                <a:solidFill>
                  <a:schemeClr val="tx1">
                    <a:lumMod val="75000"/>
                    <a:lumOff val="25000"/>
                  </a:schemeClr>
                </a:solidFill>
                <a:latin typeface="Times New Roman" panose="02020603050405020304" pitchFamily="18" charset="0"/>
                <a:cs typeface="Times New Roman" panose="02020603050405020304" pitchFamily="18" charset="0"/>
              </a:rPr>
              <a:t>Nielson’s Heuristics</a:t>
            </a:r>
          </a:p>
        </p:txBody>
      </p:sp>
      <p:sp>
        <p:nvSpPr>
          <p:cNvPr id="66563" name="Rectangle 3"/>
          <p:cNvSpPr>
            <a:spLocks noGrp="1" noChangeArrowheads="1"/>
          </p:cNvSpPr>
          <p:nvPr>
            <p:ph idx="1"/>
          </p:nvPr>
        </p:nvSpPr>
        <p:spPr/>
        <p:txBody>
          <a:bodyPr/>
          <a:lstStyle/>
          <a:p>
            <a:pPr eaLnBrk="1" hangingPunct="1"/>
            <a:r>
              <a:rPr lang="en-US" altLang="en-US" sz="2600" dirty="0">
                <a:latin typeface="Times New Roman" panose="02020603050405020304" pitchFamily="18" charset="0"/>
                <a:cs typeface="Times New Roman" panose="02020603050405020304" pitchFamily="18" charset="0"/>
              </a:rPr>
              <a:t>Avoid common design pitfalls by following principles of good design</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Nielsen proposes 10 heuristics, others propose more or less.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When you are doing </a:t>
            </a:r>
            <a:r>
              <a:rPr lang="en-US" altLang="en-US" sz="2600" dirty="0">
                <a:solidFill>
                  <a:srgbClr val="00B050"/>
                </a:solidFill>
                <a:latin typeface="Times New Roman" panose="02020603050405020304" pitchFamily="18" charset="0"/>
                <a:cs typeface="Times New Roman" panose="02020603050405020304" pitchFamily="18" charset="0"/>
              </a:rPr>
              <a:t>a usability evaluation for a software, you can inspect an interface for usability problems with these principles</a:t>
            </a:r>
          </a:p>
          <a:p>
            <a:pPr eaLnBrk="1" hangingPunct="1"/>
            <a:endParaRPr lang="en-US" altLang="en-US" sz="2600" dirty="0">
              <a:latin typeface="Times New Roman" panose="02020603050405020304" pitchFamily="18" charset="0"/>
              <a:cs typeface="Times New Roman" panose="02020603050405020304" pitchFamily="18" charset="0"/>
            </a:endParaRPr>
          </a:p>
          <a:p>
            <a:pPr lvl="4" eaLnBrk="1" hangingPunct="1"/>
            <a:endParaRPr lang="en-GB" alt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1096963" y="287338"/>
            <a:ext cx="10058400" cy="1449387"/>
          </a:xfrm>
        </p:spPr>
        <p:txBody>
          <a:bodyPr/>
          <a:lstStyle/>
          <a:p>
            <a:pPr algn="ctr" eaLnBrk="1" fontAlgn="auto" hangingPunct="1">
              <a:spcAft>
                <a:spcPts val="0"/>
              </a:spcAft>
              <a:defRPr/>
            </a:pPr>
            <a:r>
              <a:rPr lang="en-US" altLang="en-US" sz="1800"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(from Jakob Nielsen)</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Heuristic 1: Visibility of System status</a:t>
            </a:r>
          </a:p>
        </p:txBody>
      </p:sp>
      <p:sp>
        <p:nvSpPr>
          <p:cNvPr id="69635" name="Content Placeholder 2"/>
          <p:cNvSpPr>
            <a:spLocks noGrp="1" noChangeArrowheads="1"/>
          </p:cNvSpPr>
          <p:nvPr>
            <p:ph sz="half" idx="1"/>
          </p:nvPr>
        </p:nvSpPr>
        <p:spPr>
          <a:xfrm>
            <a:off x="1096963" y="1846263"/>
            <a:ext cx="4938712" cy="4022725"/>
          </a:xfrm>
        </p:spPr>
        <p:txBody>
          <a:bodyPr/>
          <a:lstStyle/>
          <a:p>
            <a:pPr marL="0" indent="0" eaLnBrk="1" hangingPunct="1">
              <a:buNone/>
            </a:pPr>
            <a:endParaRPr lang="en-US" altLang="en-US" sz="2600" dirty="0">
              <a:latin typeface="Times New Roman" panose="02020603050405020304" pitchFamily="18" charset="0"/>
              <a:cs typeface="Times New Roman" panose="02020603050405020304" pitchFamily="18" charset="0"/>
            </a:endParaRPr>
          </a:p>
          <a:p>
            <a:pPr marL="533400" indent="-533400" eaLnBrk="1" hangingPunct="1">
              <a:buFontTx/>
              <a:buAutoNum type="arabicPeriod"/>
            </a:pPr>
            <a:r>
              <a:rPr lang="en-US" altLang="en-US" sz="2600" dirty="0">
                <a:latin typeface="Times New Roman" panose="02020603050405020304" pitchFamily="18" charset="0"/>
                <a:cs typeface="Times New Roman" panose="02020603050405020304" pitchFamily="18" charset="0"/>
              </a:rPr>
              <a:t>Visibility of system status </a:t>
            </a:r>
          </a:p>
          <a:p>
            <a:pPr marL="914400" lvl="1" indent="-457200" eaLnBrk="1" hangingPunct="1"/>
            <a:r>
              <a:rPr lang="en-US" altLang="en-US" sz="2600" dirty="0">
                <a:latin typeface="Times New Roman" panose="02020603050405020304" pitchFamily="18" charset="0"/>
                <a:cs typeface="Times New Roman" panose="02020603050405020304" pitchFamily="18" charset="0"/>
              </a:rPr>
              <a:t>The system should always keep users informed about what is going on, through appropriate feedback within reasonable time. </a:t>
            </a:r>
          </a:p>
          <a:p>
            <a:pPr marL="914400" lvl="1" indent="-457200" eaLnBrk="1" hangingPunct="1"/>
            <a:endParaRPr lang="en-US" altLang="en-US" sz="2600" dirty="0">
              <a:latin typeface="Times New Roman" panose="02020603050405020304" pitchFamily="18" charset="0"/>
              <a:cs typeface="Times New Roman" panose="02020603050405020304" pitchFamily="18" charset="0"/>
            </a:endParaRPr>
          </a:p>
          <a:p>
            <a:pPr marL="914400" lvl="1" indent="-457200" eaLnBrk="1" hangingPunct="1"/>
            <a:endParaRPr lang="en-US" altLang="en-US" sz="2600" dirty="0">
              <a:latin typeface="Times New Roman" panose="02020603050405020304" pitchFamily="18" charset="0"/>
              <a:cs typeface="Times New Roman" panose="02020603050405020304" pitchFamily="18" charset="0"/>
            </a:endParaRPr>
          </a:p>
        </p:txBody>
      </p:sp>
      <p:pic>
        <p:nvPicPr>
          <p:cNvPr id="69636" name="Content Placeholder 6"/>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808663" y="1690688"/>
            <a:ext cx="6191250" cy="4114800"/>
          </a:xfrm>
        </p:spPr>
      </p:pic>
      <p:sp>
        <p:nvSpPr>
          <p:cNvPr id="6963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E0FA4AB-ED8B-4C7F-B2FF-004BBA09FD71}" type="slidenum">
              <a:rPr lang="en-GB" altLang="en-US">
                <a:solidFill>
                  <a:srgbClr val="FFC551"/>
                </a:solidFill>
                <a:latin typeface="Century Gothic" panose="020B0502020202020204" pitchFamily="34" charset="0"/>
                <a:cs typeface="Arial" panose="020B0604020202020204" pitchFamily="34" charset="0"/>
              </a:rPr>
              <a:pPr/>
              <a:t>19</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a:xfrm>
            <a:off x="1096963" y="287338"/>
            <a:ext cx="10058400" cy="1449387"/>
          </a:xfrm>
        </p:spPr>
        <p:txBody>
          <a:bodyPr/>
          <a:lstStyle/>
          <a:p>
            <a:pPr eaLnBrk="1" fontAlgn="auto" hangingPunct="1">
              <a:spcAft>
                <a:spcPts val="0"/>
              </a:spcAft>
              <a:defRPr/>
            </a:pPr>
            <a:r>
              <a:rPr lang="en-US" altLang="en-US" sz="1800"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(from Jakob Nielsen):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Heuristic 2: </a:t>
            </a:r>
            <a:r>
              <a:rPr lang="en-US" altLang="en-US" sz="2800" dirty="0">
                <a:solidFill>
                  <a:schemeClr val="tx1">
                    <a:lumMod val="75000"/>
                    <a:lumOff val="25000"/>
                  </a:schemeClr>
                </a:solidFill>
                <a:latin typeface="Times New Roman" panose="02020603050405020304" pitchFamily="18" charset="0"/>
                <a:cs typeface="Times New Roman" panose="02020603050405020304" pitchFamily="18" charset="0"/>
              </a:rPr>
              <a:t>Match between system and the real world </a:t>
            </a:r>
          </a:p>
        </p:txBody>
      </p:sp>
      <p:sp>
        <p:nvSpPr>
          <p:cNvPr id="70659" name="Content Placeholder 2"/>
          <p:cNvSpPr>
            <a:spLocks noGrp="1" noChangeArrowheads="1"/>
          </p:cNvSpPr>
          <p:nvPr>
            <p:ph sz="half" idx="1"/>
          </p:nvPr>
        </p:nvSpPr>
        <p:spPr>
          <a:xfrm>
            <a:off x="147638" y="1825625"/>
            <a:ext cx="5872162" cy="4351338"/>
          </a:xfrm>
        </p:spPr>
        <p:txBody>
          <a:bodyPr/>
          <a:lstStyle/>
          <a:p>
            <a:pPr marL="914400" lvl="1" indent="-457200" eaLnBrk="1" hangingPunct="1"/>
            <a:endParaRPr lang="en-US" altLang="en-US" sz="2600" dirty="0">
              <a:latin typeface="Times New Roman" panose="02020603050405020304" pitchFamily="18" charset="0"/>
              <a:cs typeface="Times New Roman" panose="02020603050405020304" pitchFamily="18" charset="0"/>
            </a:endParaRPr>
          </a:p>
          <a:p>
            <a:pPr marL="914400" lvl="1" indent="-457200" eaLnBrk="1" hangingPunct="1"/>
            <a:endParaRPr lang="en-US" altLang="en-US" sz="2600" dirty="0">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pPr>
            <a:r>
              <a:rPr lang="en-US" altLang="en-US" sz="2600" dirty="0">
                <a:latin typeface="Times New Roman" panose="02020603050405020304" pitchFamily="18" charset="0"/>
                <a:cs typeface="Times New Roman" panose="02020603050405020304" pitchFamily="18" charset="0"/>
              </a:rPr>
              <a:t>    2. Match between system and the real world </a:t>
            </a:r>
          </a:p>
          <a:p>
            <a:pPr marL="914400" lvl="1" indent="-457200" eaLnBrk="1" hangingPunct="1"/>
            <a:r>
              <a:rPr lang="en-US" altLang="en-US" sz="2600" dirty="0">
                <a:latin typeface="Times New Roman" panose="02020603050405020304" pitchFamily="18" charset="0"/>
                <a:cs typeface="Times New Roman" panose="02020603050405020304" pitchFamily="18" charset="0"/>
              </a:rPr>
              <a:t>The system should speak the users' language, with words, phrases and concepts familiar to the user, rather than system-oriented terms. Follow real-world conventions, making information appear in a natural and logical order. </a:t>
            </a:r>
          </a:p>
          <a:p>
            <a:pPr marL="914400" lvl="1" indent="-457200" eaLnBrk="1" hangingPunct="1"/>
            <a:endParaRPr lang="en-US" altLang="en-US" sz="2600" dirty="0">
              <a:latin typeface="Times New Roman" panose="02020603050405020304" pitchFamily="18" charset="0"/>
              <a:cs typeface="Times New Roman" panose="02020603050405020304" pitchFamily="18" charset="0"/>
            </a:endParaRPr>
          </a:p>
        </p:txBody>
      </p:sp>
      <p:sp>
        <p:nvSpPr>
          <p:cNvPr id="70660" name="Content Placeholder 5"/>
          <p:cNvSpPr>
            <a:spLocks noGrp="1" noChangeArrowheads="1"/>
          </p:cNvSpPr>
          <p:nvPr>
            <p:ph sz="half" idx="2"/>
          </p:nvPr>
        </p:nvSpPr>
        <p:spPr>
          <a:xfrm>
            <a:off x="6019800" y="1825625"/>
            <a:ext cx="5908675" cy="4843463"/>
          </a:xfrm>
        </p:spPr>
        <p:txBody>
          <a:bodyPr/>
          <a:lstStyle/>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a:solidFill>
                  <a:srgbClr val="C00000"/>
                </a:solidFill>
                <a:latin typeface="Times New Roman" panose="02020603050405020304" pitchFamily="18" charset="0"/>
                <a:cs typeface="Times New Roman" panose="02020603050405020304" pitchFamily="18" charset="0"/>
              </a:rPr>
              <a:t>error messages like these are not really very helpful for the end users (even for the developers at times).</a:t>
            </a:r>
          </a:p>
          <a:p>
            <a:pPr eaLnBrk="1" hangingPunct="1"/>
            <a:endParaRPr lang="en-US" altLang="en-US" dirty="0">
              <a:latin typeface="Times New Roman" panose="02020603050405020304" pitchFamily="18" charset="0"/>
              <a:cs typeface="Times New Roman" panose="02020603050405020304" pitchFamily="18" charset="0"/>
            </a:endParaRPr>
          </a:p>
        </p:txBody>
      </p:sp>
      <p:sp>
        <p:nvSpPr>
          <p:cNvPr id="70661"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D8B0BF9-F42B-4C86-A4C6-2F513883F3C0}" type="slidenum">
              <a:rPr lang="en-GB" altLang="en-US">
                <a:solidFill>
                  <a:srgbClr val="FFC551"/>
                </a:solidFill>
                <a:latin typeface="Century Gothic" panose="020B0502020202020204" pitchFamily="34" charset="0"/>
                <a:cs typeface="Arial" panose="020B0604020202020204" pitchFamily="34" charset="0"/>
              </a:rPr>
              <a:pPr/>
              <a:t>20</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70662" name="Picture 4"/>
          <p:cNvPicPr>
            <a:picLocks noChangeAspect="1"/>
          </p:cNvPicPr>
          <p:nvPr/>
        </p:nvPicPr>
        <p:blipFill>
          <a:blip r:embed="rId2">
            <a:extLst>
              <a:ext uri="{28A0092B-C50C-407E-A947-70E740481C1C}">
                <a14:useLocalDpi xmlns:a14="http://schemas.microsoft.com/office/drawing/2010/main" val="0"/>
              </a:ext>
            </a:extLst>
          </a:blip>
          <a:srcRect l="41145" t="52231" r="29523" b="13579"/>
          <a:stretch>
            <a:fillRect/>
          </a:stretch>
        </p:blipFill>
        <p:spPr bwMode="auto">
          <a:xfrm>
            <a:off x="6527800" y="1557338"/>
            <a:ext cx="4954588"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a:xfrm>
            <a:off x="1096963" y="287338"/>
            <a:ext cx="10058400" cy="1449387"/>
          </a:xfrm>
        </p:spPr>
        <p:txBody>
          <a:bodyPr/>
          <a:lstStyle/>
          <a:p>
            <a:pPr eaLnBrk="1" fontAlgn="auto" hangingPunct="1">
              <a:spcAft>
                <a:spcPts val="0"/>
              </a:spcAft>
              <a:defRPr/>
            </a:pPr>
            <a: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(from Jakob Nielsen):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Heuristic 3: </a:t>
            </a:r>
            <a:r>
              <a:rPr lang="en-US" altLang="en-US" sz="2800" dirty="0">
                <a:solidFill>
                  <a:schemeClr val="tx1">
                    <a:lumMod val="75000"/>
                    <a:lumOff val="25000"/>
                  </a:schemeClr>
                </a:solidFill>
                <a:latin typeface="Times New Roman" panose="02020603050405020304" pitchFamily="18" charset="0"/>
                <a:cs typeface="Times New Roman" panose="02020603050405020304" pitchFamily="18" charset="0"/>
              </a:rPr>
              <a:t>User control and freedom</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sz="half" idx="1"/>
          </p:nvPr>
        </p:nvSpPr>
        <p:spPr>
          <a:xfrm>
            <a:off x="119336" y="2781300"/>
            <a:ext cx="5900464" cy="3395663"/>
          </a:xfrm>
        </p:spPr>
        <p:txBody>
          <a:bodyPr rtlCol="0">
            <a:normAutofit/>
          </a:bodyPr>
          <a:lstStyle/>
          <a:p>
            <a:pPr marL="0" indent="0" eaLnBrk="1" fontAlgn="auto" hangingPunct="1">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3. User control and freedom </a:t>
            </a:r>
          </a:p>
          <a:p>
            <a:pPr marL="914400" lvl="1" indent="-45720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Users often choose system functions by mistake and will need a clearly marked "emergency exit" to leave the unwanted state without having to go through an extended dialogue.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Support undo and redo.</a:t>
            </a:r>
          </a:p>
          <a:p>
            <a:pPr marL="914400" lvl="1" indent="-45720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0" lvl="1" indent="-45720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endParaRPr>
          </a:p>
        </p:txBody>
      </p:sp>
      <p:pic>
        <p:nvPicPr>
          <p:cNvPr id="71684" name="Content Placeholder 6"/>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019800" y="1628776"/>
            <a:ext cx="5905500" cy="4548187"/>
          </a:xfrm>
        </p:spPr>
      </p:pic>
      <p:sp>
        <p:nvSpPr>
          <p:cNvPr id="7168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7D2E478-0192-4F62-B327-C363067E6DDD}" type="slidenum">
              <a:rPr lang="en-GB" altLang="en-US">
                <a:solidFill>
                  <a:srgbClr val="FFC551"/>
                </a:solidFill>
                <a:latin typeface="Century Gothic" panose="020B0502020202020204" pitchFamily="34" charset="0"/>
                <a:cs typeface="Arial" panose="020B0604020202020204" pitchFamily="34" charset="0"/>
              </a:rPr>
              <a:pPr/>
              <a:t>21</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a:xfrm>
            <a:off x="1096963" y="287338"/>
            <a:ext cx="10058400" cy="1449387"/>
          </a:xfrm>
        </p:spPr>
        <p:txBody>
          <a:bodyPr/>
          <a:lstStyle/>
          <a:p>
            <a:pPr eaLnBrk="1" fontAlgn="auto" hangingPunct="1">
              <a:spcAft>
                <a:spcPts val="0"/>
              </a:spcAft>
              <a:defRPr/>
            </a:pPr>
            <a: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(from Jakob Nielsen):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Heuristic 4: </a:t>
            </a: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Consistency and standards </a:t>
            </a: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352425" y="2708275"/>
            <a:ext cx="5181600" cy="3397250"/>
          </a:xfrm>
        </p:spPr>
        <p:txBody>
          <a:bodyPr rtlCol="0">
            <a:normAutofit/>
          </a:bodyPr>
          <a:lstStyle/>
          <a:p>
            <a:pPr marL="0" indent="0" eaLnBrk="1" fontAlgn="auto" hangingPunct="1">
              <a:buFont typeface="Arial" panose="020B0604020202020204" pitchFamily="34" charset="0"/>
              <a:buNone/>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4. Consistency and standards </a:t>
            </a:r>
          </a:p>
          <a:p>
            <a:pPr marL="384048" lvl="1" indent="-18288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Users should not have to wonder whether words, situations or actions mean the same thing in different contexts. Follow platform conventions and accepted standards.</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0" lvl="1" indent="-45720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endParaRPr>
          </a:p>
        </p:txBody>
      </p:sp>
      <p:pic>
        <p:nvPicPr>
          <p:cNvPr id="72708" name="Content Placeholder 5"/>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35020" t="36897" r="20869" b="25153"/>
          <a:stretch>
            <a:fillRect/>
          </a:stretch>
        </p:blipFill>
        <p:spPr>
          <a:xfrm>
            <a:off x="5534025" y="1690688"/>
            <a:ext cx="6657975" cy="4414837"/>
          </a:xfrm>
        </p:spPr>
      </p:pic>
      <p:sp>
        <p:nvSpPr>
          <p:cNvPr id="7270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243E9CB-C949-415A-9DA7-9DE8831FA30D}" type="slidenum">
              <a:rPr lang="en-GB" altLang="en-US">
                <a:solidFill>
                  <a:srgbClr val="FFC551"/>
                </a:solidFill>
                <a:latin typeface="Century Gothic" panose="020B0502020202020204" pitchFamily="34" charset="0"/>
                <a:cs typeface="Arial" panose="020B0604020202020204" pitchFamily="34" charset="0"/>
              </a:rPr>
              <a:pPr/>
              <a:t>22</a:t>
            </a:fld>
            <a:endParaRPr lang="en-GB" altLang="en-US">
              <a:solidFill>
                <a:srgbClr val="FFC551"/>
              </a:solidFill>
              <a:latin typeface="Century Gothic" panose="020B0502020202020204" pitchFamily="34" charset="0"/>
              <a:cs typeface="Arial" panose="020B0604020202020204" pitchFamily="34" charset="0"/>
            </a:endParaRPr>
          </a:p>
        </p:txBody>
      </p:sp>
      <p:sp>
        <p:nvSpPr>
          <p:cNvPr id="72710" name="TextBox 7"/>
          <p:cNvSpPr txBox="1">
            <a:spLocks noChangeArrowheads="1"/>
          </p:cNvSpPr>
          <p:nvPr/>
        </p:nvSpPr>
        <p:spPr bwMode="auto">
          <a:xfrm>
            <a:off x="5664200" y="5537200"/>
            <a:ext cx="583247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dirty="0">
                <a:solidFill>
                  <a:srgbClr val="FF0000"/>
                </a:solidFill>
                <a:latin typeface="Times New Roman" panose="02020603050405020304" pitchFamily="18" charset="0"/>
                <a:cs typeface="Times New Roman" panose="02020603050405020304" pitchFamily="18" charset="0"/>
              </a:rPr>
              <a:t>Identify the inconsistencies in these two pages most likely for a website. One uses: logout, save, cancel. Another uses: sign off, save, abort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a:xfrm>
            <a:off x="1096963" y="287338"/>
            <a:ext cx="10058400" cy="1449387"/>
          </a:xfrm>
        </p:spPr>
        <p:txBody>
          <a:bodyPr/>
          <a:lstStyle/>
          <a:p>
            <a:pPr eaLnBrk="1" fontAlgn="auto" hangingPunct="1">
              <a:spcAft>
                <a:spcPts val="0"/>
              </a:spcAft>
              <a:defRPr/>
            </a:pPr>
            <a: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(from Jakob Nielsen):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Heuristic 5: </a:t>
            </a: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Error prevention </a:t>
            </a:r>
          </a:p>
        </p:txBody>
      </p:sp>
      <p:sp>
        <p:nvSpPr>
          <p:cNvPr id="3" name="Content Placeholder 2"/>
          <p:cNvSpPr>
            <a:spLocks noGrp="1"/>
          </p:cNvSpPr>
          <p:nvPr>
            <p:ph sz="half" idx="1"/>
          </p:nvPr>
        </p:nvSpPr>
        <p:spPr>
          <a:xfrm>
            <a:off x="838200" y="2781300"/>
            <a:ext cx="5181600" cy="3395663"/>
          </a:xfrm>
        </p:spPr>
        <p:txBody>
          <a:bodyPr rtlCol="0">
            <a:normAutofit/>
          </a:bodyPr>
          <a:lstStyle/>
          <a:p>
            <a:pPr marL="0"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5.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Error prevention </a:t>
            </a:r>
          </a:p>
          <a:p>
            <a:pPr marL="384048" lvl="1" indent="-18288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Make it difficult to make errors. Even better than good error messages is a careful design that prevents a problem from occurring in the first place.</a:t>
            </a:r>
          </a:p>
          <a:p>
            <a:pPr marL="457200" lvl="1" indent="0" eaLnBrk="1" fontAlgn="auto" hangingPunct="1">
              <a:buFont typeface="Arial" panose="020B0604020202020204" pitchFamily="34" charset="0"/>
              <a:buNone/>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0" lvl="1" indent="-45720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endParaRPr>
          </a:p>
        </p:txBody>
      </p:sp>
      <p:pic>
        <p:nvPicPr>
          <p:cNvPr id="73732" name="Content Placeholder 9"/>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38831" t="42714" r="23648" b="17738"/>
          <a:stretch>
            <a:fillRect/>
          </a:stretch>
        </p:blipFill>
        <p:spPr>
          <a:xfrm>
            <a:off x="6240463" y="1960563"/>
            <a:ext cx="5400675" cy="3844925"/>
          </a:xfrm>
        </p:spPr>
      </p:pic>
      <p:sp>
        <p:nvSpPr>
          <p:cNvPr id="7373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6B5F45B-C1B6-4B49-A8A9-A4DFFB240107}" type="slidenum">
              <a:rPr lang="en-GB" altLang="en-US">
                <a:solidFill>
                  <a:srgbClr val="FFC551"/>
                </a:solidFill>
                <a:latin typeface="Century Gothic" panose="020B0502020202020204" pitchFamily="34" charset="0"/>
                <a:cs typeface="Arial" panose="020B0604020202020204" pitchFamily="34" charset="0"/>
              </a:rPr>
              <a:pPr/>
              <a:t>23</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334963" y="788988"/>
            <a:ext cx="11953875" cy="1036637"/>
          </a:xfrm>
        </p:spPr>
        <p:txBody>
          <a:bodyPr>
            <a:normAutofit fontScale="90000"/>
          </a:bodyPr>
          <a:lstStyle/>
          <a:p>
            <a:pP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a:t>
            </a: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(from Jakob Nielsen): Heuristic 6 </a:t>
            </a: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Recognition rather than recall </a:t>
            </a:r>
            <a:b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74755" name="Content Placeholder 2"/>
          <p:cNvSpPr>
            <a:spLocks noGrp="1" noChangeArrowheads="1"/>
          </p:cNvSpPr>
          <p:nvPr>
            <p:ph sz="half" idx="1"/>
          </p:nvPr>
        </p:nvSpPr>
        <p:spPr>
          <a:xfrm>
            <a:off x="838200" y="1825625"/>
            <a:ext cx="5181600" cy="2682875"/>
          </a:xfrm>
        </p:spPr>
        <p:txBody>
          <a:bodyPr/>
          <a:lstStyle/>
          <a:p>
            <a:pPr marL="0" indent="0" eaLnBrk="1" hangingPunct="1">
              <a:buFont typeface="Arial" panose="020B0604020202020204" pitchFamily="34" charset="0"/>
              <a:buNone/>
            </a:pPr>
            <a:r>
              <a:rPr lang="en-US" altLang="en-US" sz="2600" dirty="0">
                <a:latin typeface="Times New Roman" panose="02020603050405020304" pitchFamily="18" charset="0"/>
                <a:cs typeface="Times New Roman" panose="02020603050405020304" pitchFamily="18" charset="0"/>
              </a:rPr>
              <a:t>6. </a:t>
            </a:r>
            <a:r>
              <a:rPr lang="en-US" altLang="en-US" sz="2600" b="1" dirty="0">
                <a:latin typeface="Times New Roman" panose="02020603050405020304" pitchFamily="18" charset="0"/>
                <a:cs typeface="Times New Roman" panose="02020603050405020304" pitchFamily="18" charset="0"/>
              </a:rPr>
              <a:t>Recognition rather than recall </a:t>
            </a:r>
          </a:p>
          <a:p>
            <a:pPr lvl="1" eaLnBrk="1" hangingPunct="1"/>
            <a:r>
              <a:rPr lang="en-US" altLang="en-US" sz="2600" dirty="0">
                <a:latin typeface="Times New Roman" panose="02020603050405020304" pitchFamily="18" charset="0"/>
                <a:cs typeface="Times New Roman" panose="02020603050405020304" pitchFamily="18" charset="0"/>
              </a:rPr>
              <a:t>Make objects, actions and options visible. The user should not have to remember information from one part of the dialog to another. Instructions for use of the system should be visible or easily retrievable whenever appropriate.</a:t>
            </a:r>
          </a:p>
        </p:txBody>
      </p:sp>
      <p:pic>
        <p:nvPicPr>
          <p:cNvPr id="74756" name="Content Placeholder 6"/>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9374" t="13052" r="19479" b="25153"/>
          <a:stretch>
            <a:fillRect/>
          </a:stretch>
        </p:blipFill>
        <p:spPr>
          <a:xfrm>
            <a:off x="6305360" y="980728"/>
            <a:ext cx="6480175" cy="3311525"/>
          </a:xfrm>
        </p:spPr>
      </p:pic>
      <p:sp>
        <p:nvSpPr>
          <p:cNvPr id="7475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AB74638-CB3F-465D-B969-9B32AF50D0CA}" type="slidenum">
              <a:rPr lang="en-GB" altLang="en-US">
                <a:solidFill>
                  <a:srgbClr val="FFC551"/>
                </a:solidFill>
                <a:latin typeface="Century Gothic" panose="020B0502020202020204" pitchFamily="34" charset="0"/>
                <a:cs typeface="Arial" panose="020B0604020202020204" pitchFamily="34" charset="0"/>
              </a:rPr>
              <a:pPr/>
              <a:t>24</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74758" name="Picture 7"/>
          <p:cNvPicPr>
            <a:picLocks noChangeAspect="1"/>
          </p:cNvPicPr>
          <p:nvPr/>
        </p:nvPicPr>
        <p:blipFill>
          <a:blip r:embed="rId3">
            <a:extLst>
              <a:ext uri="{28A0092B-C50C-407E-A947-70E740481C1C}">
                <a14:useLocalDpi xmlns:a14="http://schemas.microsoft.com/office/drawing/2010/main" val="0"/>
              </a:ext>
            </a:extLst>
          </a:blip>
          <a:srcRect l="23988" t="43109" r="23988" b="11610"/>
          <a:stretch>
            <a:fillRect/>
          </a:stretch>
        </p:blipFill>
        <p:spPr bwMode="auto">
          <a:xfrm>
            <a:off x="6600055" y="4221088"/>
            <a:ext cx="5383601" cy="2087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1096963" y="287338"/>
            <a:ext cx="10058400" cy="1449387"/>
          </a:xfrm>
        </p:spPr>
        <p:txBody>
          <a:bodyPr>
            <a:normAutofit/>
          </a:bodyPr>
          <a:lstStyle/>
          <a:p>
            <a:pPr eaLnBrk="1" fontAlgn="auto" hangingPunct="1">
              <a:spcAft>
                <a:spcPts val="0"/>
              </a:spcAft>
              <a:defRPr/>
            </a:pPr>
            <a: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(from Jakob Nielsen):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Heuristic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7. Flexibility and efficiency of use</a:t>
            </a:r>
            <a:br>
              <a:rPr lang="en-US" altLang="en-US" sz="2000" b="1" dirty="0">
                <a:solidFill>
                  <a:schemeClr val="tx1">
                    <a:lumMod val="75000"/>
                    <a:lumOff val="25000"/>
                  </a:schemeClr>
                </a:solidFill>
                <a:latin typeface="Times New Roman" panose="02020603050405020304" pitchFamily="18" charset="0"/>
                <a:cs typeface="Times New Roman" panose="02020603050405020304" pitchFamily="18" charset="0"/>
              </a:rPr>
            </a:br>
            <a:b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75779" name="Content Placeholder 2"/>
          <p:cNvSpPr>
            <a:spLocks noGrp="1" noChangeArrowheads="1"/>
          </p:cNvSpPr>
          <p:nvPr>
            <p:ph sz="half" idx="1"/>
          </p:nvPr>
        </p:nvSpPr>
        <p:spPr>
          <a:xfrm>
            <a:off x="407988" y="1846263"/>
            <a:ext cx="5627687" cy="4022725"/>
          </a:xfrm>
        </p:spPr>
        <p:txBody>
          <a:bodyPr/>
          <a:lstStyle/>
          <a:p>
            <a:pPr marL="0" indent="0" eaLnBrk="1" hangingPunct="1">
              <a:buFont typeface="Arial" panose="020B0604020202020204" pitchFamily="34" charset="0"/>
              <a:buNone/>
            </a:pPr>
            <a:r>
              <a:rPr lang="en-US" altLang="en-US" sz="2600" b="1" dirty="0">
                <a:latin typeface="Times New Roman" panose="02020603050405020304" pitchFamily="18" charset="0"/>
                <a:cs typeface="Times New Roman" panose="02020603050405020304" pitchFamily="18" charset="0"/>
              </a:rPr>
              <a:t>7. Flexibility and efficiency of use</a:t>
            </a:r>
          </a:p>
          <a:p>
            <a:pPr lvl="1" eaLnBrk="1" hangingPunct="1"/>
            <a:r>
              <a:rPr lang="en-US" altLang="en-US" sz="2600" dirty="0">
                <a:latin typeface="Times New Roman" panose="02020603050405020304" pitchFamily="18" charset="0"/>
                <a:cs typeface="Times New Roman" panose="02020603050405020304" pitchFamily="18" charset="0"/>
              </a:rPr>
              <a:t>Allow users to tailor frequent actions.</a:t>
            </a:r>
          </a:p>
          <a:p>
            <a:pPr lvl="1" eaLnBrk="1" hangingPunct="1"/>
            <a:endParaRPr lang="en-US" altLang="en-US" sz="2600" dirty="0">
              <a:latin typeface="Times New Roman" panose="02020603050405020304" pitchFamily="18" charset="0"/>
              <a:cs typeface="Times New Roman" panose="02020603050405020304" pitchFamily="18" charset="0"/>
            </a:endParaRPr>
          </a:p>
          <a:p>
            <a:pPr lvl="1" eaLnBrk="1" hangingPunct="1"/>
            <a:endParaRPr lang="en-US" altLang="en-US" sz="2600" dirty="0">
              <a:latin typeface="Times New Roman" panose="02020603050405020304" pitchFamily="18" charset="0"/>
              <a:cs typeface="Times New Roman" panose="02020603050405020304" pitchFamily="18" charset="0"/>
            </a:endParaRPr>
          </a:p>
          <a:p>
            <a:pPr lvl="1" eaLnBrk="1" hangingPunct="1"/>
            <a:r>
              <a:rPr lang="en-US" altLang="en-US" sz="2600" dirty="0">
                <a:latin typeface="Times New Roman" panose="02020603050405020304" pitchFamily="18" charset="0"/>
                <a:cs typeface="Times New Roman" panose="02020603050405020304" pitchFamily="18" charset="0"/>
              </a:rPr>
              <a:t> Accelerators – unseen by the novice user – may often speed up the interaction for the expert user to such an extent that the system can cater to both inexperienced and experienced users.</a:t>
            </a:r>
          </a:p>
          <a:p>
            <a:pPr marL="0" indent="0" eaLnBrk="1" hangingPunct="1">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p:txBody>
      </p:sp>
      <p:pic>
        <p:nvPicPr>
          <p:cNvPr id="75780" name="Content Placeholder 5"/>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8784" t="14314" r="21242" b="20981"/>
          <a:stretch>
            <a:fillRect/>
          </a:stretch>
        </p:blipFill>
        <p:spPr>
          <a:xfrm>
            <a:off x="5807968" y="2060574"/>
            <a:ext cx="6192688" cy="3808413"/>
          </a:xfrm>
        </p:spPr>
      </p:pic>
      <p:sp>
        <p:nvSpPr>
          <p:cNvPr id="75781"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BC846B0-D851-4696-957F-F679AEF8177C}" type="slidenum">
              <a:rPr lang="en-GB" altLang="en-US">
                <a:solidFill>
                  <a:srgbClr val="FFC551"/>
                </a:solidFill>
                <a:latin typeface="Century Gothic" panose="020B0502020202020204" pitchFamily="34" charset="0"/>
                <a:cs typeface="Arial" panose="020B0604020202020204" pitchFamily="34" charset="0"/>
              </a:rPr>
              <a:pPr/>
              <a:t>25</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a:xfrm>
            <a:off x="1096963" y="287338"/>
            <a:ext cx="10058400" cy="1449387"/>
          </a:xfrm>
        </p:spPr>
        <p:txBody>
          <a:bodyPr>
            <a:normAutofit fontScale="90000"/>
          </a:bodyPr>
          <a:lstStyle/>
          <a:p>
            <a:pPr eaLnBrk="1" fontAlgn="auto" hangingPunct="1">
              <a:spcAft>
                <a:spcPts val="0"/>
              </a:spcAft>
              <a:defRPr/>
            </a:pPr>
            <a:b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br>
            <a:b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br>
            <a: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(from Jakob Nielsen):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Heuristic </a:t>
            </a:r>
            <a:r>
              <a:rPr lang="en-US"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t>8. Aesthetic and minimalist design </a:t>
            </a:r>
            <a:br>
              <a:rPr lang="en-US"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br>
            <a:b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76803" name="Content Placeholder 2"/>
          <p:cNvSpPr>
            <a:spLocks noGrp="1" noChangeArrowheads="1"/>
          </p:cNvSpPr>
          <p:nvPr>
            <p:ph sz="half" idx="1"/>
          </p:nvPr>
        </p:nvSpPr>
        <p:spPr>
          <a:xfrm>
            <a:off x="191344" y="1846263"/>
            <a:ext cx="5844331" cy="4022725"/>
          </a:xfrm>
        </p:spPr>
        <p:txBody>
          <a:bodyPr/>
          <a:lstStyle/>
          <a:p>
            <a:pPr marL="0" indent="0" eaLnBrk="1" hangingPunct="1">
              <a:buFont typeface="Arial" panose="020B0604020202020204" pitchFamily="34" charset="0"/>
              <a:buNone/>
            </a:pPr>
            <a:r>
              <a:rPr lang="en-US" altLang="en-US" sz="2600" b="1" dirty="0">
                <a:latin typeface="Times New Roman" panose="02020603050405020304" pitchFamily="18" charset="0"/>
                <a:cs typeface="Times New Roman" panose="02020603050405020304" pitchFamily="18" charset="0"/>
              </a:rPr>
              <a:t>8. Aesthetic and minimalist design </a:t>
            </a:r>
          </a:p>
          <a:p>
            <a:pPr lvl="1" eaLnBrk="1" hangingPunct="1"/>
            <a:r>
              <a:rPr lang="en-US" altLang="en-US" sz="2600" dirty="0">
                <a:latin typeface="Times New Roman" panose="02020603050405020304" pitchFamily="18" charset="0"/>
                <a:cs typeface="Times New Roman" panose="02020603050405020304" pitchFamily="18" charset="0"/>
              </a:rPr>
              <a:t>Dialogs should not contain information that is irrelevant or rarely needed. </a:t>
            </a:r>
            <a:r>
              <a:rPr lang="en-US" altLang="en-US" sz="2600" dirty="0">
                <a:solidFill>
                  <a:srgbClr val="FF0000"/>
                </a:solidFill>
                <a:latin typeface="Times New Roman" panose="02020603050405020304" pitchFamily="18" charset="0"/>
                <a:cs typeface="Times New Roman" panose="02020603050405020304" pitchFamily="18" charset="0"/>
              </a:rPr>
              <a:t>Every extra unit of information in a dialog competes with the relevant units of information and diminishes their relative visibility.</a:t>
            </a:r>
          </a:p>
          <a:p>
            <a:pPr marL="0" indent="0" eaLnBrk="1" hangingPunct="1">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p:txBody>
      </p:sp>
      <p:pic>
        <p:nvPicPr>
          <p:cNvPr id="76804" name="Content Placeholder 8"/>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30492" t="20468" r="26428" b="25153"/>
          <a:stretch>
            <a:fillRect/>
          </a:stretch>
        </p:blipFill>
        <p:spPr>
          <a:xfrm>
            <a:off x="5949950" y="1557338"/>
            <a:ext cx="6264275" cy="4445000"/>
          </a:xfrm>
        </p:spPr>
      </p:pic>
      <p:sp>
        <p:nvSpPr>
          <p:cNvPr id="7680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2B0D155-D141-42D3-99E5-8B85BB7F8DC6}" type="slidenum">
              <a:rPr lang="en-GB" altLang="en-US">
                <a:solidFill>
                  <a:srgbClr val="FFC551"/>
                </a:solidFill>
                <a:latin typeface="Century Gothic" panose="020B0502020202020204" pitchFamily="34" charset="0"/>
                <a:cs typeface="Arial" panose="020B0604020202020204" pitchFamily="34" charset="0"/>
              </a:rPr>
              <a:pPr/>
              <a:t>26</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a:xfrm>
            <a:off x="1096963" y="287338"/>
            <a:ext cx="10058400" cy="1449387"/>
          </a:xfrm>
        </p:spPr>
        <p:txBody>
          <a:bodyPr>
            <a:normAutofit fontScale="90000"/>
          </a:bodyPr>
          <a:lstStyle/>
          <a:p>
            <a:pPr eaLnBrk="1" fontAlgn="auto" hangingPunct="1">
              <a:spcAft>
                <a:spcPts val="0"/>
              </a:spcAft>
              <a:defRPr/>
            </a:pPr>
            <a:b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br>
            <a:b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br>
            <a:r>
              <a:rPr lang="en-US" altLang="en-US" sz="1700"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(from Jakob Nielsen):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Heuristic </a:t>
            </a:r>
            <a:r>
              <a:rPr lang="en-US"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t>9. Help users recognize, diagnose and recover from errors</a:t>
            </a:r>
            <a:br>
              <a:rPr lang="en-US"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br>
            <a:b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77827" name="Content Placeholder 2"/>
          <p:cNvSpPr>
            <a:spLocks noGrp="1" noChangeArrowheads="1"/>
          </p:cNvSpPr>
          <p:nvPr>
            <p:ph sz="half" idx="1"/>
          </p:nvPr>
        </p:nvSpPr>
        <p:spPr>
          <a:xfrm>
            <a:off x="838200" y="3141663"/>
            <a:ext cx="5181600" cy="3035300"/>
          </a:xfrm>
        </p:spPr>
        <p:txBody>
          <a:bodyPr/>
          <a:lstStyle/>
          <a:p>
            <a:pPr marL="0" indent="0" eaLnBrk="1" hangingPunct="1">
              <a:buFont typeface="Arial" panose="020B0604020202020204" pitchFamily="34" charset="0"/>
              <a:buNone/>
            </a:pPr>
            <a:r>
              <a:rPr lang="en-US" altLang="en-US" sz="2600" b="1" dirty="0">
                <a:latin typeface="Times New Roman" panose="02020603050405020304" pitchFamily="18" charset="0"/>
                <a:cs typeface="Times New Roman" panose="02020603050405020304" pitchFamily="18" charset="0"/>
              </a:rPr>
              <a:t>9. Help users recognize, diagnose and recover from errors</a:t>
            </a:r>
          </a:p>
          <a:p>
            <a:pPr lvl="1" eaLnBrk="1" hangingPunct="1"/>
            <a:r>
              <a:rPr lang="en-US" altLang="en-US" sz="2600" dirty="0">
                <a:latin typeface="Times New Roman" panose="02020603050405020304" pitchFamily="18" charset="0"/>
                <a:cs typeface="Times New Roman" panose="02020603050405020304" pitchFamily="18" charset="0"/>
              </a:rPr>
              <a:t>Error messages should be expressed in plain language (no codes), precisely indicate the problem, and constructively suggest a solution.</a:t>
            </a:r>
          </a:p>
          <a:p>
            <a:pPr marL="0" indent="0" eaLnBrk="1" hangingPunct="1">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p:txBody>
      </p:sp>
      <p:pic>
        <p:nvPicPr>
          <p:cNvPr id="77828" name="Content Placeholder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54117" t="17996" r="8362" b="29002"/>
          <a:stretch>
            <a:fillRect/>
          </a:stretch>
        </p:blipFill>
        <p:spPr>
          <a:xfrm>
            <a:off x="6154738" y="1495425"/>
            <a:ext cx="5929312" cy="4710113"/>
          </a:xfrm>
        </p:spPr>
      </p:pic>
      <p:sp>
        <p:nvSpPr>
          <p:cNvPr id="7782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866B381-0CC3-47B0-9731-E6EECBBD7A8E}" type="slidenum">
              <a:rPr lang="en-GB" altLang="en-US">
                <a:solidFill>
                  <a:srgbClr val="FFC551"/>
                </a:solidFill>
                <a:latin typeface="Century Gothic" panose="020B0502020202020204" pitchFamily="34" charset="0"/>
                <a:cs typeface="Arial" panose="020B0604020202020204" pitchFamily="34" charset="0"/>
              </a:rPr>
              <a:pPr/>
              <a:t>27</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normAutofit fontScale="90000"/>
          </a:bodyPr>
          <a:lstStyle/>
          <a:p>
            <a:pPr algn="ctr" eaLnBrk="1" fontAlgn="auto" hangingPunct="1">
              <a:spcAft>
                <a:spcPts val="0"/>
              </a:spcAft>
              <a:defRPr/>
            </a:pPr>
            <a:b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br>
            <a:b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b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Ten Usability Heuristics (from Jakob Nielsen): </a:t>
            </a:r>
            <a:r>
              <a:rPr lang="en-US" altLang="en-US" sz="3200" dirty="0">
                <a:solidFill>
                  <a:schemeClr val="tx1">
                    <a:lumMod val="75000"/>
                    <a:lumOff val="25000"/>
                  </a:schemeClr>
                </a:solidFill>
                <a:latin typeface="Times New Roman" panose="02020603050405020304" pitchFamily="18" charset="0"/>
                <a:cs typeface="Times New Roman" panose="02020603050405020304" pitchFamily="18" charset="0"/>
              </a:rPr>
              <a:t>Heuristic </a:t>
            </a: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10. Help and documentation </a:t>
            </a:r>
            <a:b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rtlCol="0">
            <a:normAutofit/>
          </a:bodyPr>
          <a:lstStyle/>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201168" lvl="1" indent="0" eaLnBrk="1" fontAlgn="auto" hangingPunct="1">
              <a:buNone/>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eaLnBrk="1" fontAlgn="auto" hangingPunct="1">
              <a:buFont typeface="Arial" panose="020B0604020202020204" pitchFamily="34" charset="0"/>
              <a:buNone/>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10. Help and documentation </a:t>
            </a:r>
          </a:p>
          <a:p>
            <a:pPr marL="384048" lvl="1" indent="-18288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Few systems can be used with no instructions so it may be necessary to provide help and documentation. Any such information should be easy to search, focused on the user’s task, list concrete steps to be carried out, and not be too large.</a:t>
            </a:r>
          </a:p>
        </p:txBody>
      </p:sp>
      <p:sp>
        <p:nvSpPr>
          <p:cNvPr id="7885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C36ED27-94A7-4B4C-B8C7-0B0D33C984D7}" type="slidenum">
              <a:rPr lang="en-GB" altLang="en-US">
                <a:solidFill>
                  <a:srgbClr val="FFC551"/>
                </a:solidFill>
                <a:latin typeface="Century Gothic" panose="020B0502020202020204" pitchFamily="34" charset="0"/>
                <a:cs typeface="Arial" panose="020B0604020202020204" pitchFamily="34" charset="0"/>
              </a:rPr>
              <a:pPr/>
              <a:t>28</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pPr algn="ctr" eaLnBrk="1" fontAlgn="auto" hangingPunct="1">
              <a:spcAft>
                <a:spcPts val="0"/>
              </a:spcAft>
              <a:defRPr/>
            </a:pPr>
            <a:r>
              <a:rPr lang="en-US" altLang="en-US" b="1" dirty="0">
                <a:solidFill>
                  <a:schemeClr val="tx1">
                    <a:lumMod val="75000"/>
                    <a:lumOff val="25000"/>
                  </a:schemeClr>
                </a:solidFill>
                <a:latin typeface="Times New Roman" panose="02020603050405020304" pitchFamily="18" charset="0"/>
                <a:cs typeface="Times New Roman" panose="02020603050405020304" pitchFamily="18" charset="0"/>
              </a:rPr>
              <a:t>Pros of Heuristic Evaluation</a:t>
            </a:r>
            <a:br>
              <a:rPr lang="en-US" altLang="en-US" b="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79875" name="Content Placeholder 2"/>
          <p:cNvSpPr>
            <a:spLocks noGrp="1" noChangeArrowheads="1"/>
          </p:cNvSpPr>
          <p:nvPr>
            <p:ph idx="1"/>
          </p:nvPr>
        </p:nvSpPr>
        <p:spPr/>
        <p:txBody>
          <a:bodyPr/>
          <a:lstStyle/>
          <a:p>
            <a:pPr marL="457200" indent="-457200" eaLnBrk="1" hangingPunct="1">
              <a:buFont typeface="+mj-lt"/>
              <a:buAutoNum type="arabicPeriod"/>
            </a:pPr>
            <a:r>
              <a:rPr lang="en-US" altLang="en-US" sz="2600" dirty="0">
                <a:latin typeface="Times New Roman" panose="02020603050405020304" pitchFamily="18" charset="0"/>
                <a:cs typeface="Times New Roman" panose="02020603050405020304" pitchFamily="18" charset="0"/>
              </a:rPr>
              <a:t>Heuristics can help the evaluators focus their attention on certain issues</a:t>
            </a:r>
          </a:p>
          <a:p>
            <a:pPr marL="457200" indent="-457200" eaLnBrk="1" hangingPunct="1">
              <a:buFont typeface="+mj-lt"/>
              <a:buAutoNum type="arabicPeriod"/>
            </a:pP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a:latin typeface="Times New Roman" panose="02020603050405020304" pitchFamily="18" charset="0"/>
                <a:cs typeface="Times New Roman" panose="02020603050405020304" pitchFamily="18" charset="0"/>
              </a:rPr>
              <a:t>Heuristic evaluation does not carry the ethical and practical issues/problems associated with inspection methods involving real users.</a:t>
            </a:r>
          </a:p>
          <a:p>
            <a:pPr marL="457200" indent="-457200" eaLnBrk="1" hangingPunct="1">
              <a:buFont typeface="+mj-lt"/>
              <a:buAutoNum type="arabicPeriod"/>
            </a:pP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a:latin typeface="Times New Roman" panose="02020603050405020304" pitchFamily="18" charset="0"/>
                <a:cs typeface="Times New Roman" panose="02020603050405020304" pitchFamily="18" charset="0"/>
              </a:rPr>
              <a:t>Evaluating designs using a set of heuristics can help identify usability problems with individual elements and how they impact the overall user experience.</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7987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D512BBE-2113-445D-9CBA-CE03FE49D2F7}" type="slidenum">
              <a:rPr lang="en-GB" altLang="en-US">
                <a:solidFill>
                  <a:srgbClr val="FFC551"/>
                </a:solidFill>
                <a:latin typeface="Century Gothic" panose="020B0502020202020204" pitchFamily="34" charset="0"/>
                <a:cs typeface="Arial" panose="020B0604020202020204" pitchFamily="34" charset="0"/>
              </a:rPr>
              <a:pPr/>
              <a:t>29</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pPr algn="ctr" eaLnBrk="1" fontAlgn="auto" hangingPunct="1">
              <a:spcAft>
                <a:spcPts val="0"/>
              </a:spcAft>
              <a:defRPr/>
            </a:pPr>
            <a:r>
              <a:rPr lang="en-US" altLang="en-US" b="1" dirty="0">
                <a:solidFill>
                  <a:schemeClr val="tx1">
                    <a:lumMod val="75000"/>
                    <a:lumOff val="25000"/>
                  </a:schemeClr>
                </a:solidFill>
                <a:latin typeface="Times New Roman" panose="02020603050405020304" pitchFamily="18" charset="0"/>
                <a:cs typeface="Times New Roman" panose="02020603050405020304" pitchFamily="18" charset="0"/>
              </a:rPr>
              <a:t>Cons of Heuristic Evaluation</a:t>
            </a:r>
            <a:br>
              <a:rPr lang="en-US" altLang="en-US" b="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80899" name="Content Placeholder 2"/>
          <p:cNvSpPr>
            <a:spLocks noGrp="1" noChangeArrowheads="1"/>
          </p:cNvSpPr>
          <p:nvPr>
            <p:ph idx="1"/>
          </p:nvPr>
        </p:nvSpPr>
        <p:spPr>
          <a:xfrm>
            <a:off x="838200" y="1825625"/>
            <a:ext cx="10515600" cy="4843463"/>
          </a:xfrm>
        </p:spPr>
        <p:txBody>
          <a:bodyPr/>
          <a:lstStyle/>
          <a:p>
            <a:pPr eaLnBrk="1" hangingPunct="1"/>
            <a:r>
              <a:rPr lang="en-US" altLang="en-US" sz="2600" b="1" dirty="0">
                <a:latin typeface="Times New Roman" panose="02020603050405020304" pitchFamily="18" charset="0"/>
                <a:cs typeface="Times New Roman" panose="02020603050405020304" pitchFamily="18" charset="0"/>
              </a:rPr>
              <a:t>Choosing appropriate heuristics is extremely important</a:t>
            </a:r>
            <a:r>
              <a:rPr lang="en-US" altLang="en-US" sz="2600" dirty="0">
                <a:latin typeface="Times New Roman" panose="02020603050405020304" pitchFamily="18" charset="0"/>
                <a:cs typeface="Times New Roman" panose="02020603050405020304" pitchFamily="18" charset="0"/>
              </a:rPr>
              <a:t>; if the wrong set of heuristics is employed, certain usability problems may be overlooked.</a:t>
            </a:r>
          </a:p>
          <a:p>
            <a:pPr eaLnBrk="1" hangingPunct="1"/>
            <a:r>
              <a:rPr lang="en-US" altLang="en-US" sz="2600" dirty="0">
                <a:latin typeface="Times New Roman" panose="02020603050405020304" pitchFamily="18" charset="0"/>
                <a:cs typeface="Times New Roman" panose="02020603050405020304" pitchFamily="18" charset="0"/>
              </a:rPr>
              <a:t>Heuristic evaluation </a:t>
            </a:r>
            <a:r>
              <a:rPr lang="en-US" altLang="en-US" sz="2600" b="1" dirty="0">
                <a:latin typeface="Times New Roman" panose="02020603050405020304" pitchFamily="18" charset="0"/>
                <a:cs typeface="Times New Roman" panose="02020603050405020304" pitchFamily="18" charset="0"/>
              </a:rPr>
              <a:t>might be relatively time-consuming </a:t>
            </a:r>
            <a:r>
              <a:rPr lang="en-US" altLang="en-US" sz="2600" dirty="0">
                <a:latin typeface="Times New Roman" panose="02020603050405020304" pitchFamily="18" charset="0"/>
                <a:cs typeface="Times New Roman" panose="02020603050405020304" pitchFamily="18" charset="0"/>
              </a:rPr>
              <a:t>when compared to other 'quick and dirty' inspection methods, such as simple walkthroughs with a small sample of users. Training evaluators takes about a week on average, not including the time it takes to conduct the evaluations and debriefing sessions.</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Unlike cognitive walkthroughs</a:t>
            </a:r>
            <a:r>
              <a:rPr lang="en-US" altLang="en-US" sz="2600" b="1" dirty="0">
                <a:latin typeface="Times New Roman" panose="02020603050405020304" pitchFamily="18" charset="0"/>
                <a:cs typeface="Times New Roman" panose="02020603050405020304" pitchFamily="18" charset="0"/>
              </a:rPr>
              <a:t>, heuristic evaluation is based on preconceived notions of what makes 'good' usability</a:t>
            </a:r>
            <a:r>
              <a:rPr lang="en-US" altLang="en-US" sz="2600" dirty="0">
                <a:latin typeface="Times New Roman" panose="02020603050405020304" pitchFamily="18" charset="0"/>
                <a:cs typeface="Times New Roman" panose="02020603050405020304" pitchFamily="18" charset="0"/>
              </a:rPr>
              <a:t>. However, this need not be seen as a negative point, as heuristics are often based on the experiences of real users with hundreds of designs</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8090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7E7432D-C236-496E-8931-9839D19D8AE0}" type="slidenum">
              <a:rPr lang="en-GB" altLang="en-US">
                <a:solidFill>
                  <a:srgbClr val="FFC551"/>
                </a:solidFill>
                <a:latin typeface="Century Gothic" panose="020B0502020202020204" pitchFamily="34" charset="0"/>
                <a:cs typeface="Arial" panose="020B0604020202020204" pitchFamily="34" charset="0"/>
              </a:rPr>
              <a:pPr/>
              <a:t>30</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Heuristic Evaluation Reading assignment</a:t>
            </a:r>
          </a:p>
        </p:txBody>
      </p:sp>
      <p:sp>
        <p:nvSpPr>
          <p:cNvPr id="81923" name="Content Placeholder 2"/>
          <p:cNvSpPr>
            <a:spLocks noGrp="1" noChangeArrowheads="1"/>
          </p:cNvSpPr>
          <p:nvPr>
            <p:ph idx="1"/>
          </p:nvPr>
        </p:nvSpPr>
        <p:spPr/>
        <p:txBody>
          <a:bodyPr/>
          <a:lstStyle/>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Visit the website below and read on “</a:t>
            </a:r>
            <a:r>
              <a:rPr lang="en-US" altLang="en-US" b="1" dirty="0">
                <a:latin typeface="Times New Roman" panose="02020603050405020304" pitchFamily="18" charset="0"/>
                <a:cs typeface="Times New Roman" panose="02020603050405020304" pitchFamily="18" charset="0"/>
              </a:rPr>
              <a:t>How to Conduct a Heuristic Evaluation”</a:t>
            </a: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hlinkClick r:id="rId2"/>
              </a:rPr>
              <a:t>https://www.nngroup.com/articles/how-to-conduct-a-heuristic-evaluation/</a:t>
            </a:r>
            <a:endParaRPr lang="en-US" altLang="en-US" dirty="0">
              <a:latin typeface="Times New Roman" panose="02020603050405020304" pitchFamily="18" charset="0"/>
              <a:cs typeface="Times New Roman" panose="02020603050405020304" pitchFamily="18" charset="0"/>
            </a:endParaRPr>
          </a:p>
          <a:p>
            <a:pPr marL="0" indent="0">
              <a:buNone/>
            </a:pP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3600" b="0" i="0" u="none" strike="noStrike" baseline="0" dirty="0">
                <a:solidFill>
                  <a:srgbClr val="000000"/>
                </a:solidFill>
                <a:latin typeface="Times New Roman" panose="02020603050405020304" pitchFamily="18" charset="0"/>
                <a:cs typeface="Times New Roman" panose="02020603050405020304" pitchFamily="18" charset="0"/>
              </a:rPr>
              <a:t>Create and conduct a simple usability test for an existing software application (application) </a:t>
            </a:r>
            <a:endParaRPr lang="en-US" altLang="en-US" sz="3600" dirty="0">
              <a:latin typeface="Times New Roman" panose="02020603050405020304" pitchFamily="18" charset="0"/>
              <a:cs typeface="Times New Roman" panose="02020603050405020304" pitchFamily="18" charset="0"/>
            </a:endParaRPr>
          </a:p>
        </p:txBody>
      </p:sp>
      <p:sp>
        <p:nvSpPr>
          <p:cNvPr id="8192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961B8AA-70B4-4DD7-B7A7-07F4EFB14BA5}" type="slidenum">
              <a:rPr lang="en-GB" altLang="en-US">
                <a:solidFill>
                  <a:srgbClr val="FFC551"/>
                </a:solidFill>
                <a:latin typeface="Century Gothic" panose="020B0502020202020204" pitchFamily="34" charset="0"/>
                <a:cs typeface="Arial" panose="020B0604020202020204" pitchFamily="34" charset="0"/>
              </a:rPr>
              <a:pPr/>
              <a:t>31</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normAutofit/>
          </a:bodyPr>
          <a:lstStyle/>
          <a:p>
            <a:pPr eaLnBrk="1" fontAlgn="auto" hangingPunct="1">
              <a:spcAft>
                <a:spcPts val="0"/>
              </a:spcAft>
              <a:defRPr/>
            </a:pPr>
            <a:r>
              <a:rPr lang="en-US" altLang="en-US" sz="2000" dirty="0">
                <a:solidFill>
                  <a:schemeClr val="tx1">
                    <a:lumMod val="75000"/>
                    <a:lumOff val="25000"/>
                  </a:schemeClr>
                </a:solidFill>
                <a:latin typeface="Times New Roman" panose="02020603050405020304" pitchFamily="18" charset="0"/>
                <a:cs typeface="Times New Roman" panose="02020603050405020304" pitchFamily="18" charset="0"/>
              </a:rPr>
              <a:t>Evaluation through expert analysis</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3. the use of models </a:t>
            </a:r>
            <a:b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89091" name="Content Placeholder 2"/>
          <p:cNvSpPr>
            <a:spLocks noGrp="1"/>
          </p:cNvSpPr>
          <p:nvPr>
            <p:ph idx="1"/>
          </p:nvPr>
        </p:nvSpPr>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 third expert-based approach is the use of models.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Certain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cognitive and design models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provide a means of combining design specification and evaluation into the same framework.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For example,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the GOMS (goals, operators, methods and selection)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model predicts user performance with a particular interface and can be used to filter particular design options.</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Similarly</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 lower-level modeling techniques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such as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keystroke-level model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provide predictions of the time users will take to perform low-level physical tasks.</a:t>
            </a:r>
          </a:p>
        </p:txBody>
      </p:sp>
      <p:sp>
        <p:nvSpPr>
          <p:cNvPr id="8294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99A54A7-EC0B-47EE-8C4D-9D439F6A9F1F}" type="slidenum">
              <a:rPr lang="en-GB" altLang="en-US">
                <a:solidFill>
                  <a:srgbClr val="FFC551"/>
                </a:solidFill>
                <a:latin typeface="Century Gothic" panose="020B0502020202020204" pitchFamily="34" charset="0"/>
                <a:cs typeface="Arial" panose="020B0604020202020204" pitchFamily="34" charset="0"/>
              </a:rPr>
              <a:pPr/>
              <a:t>32</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838200" y="788988"/>
            <a:ext cx="11353800" cy="901700"/>
          </a:xfrm>
        </p:spPr>
        <p:txBody>
          <a:bodyPr>
            <a:normAutofit fontScale="90000"/>
          </a:bodyPr>
          <a:lstStyle/>
          <a:p>
            <a:pPr eaLnBrk="1" fontAlgn="auto" hangingPunct="1">
              <a:spcAft>
                <a:spcPts val="0"/>
              </a:spcAft>
              <a:defRPr/>
            </a:pPr>
            <a:r>
              <a:rPr lang="en-US" altLang="en-US" sz="2000" dirty="0">
                <a:solidFill>
                  <a:schemeClr val="tx1">
                    <a:lumMod val="75000"/>
                    <a:lumOff val="25000"/>
                  </a:schemeClr>
                </a:solidFill>
                <a:latin typeface="Futura Md BT"/>
              </a:rPr>
              <a:t>Evaluation through expert analysis</a:t>
            </a:r>
            <a:r>
              <a:rPr lang="en-US" altLang="en-US" dirty="0">
                <a:solidFill>
                  <a:schemeClr val="tx1">
                    <a:lumMod val="75000"/>
                    <a:lumOff val="25000"/>
                  </a:schemeClr>
                </a:solidFill>
                <a:latin typeface="Futura Md BT"/>
              </a:rPr>
              <a:t>: 4. Using previous studies in evaluation</a:t>
            </a:r>
          </a:p>
        </p:txBody>
      </p:sp>
      <p:sp>
        <p:nvSpPr>
          <p:cNvPr id="90115" name="Content Placeholder 2"/>
          <p:cNvSpPr>
            <a:spLocks noGrp="1"/>
          </p:cNvSpPr>
          <p:nvPr>
            <p:ph idx="1"/>
          </p:nvPr>
        </p:nvSpPr>
        <p:spPr>
          <a:xfrm>
            <a:off x="838200" y="1825625"/>
            <a:ext cx="10515600" cy="4638675"/>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 final approach to expert evaluation uses previous results as evidence to support (or refute) aspects of the design.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It is expensive to repeat experiments continually and an expert review of relevant literature can avoid the need to do so. </a:t>
            </a:r>
          </a:p>
          <a:p>
            <a:pPr marL="91440" indent="-91440" eaLnBrk="1" fontAlgn="auto" hangingPunct="1">
              <a:defRPr/>
            </a:pPr>
            <a:r>
              <a:rPr lang="en-US" altLang="en-US" sz="2600" dirty="0">
                <a:solidFill>
                  <a:srgbClr val="FF0000"/>
                </a:solidFill>
                <a:latin typeface="Times New Roman" panose="02020603050405020304" pitchFamily="18" charset="0"/>
                <a:cs typeface="Times New Roman" panose="02020603050405020304" pitchFamily="18" charset="0"/>
              </a:rPr>
              <a:t>It should be noted that experimental results cannot be expected to hold arbitrarily across contexts. </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b="1" dirty="0">
                <a:solidFill>
                  <a:srgbClr val="00B050"/>
                </a:solidFill>
                <a:latin typeface="Times New Roman" panose="02020603050405020304" pitchFamily="18" charset="0"/>
                <a:cs typeface="Times New Roman" panose="02020603050405020304" pitchFamily="18" charset="0"/>
              </a:rPr>
              <a:t>The reviewer must therefore select evidence carefully, noting the experimental design chosen, the population of participants used, the analyses performed and the assumptions made.</a:t>
            </a:r>
          </a:p>
        </p:txBody>
      </p:sp>
      <p:sp>
        <p:nvSpPr>
          <p:cNvPr id="8397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8C51D10-B82E-490A-9BDA-284799F73A0B}" type="slidenum">
              <a:rPr lang="en-GB" altLang="en-US">
                <a:solidFill>
                  <a:srgbClr val="FFC551"/>
                </a:solidFill>
                <a:latin typeface="Century Gothic" panose="020B0502020202020204" pitchFamily="34" charset="0"/>
                <a:cs typeface="Arial" panose="020B0604020202020204" pitchFamily="34" charset="0"/>
              </a:rPr>
              <a:pPr/>
              <a:t>33</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91344" y="3068960"/>
            <a:ext cx="11881319" cy="2800028"/>
          </a:xfrm>
        </p:spPr>
        <p:txBody>
          <a:bodyPr/>
          <a:lstStyle/>
          <a:p>
            <a:r>
              <a:rPr lang="en-US" altLang="en-US" sz="5000" dirty="0">
                <a:solidFill>
                  <a:schemeClr val="tx1">
                    <a:lumMod val="75000"/>
                    <a:lumOff val="25000"/>
                  </a:schemeClr>
                </a:solidFill>
                <a:latin typeface="Times New Roman" panose="02020603050405020304" pitchFamily="18" charset="0"/>
                <a:cs typeface="Times New Roman" panose="02020603050405020304" pitchFamily="18" charset="0"/>
              </a:rPr>
              <a:t> Evaluation through user participation </a:t>
            </a:r>
            <a:br>
              <a:rPr lang="en-US" altLang="en-US" sz="5000" b="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sz="5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34</a:t>
            </a:fld>
            <a:endParaRPr lang="en-GB" altLang="en-US"/>
          </a:p>
        </p:txBody>
      </p:sp>
    </p:spTree>
    <p:extLst>
      <p:ext uri="{BB962C8B-B14F-4D97-AF65-F5344CB8AC3E}">
        <p14:creationId xmlns:p14="http://schemas.microsoft.com/office/powerpoint/2010/main" val="3534296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a:xfrm>
            <a:off x="838200" y="788988"/>
            <a:ext cx="10515600" cy="552450"/>
          </a:xfrm>
        </p:spPr>
        <p:txBody>
          <a:bodyPr>
            <a:normAutofit fontScale="90000"/>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Evaluation through user participation </a:t>
            </a:r>
            <a:br>
              <a:rPr lang="en-US" altLang="en-US" b="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84995" name="Content Placeholder 2"/>
          <p:cNvSpPr>
            <a:spLocks noGrp="1" noChangeArrowheads="1"/>
          </p:cNvSpPr>
          <p:nvPr>
            <p:ph idx="1"/>
          </p:nvPr>
        </p:nvSpPr>
        <p:spPr>
          <a:xfrm>
            <a:off x="557213" y="2132856"/>
            <a:ext cx="11371262" cy="4044106"/>
          </a:xfrm>
        </p:spPr>
        <p:txBody>
          <a:bodyPr/>
          <a:lstStyle/>
          <a:p>
            <a:pPr algn="l"/>
            <a:r>
              <a:rPr lang="en-GB" sz="2600" b="0" i="0" u="none" strike="noStrike" baseline="0" dirty="0">
                <a:latin typeface="Times New Roman" panose="02020603050405020304" pitchFamily="18" charset="0"/>
                <a:cs typeface="Times New Roman" panose="02020603050405020304" pitchFamily="18" charset="0"/>
              </a:rPr>
              <a:t>The techniques we have considered so far concentrate on evaluating a design or system through analysis by the designer, or an expert evaluator, rather than testing with actual users. </a:t>
            </a:r>
            <a:endParaRPr lang="en-GB" sz="2600" dirty="0">
              <a:latin typeface="Times New Roman" panose="02020603050405020304" pitchFamily="18" charset="0"/>
              <a:cs typeface="Times New Roman" panose="02020603050405020304" pitchFamily="18" charset="0"/>
            </a:endParaRPr>
          </a:p>
          <a:p>
            <a:pPr algn="l"/>
            <a:r>
              <a:rPr lang="en-GB" sz="2600" b="0" i="0" u="none" strike="noStrike" baseline="0" dirty="0">
                <a:solidFill>
                  <a:srgbClr val="0070C0"/>
                </a:solidFill>
                <a:latin typeface="Times New Roman" panose="02020603050405020304" pitchFamily="18" charset="0"/>
                <a:cs typeface="Times New Roman" panose="02020603050405020304" pitchFamily="18" charset="0"/>
              </a:rPr>
              <a:t>However, useful as these techniques are for filtering and refining the design, they are not a replacement for actual usability testing with the people for whom the system is intended: the users.</a:t>
            </a:r>
          </a:p>
          <a:p>
            <a:pPr algn="l"/>
            <a:endParaRPr lang="en-GB" altLang="en-US" sz="2600" dirty="0">
              <a:latin typeface="Times New Roman" panose="02020603050405020304" pitchFamily="18" charset="0"/>
              <a:cs typeface="Times New Roman" panose="02020603050405020304" pitchFamily="18" charset="0"/>
            </a:endParaRPr>
          </a:p>
          <a:p>
            <a:pPr algn="l"/>
            <a:r>
              <a:rPr lang="en-GB" sz="2600" b="1" i="0" u="none" strike="noStrike" baseline="0" dirty="0">
                <a:latin typeface="Times New Roman" panose="02020603050405020304" pitchFamily="18" charset="0"/>
                <a:cs typeface="Times New Roman" panose="02020603050405020304" pitchFamily="18" charset="0"/>
              </a:rPr>
              <a:t>User participation in evaluation tends to occur in the later stages of development when there is at least a working prototype of the system in place. </a:t>
            </a:r>
          </a:p>
          <a:p>
            <a:pPr algn="l"/>
            <a:endParaRPr lang="en-GB" altLang="en-US" sz="2600" dirty="0">
              <a:latin typeface="Times New Roman" panose="02020603050405020304" pitchFamily="18" charset="0"/>
              <a:cs typeface="Times New Roman" panose="02020603050405020304" pitchFamily="18" charset="0"/>
            </a:endParaRPr>
          </a:p>
        </p:txBody>
      </p:sp>
      <p:sp>
        <p:nvSpPr>
          <p:cNvPr id="849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801F155-689B-4EEC-8103-F5FA6E5704E8}" type="slidenum">
              <a:rPr lang="en-GB" altLang="en-US">
                <a:solidFill>
                  <a:srgbClr val="FFC551"/>
                </a:solidFill>
                <a:latin typeface="Century Gothic" panose="020B0502020202020204" pitchFamily="34" charset="0"/>
                <a:cs typeface="Arial" panose="020B0604020202020204" pitchFamily="34" charset="0"/>
              </a:rPr>
              <a:pPr/>
              <a:t>35</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normAutofit/>
          </a:bodyPr>
          <a:lstStyle/>
          <a:p>
            <a:pPr algn="ctr"/>
            <a:r>
              <a:rPr lang="en-GB" altLang="en-US" sz="2800" b="1" dirty="0">
                <a:latin typeface="Times New Roman" panose="02020603050405020304" pitchFamily="18" charset="0"/>
                <a:cs typeface="Times New Roman" panose="02020603050405020304" pitchFamily="18" charset="0"/>
              </a:rPr>
              <a:t>Evaluation Through User Participation</a:t>
            </a:r>
            <a:br>
              <a:rPr lang="en-GB" altLang="en-US" sz="2800" b="1" dirty="0">
                <a:latin typeface="Times New Roman" panose="02020603050405020304" pitchFamily="18" charset="0"/>
                <a:cs typeface="Times New Roman" panose="02020603050405020304" pitchFamily="18" charset="0"/>
              </a:rPr>
            </a:br>
            <a:endParaRPr lang="en-US" altLang="en-US" sz="2800" b="1" dirty="0">
              <a:latin typeface="Futura Md BT"/>
            </a:endParaRPr>
          </a:p>
        </p:txBody>
      </p:sp>
      <p:sp>
        <p:nvSpPr>
          <p:cNvPr id="45059" name="Content Placeholder 2"/>
          <p:cNvSpPr>
            <a:spLocks noGrp="1"/>
          </p:cNvSpPr>
          <p:nvPr>
            <p:ph idx="1"/>
          </p:nvPr>
        </p:nvSpPr>
        <p:spPr>
          <a:xfrm>
            <a:off x="838200" y="1690688"/>
            <a:ext cx="10515600" cy="4978400"/>
          </a:xfrm>
        </p:spPr>
        <p:txBody>
          <a:bodyPr/>
          <a:lstStyle/>
          <a:p>
            <a:r>
              <a:rPr lang="en-US" altLang="en-US" sz="2600" dirty="0">
                <a:latin typeface="Times New Roman" panose="02020603050405020304" pitchFamily="18" charset="0"/>
                <a:cs typeface="Times New Roman" panose="02020603050405020304" pitchFamily="18" charset="0"/>
              </a:rPr>
              <a:t>In this section we will look at </a:t>
            </a:r>
            <a:r>
              <a:rPr lang="en-US" altLang="en-US" sz="2600" b="1" dirty="0">
                <a:solidFill>
                  <a:srgbClr val="00B050"/>
                </a:solidFill>
                <a:latin typeface="Times New Roman" panose="02020603050405020304" pitchFamily="18" charset="0"/>
                <a:cs typeface="Times New Roman" panose="02020603050405020304" pitchFamily="18" charset="0"/>
              </a:rPr>
              <a:t>a number of different approaches to evaluation through user participation. </a:t>
            </a:r>
            <a:endParaRPr lang="en-US"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These include</a:t>
            </a:r>
          </a:p>
          <a:p>
            <a:pPr lvl="4">
              <a:lnSpc>
                <a:spcPct val="150000"/>
              </a:lnSpc>
              <a:buFont typeface="Wingdings" panose="05000000000000000000" pitchFamily="2" charset="2"/>
              <a:buChar char="ü"/>
            </a:pPr>
            <a:r>
              <a:rPr lang="en-US" altLang="en-US" sz="2600" dirty="0">
                <a:latin typeface="Times New Roman" panose="02020603050405020304" pitchFamily="18" charset="0"/>
                <a:cs typeface="Times New Roman" panose="02020603050405020304" pitchFamily="18" charset="0"/>
              </a:rPr>
              <a:t>empirical or experimental methods, </a:t>
            </a:r>
          </a:p>
          <a:p>
            <a:pPr lvl="4">
              <a:lnSpc>
                <a:spcPct val="150000"/>
              </a:lnSpc>
              <a:buFont typeface="Wingdings" panose="05000000000000000000" pitchFamily="2" charset="2"/>
              <a:buChar char="ü"/>
            </a:pPr>
            <a:r>
              <a:rPr lang="en-US" altLang="en-US" sz="2600" dirty="0">
                <a:latin typeface="Times New Roman" panose="02020603050405020304" pitchFamily="18" charset="0"/>
                <a:cs typeface="Times New Roman" panose="02020603050405020304" pitchFamily="18" charset="0"/>
              </a:rPr>
              <a:t>observational methods, </a:t>
            </a:r>
          </a:p>
          <a:p>
            <a:pPr lvl="4">
              <a:lnSpc>
                <a:spcPct val="150000"/>
              </a:lnSpc>
              <a:buFont typeface="Wingdings" panose="05000000000000000000" pitchFamily="2" charset="2"/>
              <a:buChar char="ü"/>
            </a:pPr>
            <a:r>
              <a:rPr lang="en-US" altLang="en-US" sz="2600" dirty="0">
                <a:latin typeface="Times New Roman" panose="02020603050405020304" pitchFamily="18" charset="0"/>
                <a:cs typeface="Times New Roman" panose="02020603050405020304" pitchFamily="18" charset="0"/>
              </a:rPr>
              <a:t>query techniques, and</a:t>
            </a:r>
          </a:p>
          <a:p>
            <a:pPr lvl="4">
              <a:lnSpc>
                <a:spcPct val="150000"/>
              </a:lnSpc>
              <a:buFont typeface="Wingdings" panose="05000000000000000000" pitchFamily="2" charset="2"/>
              <a:buChar char="ü"/>
            </a:pPr>
            <a:r>
              <a:rPr lang="en-US" altLang="en-US" sz="2600" dirty="0">
                <a:latin typeface="Times New Roman" panose="02020603050405020304" pitchFamily="18" charset="0"/>
                <a:cs typeface="Times New Roman" panose="02020603050405020304" pitchFamily="18" charset="0"/>
              </a:rPr>
              <a:t>methods that use physiological monitoring, such as eye tracking and measures of heart rate and skin conductance.</a:t>
            </a:r>
          </a:p>
          <a:p>
            <a:endParaRPr lang="en-US" altLang="en-US" sz="2600" dirty="0">
              <a:latin typeface="Times New Roman" panose="02020603050405020304" pitchFamily="18" charset="0"/>
              <a:cs typeface="Times New Roman" panose="02020603050405020304" pitchFamily="18" charset="0"/>
            </a:endParaRPr>
          </a:p>
        </p:txBody>
      </p:sp>
      <p:sp>
        <p:nvSpPr>
          <p:cNvPr id="4506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99A1DDE-8C5C-4E19-B251-DA6081AE076B}" type="slidenum">
              <a:rPr lang="en-GB" altLang="en-US">
                <a:solidFill>
                  <a:srgbClr val="FFC551"/>
                </a:solidFill>
                <a:latin typeface="Century Gothic" panose="020B0502020202020204" pitchFamily="34" charset="0"/>
              </a:rPr>
              <a:pPr/>
              <a:t>36</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555741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p:txBody>
          <a:bodyPr>
            <a:normAutofit/>
          </a:bodyPr>
          <a:lstStyle/>
          <a:p>
            <a:pPr algn="ctr"/>
            <a:r>
              <a:rPr lang="en-US" altLang="en-US" sz="1800" dirty="0">
                <a:latin typeface="Times New Roman" panose="02020603050405020304" pitchFamily="18" charset="0"/>
                <a:cs typeface="Times New Roman" panose="02020603050405020304" pitchFamily="18" charset="0"/>
              </a:rPr>
              <a:t>Evaluation Through User Participation</a:t>
            </a:r>
            <a:r>
              <a:rPr lang="en-US" altLang="en-US" dirty="0">
                <a:latin typeface="Times New Roman" panose="02020603050405020304" pitchFamily="18" charset="0"/>
                <a:cs typeface="Times New Roman" panose="02020603050405020304" pitchFamily="18" charset="0"/>
              </a:rPr>
              <a:t>: experimental/empirical  evaluation</a:t>
            </a:r>
            <a:endParaRPr lang="en-GB" altLang="en-US" dirty="0">
              <a:latin typeface="Times New Roman" panose="02020603050405020304" pitchFamily="18" charset="0"/>
              <a:cs typeface="Times New Roman" panose="02020603050405020304" pitchFamily="18" charset="0"/>
            </a:endParaRPr>
          </a:p>
        </p:txBody>
      </p:sp>
      <p:sp>
        <p:nvSpPr>
          <p:cNvPr id="46083" name="Rectangle 3"/>
          <p:cNvSpPr>
            <a:spLocks noGrp="1"/>
          </p:cNvSpPr>
          <p:nvPr>
            <p:ph type="body" idx="1"/>
          </p:nvPr>
        </p:nvSpPr>
        <p:spPr>
          <a:xfrm>
            <a:off x="335360" y="2276871"/>
            <a:ext cx="11377264" cy="4104457"/>
          </a:xfrm>
        </p:spPr>
        <p:txBody>
          <a:bodyPr/>
          <a:lstStyle/>
          <a:p>
            <a:r>
              <a:rPr lang="en-US" altLang="en-US" sz="2600" b="1" dirty="0">
                <a:latin typeface="Times New Roman" panose="02020603050405020304" pitchFamily="18" charset="0"/>
                <a:cs typeface="Times New Roman" panose="02020603050405020304" pitchFamily="18" charset="0"/>
              </a:rPr>
              <a:t>One of the most powerful methods of evaluating a design or an aspect of a design is to use a controlled experiment.</a:t>
            </a:r>
          </a:p>
          <a:p>
            <a:endParaRPr lang="en-US" altLang="en-US" sz="2600" b="1"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 </a:t>
            </a:r>
            <a:r>
              <a:rPr lang="en-US" altLang="en-US" sz="2600" b="1" dirty="0">
                <a:solidFill>
                  <a:srgbClr val="00B050"/>
                </a:solidFill>
                <a:latin typeface="Times New Roman" panose="02020603050405020304" pitchFamily="18" charset="0"/>
                <a:cs typeface="Times New Roman" panose="02020603050405020304" pitchFamily="18" charset="0"/>
              </a:rPr>
              <a:t>This provides empirical evidence to support a particular claim or hypothesis.</a:t>
            </a:r>
          </a:p>
          <a:p>
            <a:endParaRPr lang="en-GB" altLang="en-US" sz="2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88637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p:txBody>
          <a:bodyPr>
            <a:normAutofit/>
          </a:bodyPr>
          <a:lstStyle/>
          <a:p>
            <a:pPr algn="ctr"/>
            <a:r>
              <a:rPr lang="en-US" altLang="en-US" sz="1800" dirty="0">
                <a:latin typeface="Times New Roman" panose="02020603050405020304" pitchFamily="18" charset="0"/>
                <a:cs typeface="Times New Roman" panose="02020603050405020304" pitchFamily="18" charset="0"/>
              </a:rPr>
              <a:t>Evaluation Through User Participation</a:t>
            </a:r>
            <a:r>
              <a:rPr lang="en-US" altLang="en-US" dirty="0">
                <a:latin typeface="Times New Roman" panose="02020603050405020304" pitchFamily="18" charset="0"/>
                <a:cs typeface="Times New Roman" panose="02020603050405020304" pitchFamily="18" charset="0"/>
              </a:rPr>
              <a:t>: experimental/empirical  evaluation</a:t>
            </a:r>
            <a:endParaRPr lang="en-GB" altLang="en-US" dirty="0">
              <a:latin typeface="Times New Roman" panose="02020603050405020304" pitchFamily="18" charset="0"/>
              <a:cs typeface="Times New Roman" panose="02020603050405020304" pitchFamily="18" charset="0"/>
            </a:endParaRPr>
          </a:p>
        </p:txBody>
      </p:sp>
      <p:sp>
        <p:nvSpPr>
          <p:cNvPr id="46083" name="Rectangle 3"/>
          <p:cNvSpPr>
            <a:spLocks noGrp="1"/>
          </p:cNvSpPr>
          <p:nvPr>
            <p:ph type="body" idx="1"/>
          </p:nvPr>
        </p:nvSpPr>
        <p:spPr>
          <a:xfrm>
            <a:off x="335360" y="1736725"/>
            <a:ext cx="11856640" cy="4932363"/>
          </a:xfrm>
        </p:spPr>
        <p:txBody>
          <a:bodyPr/>
          <a:lstStyle/>
          <a:p>
            <a:r>
              <a:rPr lang="en-US" altLang="en-US" sz="2600" dirty="0">
                <a:latin typeface="Times New Roman" panose="02020603050405020304" pitchFamily="18" charset="0"/>
                <a:cs typeface="Times New Roman" panose="02020603050405020304" pitchFamily="18" charset="0"/>
              </a:rPr>
              <a:t>Any experiment has the same basic form.</a:t>
            </a:r>
          </a:p>
          <a:p>
            <a:endParaRPr lang="en-US" altLang="en-US" sz="2600" dirty="0">
              <a:latin typeface="Times New Roman" panose="02020603050405020304" pitchFamily="18" charset="0"/>
              <a:cs typeface="Times New Roman" panose="02020603050405020304" pitchFamily="18" charset="0"/>
            </a:endParaRPr>
          </a:p>
          <a:p>
            <a:pPr lvl="1"/>
            <a:r>
              <a:rPr lang="en-US" altLang="en-US" sz="2600" dirty="0">
                <a:latin typeface="Times New Roman" panose="02020603050405020304" pitchFamily="18" charset="0"/>
                <a:cs typeface="Times New Roman" panose="02020603050405020304" pitchFamily="18" charset="0"/>
              </a:rPr>
              <a:t> </a:t>
            </a:r>
            <a:r>
              <a:rPr lang="en-US" altLang="en-US" sz="2600" b="1" dirty="0">
                <a:solidFill>
                  <a:srgbClr val="00B050"/>
                </a:solidFill>
                <a:latin typeface="Times New Roman" panose="02020603050405020304" pitchFamily="18" charset="0"/>
                <a:cs typeface="Times New Roman" panose="02020603050405020304" pitchFamily="18" charset="0"/>
              </a:rPr>
              <a:t>The evaluator chooses a hypothesis to test, which can be determined by   measuring some attribute of participant behavior.</a:t>
            </a:r>
          </a:p>
          <a:p>
            <a:pPr lvl="1"/>
            <a:endParaRPr lang="en-US" altLang="en-US" sz="2600" dirty="0">
              <a:latin typeface="Times New Roman" panose="02020603050405020304" pitchFamily="18" charset="0"/>
              <a:cs typeface="Times New Roman" panose="02020603050405020304" pitchFamily="18" charset="0"/>
            </a:endParaRPr>
          </a:p>
          <a:p>
            <a:pPr lvl="1"/>
            <a:r>
              <a:rPr lang="en-US" altLang="en-US" sz="2600" dirty="0">
                <a:latin typeface="Times New Roman" panose="02020603050405020304" pitchFamily="18" charset="0"/>
                <a:cs typeface="Times New Roman" panose="02020603050405020304" pitchFamily="18" charset="0"/>
              </a:rPr>
              <a:t>A number of experimental conditions are considered </a:t>
            </a:r>
          </a:p>
          <a:p>
            <a:pPr lvl="1"/>
            <a:endParaRPr lang="en-US" altLang="en-US" sz="2600" dirty="0">
              <a:latin typeface="Times New Roman" panose="02020603050405020304" pitchFamily="18" charset="0"/>
              <a:cs typeface="Times New Roman" panose="02020603050405020304" pitchFamily="18" charset="0"/>
            </a:endParaRPr>
          </a:p>
          <a:p>
            <a:pPr lvl="1"/>
            <a:r>
              <a:rPr lang="en-US" altLang="en-US" sz="2600" dirty="0">
                <a:latin typeface="Times New Roman" panose="02020603050405020304" pitchFamily="18" charset="0"/>
                <a:cs typeface="Times New Roman" panose="02020603050405020304" pitchFamily="18" charset="0"/>
              </a:rPr>
              <a:t>Within this basic form, </a:t>
            </a:r>
            <a:r>
              <a:rPr lang="en-US" altLang="en-US" sz="2600" b="1" dirty="0">
                <a:latin typeface="Times New Roman" panose="02020603050405020304" pitchFamily="18" charset="0"/>
                <a:cs typeface="Times New Roman" panose="02020603050405020304" pitchFamily="18" charset="0"/>
              </a:rPr>
              <a:t>there are a number of factors that are important to the overall reliability of the experiment</a:t>
            </a:r>
            <a:r>
              <a:rPr lang="en-US" altLang="en-US" sz="2600" dirty="0">
                <a:latin typeface="Times New Roman" panose="02020603050405020304" pitchFamily="18" charset="0"/>
                <a:cs typeface="Times New Roman" panose="02020603050405020304" pitchFamily="18" charset="0"/>
              </a:rPr>
              <a:t>. </a:t>
            </a:r>
          </a:p>
          <a:p>
            <a:pPr lvl="1"/>
            <a:r>
              <a:rPr lang="en-US" altLang="en-US" sz="2600" dirty="0">
                <a:latin typeface="Times New Roman" panose="02020603050405020304" pitchFamily="18" charset="0"/>
                <a:cs typeface="Times New Roman" panose="02020603050405020304" pitchFamily="18" charset="0"/>
              </a:rPr>
              <a:t>These include the </a:t>
            </a:r>
            <a:r>
              <a:rPr lang="en-US" altLang="en-US" sz="2600" b="1" dirty="0">
                <a:latin typeface="Times New Roman" panose="02020603050405020304" pitchFamily="18" charset="0"/>
                <a:cs typeface="Times New Roman" panose="02020603050405020304" pitchFamily="18" charset="0"/>
              </a:rPr>
              <a:t>participants chosen, the variables tested and manipulated, and the hypothesis tested.</a:t>
            </a:r>
            <a:endParaRPr lang="en-GB" altLang="en-US" sz="2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3819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algn="ctr"/>
            <a:r>
              <a:rPr lang="en-US" altLang="en-US" dirty="0">
                <a:latin typeface="Times New Roman" panose="02020603050405020304" pitchFamily="18" charset="0"/>
                <a:cs typeface="Times New Roman" panose="02020603050405020304" pitchFamily="18" charset="0"/>
              </a:rPr>
              <a:t>Participants</a:t>
            </a:r>
          </a:p>
        </p:txBody>
      </p:sp>
      <p:sp>
        <p:nvSpPr>
          <p:cNvPr id="47107" name="Content Placeholder 2"/>
          <p:cNvSpPr>
            <a:spLocks noGrp="1"/>
          </p:cNvSpPr>
          <p:nvPr>
            <p:ph idx="1"/>
          </p:nvPr>
        </p:nvSpPr>
        <p:spPr>
          <a:xfrm>
            <a:off x="838200" y="1825625"/>
            <a:ext cx="10515600" cy="4843463"/>
          </a:xfrm>
        </p:spPr>
        <p:txBody>
          <a:bodyPr/>
          <a:lstStyle/>
          <a:p>
            <a:r>
              <a:rPr lang="en-US" altLang="en-US" sz="2600" dirty="0">
                <a:latin typeface="Times New Roman" panose="02020603050405020304" pitchFamily="18" charset="0"/>
                <a:cs typeface="Times New Roman" panose="02020603050405020304" pitchFamily="18" charset="0"/>
              </a:rPr>
              <a:t>The choice of participants is vital to the success of any experiment.</a:t>
            </a:r>
          </a:p>
          <a:p>
            <a:r>
              <a:rPr lang="en-US" altLang="en-US" sz="2600" dirty="0">
                <a:latin typeface="Times New Roman" panose="02020603050405020304" pitchFamily="18" charset="0"/>
                <a:cs typeface="Times New Roman" panose="02020603050405020304" pitchFamily="18" charset="0"/>
              </a:rPr>
              <a:t> In evaluation experiments, </a:t>
            </a:r>
            <a:r>
              <a:rPr lang="en-US" altLang="en-US" sz="2600" b="1" dirty="0">
                <a:latin typeface="Times New Roman" panose="02020603050405020304" pitchFamily="18" charset="0"/>
                <a:cs typeface="Times New Roman" panose="02020603050405020304" pitchFamily="18" charset="0"/>
              </a:rPr>
              <a:t>participants should be chosen to match the expected user population as closely as possible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another issue relating to the participant set is the </a:t>
            </a:r>
            <a:r>
              <a:rPr lang="en-US" altLang="en-US" sz="2600" b="1" dirty="0">
                <a:latin typeface="Times New Roman" panose="02020603050405020304" pitchFamily="18" charset="0"/>
                <a:cs typeface="Times New Roman" panose="02020603050405020304" pitchFamily="18" charset="0"/>
              </a:rPr>
              <a:t>sample size chosen</a:t>
            </a:r>
            <a:r>
              <a:rPr lang="en-US" altLang="en-US" sz="2600" dirty="0">
                <a:latin typeface="Times New Roman" panose="02020603050405020304" pitchFamily="18" charset="0"/>
                <a:cs typeface="Times New Roman" panose="02020603050405020304" pitchFamily="18" charset="0"/>
              </a:rPr>
              <a:t>.</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the sample size must be large enough to be considered to be representative of the population,</a:t>
            </a:r>
            <a:r>
              <a:rPr lang="en-US" altLang="en-US" sz="2600" b="1" dirty="0">
                <a:latin typeface="Times New Roman" panose="02020603050405020304" pitchFamily="18" charset="0"/>
                <a:cs typeface="Times New Roman" panose="02020603050405020304" pitchFamily="18" charset="0"/>
              </a:rPr>
              <a:t> taking into account the design of the experiment and the statistical methods chosen</a:t>
            </a:r>
          </a:p>
        </p:txBody>
      </p:sp>
      <p:sp>
        <p:nvSpPr>
          <p:cNvPr id="47108"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D37AC26-99B5-4EA1-9FEF-9B8DDCB5A3EC}" type="slidenum">
              <a:rPr lang="en-GB" altLang="en-US">
                <a:solidFill>
                  <a:srgbClr val="FFC551"/>
                </a:solidFill>
                <a:latin typeface="Century Gothic" panose="020B0502020202020204" pitchFamily="34" charset="0"/>
              </a:rPr>
              <a:pPr/>
              <a:t>39</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2805329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lgn="ctr"/>
            <a:r>
              <a:rPr lang="en-US" altLang="en-US" dirty="0">
                <a:latin typeface="Times New Roman" panose="02020603050405020304" pitchFamily="18" charset="0"/>
                <a:cs typeface="Times New Roman" panose="02020603050405020304" pitchFamily="18" charset="0"/>
              </a:rPr>
              <a:t>Variables</a:t>
            </a:r>
          </a:p>
        </p:txBody>
      </p:sp>
      <p:sp>
        <p:nvSpPr>
          <p:cNvPr id="3" name="Content Placeholder 2"/>
          <p:cNvSpPr>
            <a:spLocks noGrp="1"/>
          </p:cNvSpPr>
          <p:nvPr>
            <p:ph idx="1"/>
          </p:nvPr>
        </p:nvSpPr>
        <p:spPr>
          <a:xfrm>
            <a:off x="334962" y="1736725"/>
            <a:ext cx="11522075" cy="5003800"/>
          </a:xfrm>
        </p:spPr>
        <p:txBody>
          <a:bodyPr/>
          <a:lstStyle/>
          <a:p>
            <a:pPr>
              <a:defRPr/>
            </a:pPr>
            <a:r>
              <a:rPr lang="en-US" sz="2600" b="1" dirty="0">
                <a:latin typeface="Times New Roman" panose="02020603050405020304" pitchFamily="18" charset="0"/>
                <a:cs typeface="Times New Roman" panose="02020603050405020304" pitchFamily="18" charset="0"/>
              </a:rPr>
              <a:t>Experiments </a:t>
            </a:r>
            <a:r>
              <a:rPr lang="en-US" sz="2600" b="1" dirty="0">
                <a:solidFill>
                  <a:srgbClr val="7030A0"/>
                </a:solidFill>
                <a:latin typeface="Times New Roman" panose="02020603050405020304" pitchFamily="18" charset="0"/>
                <a:cs typeface="Times New Roman" panose="02020603050405020304" pitchFamily="18" charset="0"/>
              </a:rPr>
              <a:t>manipulate</a:t>
            </a:r>
            <a:r>
              <a:rPr lang="en-US" sz="2600" b="1" dirty="0">
                <a:latin typeface="Times New Roman" panose="02020603050405020304" pitchFamily="18" charset="0"/>
                <a:cs typeface="Times New Roman" panose="02020603050405020304" pitchFamily="18" charset="0"/>
              </a:rPr>
              <a:t> and </a:t>
            </a:r>
            <a:r>
              <a:rPr lang="en-US" sz="2600" b="1" dirty="0">
                <a:solidFill>
                  <a:srgbClr val="00B050"/>
                </a:solidFill>
                <a:latin typeface="Times New Roman" panose="02020603050405020304" pitchFamily="18" charset="0"/>
                <a:cs typeface="Times New Roman" panose="02020603050405020304" pitchFamily="18" charset="0"/>
              </a:rPr>
              <a:t>measure</a:t>
            </a:r>
            <a:r>
              <a:rPr lang="en-US" sz="2600" b="1" dirty="0">
                <a:latin typeface="Times New Roman" panose="02020603050405020304" pitchFamily="18" charset="0"/>
                <a:cs typeface="Times New Roman" panose="02020603050405020304" pitchFamily="18" charset="0"/>
              </a:rPr>
              <a:t> variables under controlled conditions, </a:t>
            </a:r>
            <a:r>
              <a:rPr lang="en-US" sz="2600" dirty="0">
                <a:latin typeface="Times New Roman" panose="02020603050405020304" pitchFamily="18" charset="0"/>
                <a:cs typeface="Times New Roman" panose="02020603050405020304" pitchFamily="18" charset="0"/>
              </a:rPr>
              <a:t>in order to test the hypothesis. </a:t>
            </a:r>
          </a:p>
          <a:p>
            <a:pPr>
              <a:defRPr/>
            </a:pPr>
            <a:r>
              <a:rPr lang="en-US" sz="2600" dirty="0">
                <a:latin typeface="Times New Roman" panose="02020603050405020304" pitchFamily="18" charset="0"/>
                <a:cs typeface="Times New Roman" panose="02020603050405020304" pitchFamily="18" charset="0"/>
              </a:rPr>
              <a:t>There are </a:t>
            </a:r>
            <a:r>
              <a:rPr lang="en-US" sz="2600" b="1" dirty="0">
                <a:latin typeface="Times New Roman" panose="02020603050405020304" pitchFamily="18" charset="0"/>
                <a:cs typeface="Times New Roman" panose="02020603050405020304" pitchFamily="18" charset="0"/>
              </a:rPr>
              <a:t>two main types of variables</a:t>
            </a:r>
            <a:r>
              <a:rPr lang="en-US" sz="2600" dirty="0">
                <a:latin typeface="Times New Roman" panose="02020603050405020304" pitchFamily="18" charset="0"/>
                <a:cs typeface="Times New Roman" panose="02020603050405020304" pitchFamily="18" charset="0"/>
              </a:rPr>
              <a:t>: those that are ‘manipulated’ or changed (known as the </a:t>
            </a:r>
            <a:r>
              <a:rPr lang="en-US" sz="2600" b="1" dirty="0">
                <a:latin typeface="Times New Roman" panose="02020603050405020304" pitchFamily="18" charset="0"/>
                <a:cs typeface="Times New Roman" panose="02020603050405020304" pitchFamily="18" charset="0"/>
              </a:rPr>
              <a:t>independent variables</a:t>
            </a:r>
            <a:r>
              <a:rPr lang="en-US" sz="2600" dirty="0">
                <a:latin typeface="Times New Roman" panose="02020603050405020304" pitchFamily="18" charset="0"/>
                <a:cs typeface="Times New Roman" panose="02020603050405020304" pitchFamily="18" charset="0"/>
              </a:rPr>
              <a:t>) and those that are measured (the </a:t>
            </a:r>
            <a:r>
              <a:rPr lang="en-US" sz="2600" b="1" dirty="0">
                <a:latin typeface="Times New Roman" panose="02020603050405020304" pitchFamily="18" charset="0"/>
                <a:cs typeface="Times New Roman" panose="02020603050405020304" pitchFamily="18" charset="0"/>
              </a:rPr>
              <a:t>dependent variables</a:t>
            </a:r>
            <a:r>
              <a:rPr lang="en-US" sz="2600" dirty="0">
                <a:latin typeface="Times New Roman" panose="02020603050405020304" pitchFamily="18" charset="0"/>
                <a:cs typeface="Times New Roman" panose="02020603050405020304" pitchFamily="18" charset="0"/>
              </a:rPr>
              <a:t>).</a:t>
            </a:r>
          </a:p>
          <a:p>
            <a:pPr marL="0" indent="0" algn="ctr">
              <a:buFont typeface="Arial" panose="020B0604020202020204" pitchFamily="34" charset="0"/>
              <a:buNone/>
              <a:defRPr/>
            </a:pPr>
            <a:r>
              <a:rPr lang="en-US" sz="2600" b="1" dirty="0">
                <a:latin typeface="Times New Roman" panose="02020603050405020304" pitchFamily="18" charset="0"/>
                <a:cs typeface="Times New Roman" panose="02020603050405020304" pitchFamily="18" charset="0"/>
              </a:rPr>
              <a:t>Example</a:t>
            </a:r>
          </a:p>
          <a:p>
            <a:pPr marL="342900" lvl="1" indent="0">
              <a:buFont typeface="Arial" panose="020B0604020202020204" pitchFamily="34" charset="0"/>
              <a:buNone/>
              <a:defRPr/>
            </a:pPr>
            <a:r>
              <a:rPr lang="en-US" sz="2600" dirty="0">
                <a:solidFill>
                  <a:srgbClr val="00B050"/>
                </a:solidFill>
                <a:latin typeface="Times New Roman" panose="02020603050405020304" pitchFamily="18" charset="0"/>
                <a:cs typeface="Times New Roman" panose="02020603050405020304" pitchFamily="18" charset="0"/>
              </a:rPr>
              <a:t>An experiment wants to test whether search speed improves as the number of menu items decreases </a:t>
            </a:r>
          </a:p>
          <a:p>
            <a:pPr lvl="2">
              <a:lnSpc>
                <a:spcPct val="100000"/>
              </a:lnSpc>
              <a:defRPr/>
            </a:pPr>
            <a:r>
              <a:rPr lang="en-US" sz="2600" b="1" dirty="0">
                <a:latin typeface="Times New Roman" panose="02020603050405020304" pitchFamily="18" charset="0"/>
                <a:cs typeface="Times New Roman" panose="02020603050405020304" pitchFamily="18" charset="0"/>
              </a:rPr>
              <a:t>Dependent variables</a:t>
            </a:r>
            <a:r>
              <a:rPr lang="en-US" sz="2600" dirty="0">
                <a:latin typeface="Times New Roman" panose="02020603050405020304" pitchFamily="18" charset="0"/>
                <a:cs typeface="Times New Roman" panose="02020603050405020304" pitchFamily="18" charset="0"/>
              </a:rPr>
              <a:t>: search speed</a:t>
            </a:r>
          </a:p>
          <a:p>
            <a:pPr lvl="2">
              <a:lnSpc>
                <a:spcPct val="100000"/>
              </a:lnSpc>
              <a:defRPr/>
            </a:pPr>
            <a:r>
              <a:rPr lang="en-US" sz="2600" b="1" dirty="0">
                <a:latin typeface="Times New Roman" panose="02020603050405020304" pitchFamily="18" charset="0"/>
                <a:cs typeface="Times New Roman" panose="02020603050405020304" pitchFamily="18" charset="0"/>
              </a:rPr>
              <a:t>Independent variables</a:t>
            </a:r>
            <a:r>
              <a:rPr lang="en-US" sz="2600" dirty="0">
                <a:latin typeface="Times New Roman" panose="02020603050405020304" pitchFamily="18" charset="0"/>
                <a:cs typeface="Times New Roman" panose="02020603050405020304" pitchFamily="18" charset="0"/>
              </a:rPr>
              <a:t>: number of menu items (we may consider menus with five, seven, and ten items)</a:t>
            </a:r>
          </a:p>
        </p:txBody>
      </p:sp>
      <p:sp>
        <p:nvSpPr>
          <p:cNvPr id="48132"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CD0525C-B6CB-4274-9F71-1516947DF817}" type="slidenum">
              <a:rPr lang="en-GB" altLang="en-US">
                <a:solidFill>
                  <a:srgbClr val="FFC551"/>
                </a:solidFill>
                <a:latin typeface="Century Gothic" panose="020B0502020202020204" pitchFamily="34" charset="0"/>
              </a:rPr>
              <a:pPr/>
              <a:t>40</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26073693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15360" t="25025" r="36332" b="17694"/>
          <a:stretch/>
        </p:blipFill>
        <p:spPr>
          <a:xfrm>
            <a:off x="551383" y="287338"/>
            <a:ext cx="10661129" cy="6233236"/>
          </a:xfrm>
          <a:prstGeom prst="rect">
            <a:avLst/>
          </a:prstGeom>
        </p:spPr>
      </p:pic>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41</a:t>
            </a:fld>
            <a:endParaRPr lang="en-GB" altLang="en-US"/>
          </a:p>
        </p:txBody>
      </p:sp>
    </p:spTree>
    <p:extLst>
      <p:ext uri="{BB962C8B-B14F-4D97-AF65-F5344CB8AC3E}">
        <p14:creationId xmlns:p14="http://schemas.microsoft.com/office/powerpoint/2010/main" val="33925187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15360" t="25025" r="36332" b="14114"/>
          <a:stretch/>
        </p:blipFill>
        <p:spPr>
          <a:xfrm>
            <a:off x="551384" y="253414"/>
            <a:ext cx="10661129" cy="5983898"/>
          </a:xfrm>
          <a:prstGeom prst="rect">
            <a:avLst/>
          </a:prstGeom>
        </p:spPr>
      </p:pic>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42</a:t>
            </a:fld>
            <a:endParaRPr lang="en-GB" altLang="en-US"/>
          </a:p>
        </p:txBody>
      </p:sp>
    </p:spTree>
    <p:extLst>
      <p:ext uri="{BB962C8B-B14F-4D97-AF65-F5344CB8AC3E}">
        <p14:creationId xmlns:p14="http://schemas.microsoft.com/office/powerpoint/2010/main" val="2824516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algn="ctr"/>
            <a:r>
              <a:rPr lang="en-US" altLang="en-US" dirty="0">
                <a:latin typeface="Times New Roman" panose="02020603050405020304" pitchFamily="18" charset="0"/>
                <a:cs typeface="Times New Roman" panose="02020603050405020304" pitchFamily="18" charset="0"/>
              </a:rPr>
              <a:t>Hypotheses</a:t>
            </a: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p:txBody>
      </p:sp>
      <p:sp>
        <p:nvSpPr>
          <p:cNvPr id="49155" name="Content Placeholder 2"/>
          <p:cNvSpPr>
            <a:spLocks noGrp="1"/>
          </p:cNvSpPr>
          <p:nvPr>
            <p:ph idx="1"/>
          </p:nvPr>
        </p:nvSpPr>
        <p:spPr>
          <a:xfrm>
            <a:off x="838200" y="2492375"/>
            <a:ext cx="10515600" cy="3684588"/>
          </a:xfrm>
        </p:spPr>
        <p:txBody>
          <a:bodyPr/>
          <a:lstStyle/>
          <a:p>
            <a:r>
              <a:rPr lang="en-US" altLang="en-US" sz="2600" dirty="0">
                <a:latin typeface="Times New Roman" panose="02020603050405020304" pitchFamily="18" charset="0"/>
                <a:cs typeface="Times New Roman" panose="02020603050405020304" pitchFamily="18" charset="0"/>
              </a:rPr>
              <a:t>A hypothesis is a prediction of the outcome of an experiment.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It is framed in terms of the independent and dependent variables, stating that a variation in the independent variable will cause a difference in the dependent variable.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The aim of the experiment is to show that this prediction is correct.</a:t>
            </a:r>
          </a:p>
        </p:txBody>
      </p:sp>
      <p:sp>
        <p:nvSpPr>
          <p:cNvPr id="4915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503E0A0-0685-4603-9983-7C746AC0B8AE}" type="slidenum">
              <a:rPr lang="en-GB" altLang="en-US">
                <a:solidFill>
                  <a:srgbClr val="FFC551"/>
                </a:solidFill>
                <a:latin typeface="Century Gothic" panose="020B0502020202020204" pitchFamily="34" charset="0"/>
              </a:rPr>
              <a:pPr/>
              <a:t>43</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24631356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pPr algn="ctr"/>
            <a:r>
              <a:rPr lang="en-US" altLang="en-US" dirty="0">
                <a:latin typeface="Times New Roman" panose="02020603050405020304" pitchFamily="18" charset="0"/>
                <a:cs typeface="Times New Roman" panose="02020603050405020304" pitchFamily="18" charset="0"/>
              </a:rPr>
              <a:t>Experimental design</a:t>
            </a:r>
          </a:p>
        </p:txBody>
      </p:sp>
      <p:sp>
        <p:nvSpPr>
          <p:cNvPr id="50179" name="Content Placeholder 2"/>
          <p:cNvSpPr>
            <a:spLocks noGrp="1"/>
          </p:cNvSpPr>
          <p:nvPr>
            <p:ph idx="1"/>
          </p:nvPr>
        </p:nvSpPr>
        <p:spPr>
          <a:xfrm>
            <a:off x="407988" y="2420938"/>
            <a:ext cx="11376025" cy="4321175"/>
          </a:xfrm>
        </p:spPr>
        <p:txBody>
          <a:bodyPr/>
          <a:lstStyle/>
          <a:p>
            <a:r>
              <a:rPr lang="en-US" altLang="en-US" sz="2600" dirty="0">
                <a:latin typeface="Times New Roman" panose="02020603050405020304" pitchFamily="18" charset="0"/>
                <a:cs typeface="Times New Roman" panose="02020603050405020304" pitchFamily="18" charset="0"/>
              </a:rPr>
              <a:t>In order to produce reliable and generalizable results, an experiment must be carefully designed</a:t>
            </a:r>
          </a:p>
          <a:p>
            <a:endParaRPr lang="en-US" altLang="en-US" sz="2600" dirty="0">
              <a:latin typeface="Times New Roman" panose="02020603050405020304" pitchFamily="18" charset="0"/>
              <a:cs typeface="Times New Roman" panose="02020603050405020304" pitchFamily="18" charset="0"/>
            </a:endParaRP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You need to decide on the </a:t>
            </a:r>
            <a:r>
              <a:rPr lang="en-US" altLang="en-US" sz="2600" b="1" i="1" dirty="0">
                <a:latin typeface="Times New Roman" panose="02020603050405020304" pitchFamily="18" charset="0"/>
                <a:cs typeface="Times New Roman" panose="02020603050405020304" pitchFamily="18" charset="0"/>
              </a:rPr>
              <a:t>experimental method </a:t>
            </a:r>
            <a:r>
              <a:rPr lang="en-US" altLang="en-US" sz="2600" dirty="0">
                <a:latin typeface="Times New Roman" panose="02020603050405020304" pitchFamily="18" charset="0"/>
                <a:cs typeface="Times New Roman" panose="02020603050405020304" pitchFamily="18" charset="0"/>
              </a:rPr>
              <a:t>that you will use. </a:t>
            </a:r>
          </a:p>
          <a:p>
            <a:endParaRPr lang="en-US"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There are two main methods: </a:t>
            </a:r>
            <a:r>
              <a:rPr lang="en-US" altLang="en-US" sz="2600" b="1" i="1" dirty="0">
                <a:latin typeface="Times New Roman" panose="02020603050405020304" pitchFamily="18" charset="0"/>
                <a:cs typeface="Times New Roman" panose="02020603050405020304" pitchFamily="18" charset="0"/>
              </a:rPr>
              <a:t>between-subjects (between groups) </a:t>
            </a:r>
            <a:r>
              <a:rPr lang="en-US" altLang="en-US" sz="2600" b="1" dirty="0">
                <a:latin typeface="Times New Roman" panose="02020603050405020304" pitchFamily="18" charset="0"/>
                <a:cs typeface="Times New Roman" panose="02020603050405020304" pitchFamily="18" charset="0"/>
              </a:rPr>
              <a:t>and </a:t>
            </a:r>
            <a:r>
              <a:rPr lang="en-US" altLang="en-US" sz="2600" b="1" i="1" dirty="0">
                <a:latin typeface="Times New Roman" panose="02020603050405020304" pitchFamily="18" charset="0"/>
                <a:cs typeface="Times New Roman" panose="02020603050405020304" pitchFamily="18" charset="0"/>
              </a:rPr>
              <a:t>within-subjects</a:t>
            </a:r>
            <a:r>
              <a:rPr lang="en-US" altLang="en-US" sz="2600" b="1" dirty="0">
                <a:latin typeface="Times New Roman" panose="02020603050405020304" pitchFamily="18" charset="0"/>
                <a:cs typeface="Times New Roman" panose="02020603050405020304" pitchFamily="18" charset="0"/>
              </a:rPr>
              <a:t>. </a:t>
            </a:r>
          </a:p>
          <a:p>
            <a:endParaRPr lang="en-US" altLang="en-US" sz="2600" b="1" dirty="0">
              <a:latin typeface="Times New Roman" panose="02020603050405020304" pitchFamily="18" charset="0"/>
              <a:cs typeface="Times New Roman" panose="02020603050405020304" pitchFamily="18" charset="0"/>
            </a:endParaRPr>
          </a:p>
        </p:txBody>
      </p:sp>
      <p:sp>
        <p:nvSpPr>
          <p:cNvPr id="5018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2AEA877-9F5F-4CAA-9CF9-BFD5EEFF76CD}" type="slidenum">
              <a:rPr lang="en-GB" altLang="en-US">
                <a:solidFill>
                  <a:srgbClr val="FFC551"/>
                </a:solidFill>
                <a:latin typeface="Century Gothic" panose="020B0502020202020204" pitchFamily="34" charset="0"/>
              </a:rPr>
              <a:pPr/>
              <a:t>44</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24070160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algn="ctr"/>
            <a:r>
              <a:rPr lang="en-US" altLang="en-US" sz="2000" dirty="0">
                <a:latin typeface="Times New Roman" panose="02020603050405020304" pitchFamily="18" charset="0"/>
                <a:cs typeface="Times New Roman" panose="02020603050405020304" pitchFamily="18" charset="0"/>
              </a:rPr>
              <a:t>Experimental design</a:t>
            </a:r>
            <a:r>
              <a:rPr lang="en-US" altLang="en-US" dirty="0">
                <a:latin typeface="Times New Roman" panose="02020603050405020304" pitchFamily="18" charset="0"/>
                <a:cs typeface="Times New Roman" panose="02020603050405020304" pitchFamily="18" charset="0"/>
              </a:rPr>
              <a:t>: Between-subjects</a:t>
            </a:r>
          </a:p>
        </p:txBody>
      </p:sp>
      <p:sp>
        <p:nvSpPr>
          <p:cNvPr id="51203" name="Content Placeholder 2"/>
          <p:cNvSpPr>
            <a:spLocks noGrp="1"/>
          </p:cNvSpPr>
          <p:nvPr>
            <p:ph idx="1"/>
          </p:nvPr>
        </p:nvSpPr>
        <p:spPr>
          <a:xfrm>
            <a:off x="479376" y="1846263"/>
            <a:ext cx="10675987" cy="4319041"/>
          </a:xfrm>
        </p:spPr>
        <p:txBody>
          <a:bodyPr/>
          <a:lstStyle/>
          <a:p>
            <a:r>
              <a:rPr lang="en-US" altLang="en-US" sz="2600" dirty="0">
                <a:latin typeface="Times New Roman" panose="02020603050405020304" pitchFamily="18" charset="0"/>
                <a:cs typeface="Times New Roman" panose="02020603050405020304" pitchFamily="18" charset="0"/>
              </a:rPr>
              <a:t>In a between-subjects (or </a:t>
            </a:r>
            <a:r>
              <a:rPr lang="en-US" altLang="en-US" sz="2600" i="1" dirty="0">
                <a:latin typeface="Times New Roman" panose="02020603050405020304" pitchFamily="18" charset="0"/>
                <a:cs typeface="Times New Roman" panose="02020603050405020304" pitchFamily="18" charset="0"/>
              </a:rPr>
              <a:t>randomized</a:t>
            </a:r>
            <a:r>
              <a:rPr lang="en-US" altLang="en-US" sz="2600" dirty="0">
                <a:latin typeface="Times New Roman" panose="02020603050405020304" pitchFamily="18" charset="0"/>
                <a:cs typeface="Times New Roman" panose="02020603050405020304" pitchFamily="18" charset="0"/>
              </a:rPr>
              <a:t>) design, each participant is assigned to a </a:t>
            </a:r>
            <a:r>
              <a:rPr lang="en-US" altLang="en-US" sz="2600" b="1" dirty="0">
                <a:latin typeface="Times New Roman" panose="02020603050405020304" pitchFamily="18" charset="0"/>
                <a:cs typeface="Times New Roman" panose="02020603050405020304" pitchFamily="18" charset="0"/>
              </a:rPr>
              <a:t>different</a:t>
            </a:r>
            <a:r>
              <a:rPr lang="en-US" altLang="en-US" sz="2600" dirty="0">
                <a:latin typeface="Times New Roman" panose="02020603050405020304" pitchFamily="18" charset="0"/>
                <a:cs typeface="Times New Roman" panose="02020603050405020304" pitchFamily="18" charset="0"/>
              </a:rPr>
              <a:t> condition. </a:t>
            </a:r>
          </a:p>
          <a:p>
            <a:endParaRPr lang="en-US" altLang="en-US" sz="2600" dirty="0">
              <a:latin typeface="Times New Roman" panose="02020603050405020304" pitchFamily="18" charset="0"/>
              <a:cs typeface="Times New Roman" panose="02020603050405020304" pitchFamily="18" charset="0"/>
            </a:endParaRPr>
          </a:p>
          <a:p>
            <a:r>
              <a:rPr lang="en-US" altLang="en-US" sz="2600" b="1" dirty="0">
                <a:solidFill>
                  <a:srgbClr val="00B050"/>
                </a:solidFill>
                <a:latin typeface="Times New Roman" panose="02020603050405020304" pitchFamily="18" charset="0"/>
                <a:cs typeface="Times New Roman" panose="02020603050405020304" pitchFamily="18" charset="0"/>
              </a:rPr>
              <a:t>There are at least two conditions: the experimental condition (in which the variable has been manipulated) and the control, which is identical to the experimental condition except for this manipulation.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This control serves to ensure that it is the manipulation that is responsible for any differences that are measured.</a:t>
            </a:r>
          </a:p>
          <a:p>
            <a:endParaRPr lang="en-US" altLang="en-US" sz="2600" dirty="0"/>
          </a:p>
        </p:txBody>
      </p:sp>
      <p:sp>
        <p:nvSpPr>
          <p:cNvPr id="51204"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6C63145-A9BD-4CD6-B457-48D6621A0CAF}" type="slidenum">
              <a:rPr lang="en-GB" altLang="en-US">
                <a:solidFill>
                  <a:srgbClr val="FFC551"/>
                </a:solidFill>
                <a:latin typeface="Century Gothic" panose="020B0502020202020204" pitchFamily="34" charset="0"/>
              </a:rPr>
              <a:pPr/>
              <a:t>45</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35318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US"/>
          </a:p>
        </p:txBody>
      </p:sp>
      <p:sp>
        <p:nvSpPr>
          <p:cNvPr id="5" name="Rectangle 1"/>
          <p:cNvSpPr>
            <a:spLocks noGrp="1" noChangeArrowheads="1"/>
          </p:cNvSpPr>
          <p:nvPr>
            <p:ph idx="1"/>
          </p:nvPr>
        </p:nvSpPr>
        <p:spPr bwMode="auto">
          <a:xfrm>
            <a:off x="1096963" y="2211023"/>
            <a:ext cx="1005840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Between-subjects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between-groups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study design: different people test each condition, so that each person is only exposed to a single user interface.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6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Within-subjects (or repeated-measures) </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study design: the same person tests all the conditions (i.e., all the user interfaces) </a:t>
            </a: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46</a:t>
            </a:fld>
            <a:endParaRPr lang="en-GB" altLang="en-US"/>
          </a:p>
        </p:txBody>
      </p:sp>
    </p:spTree>
    <p:extLst>
      <p:ext uri="{BB962C8B-B14F-4D97-AF65-F5344CB8AC3E}">
        <p14:creationId xmlns:p14="http://schemas.microsoft.com/office/powerpoint/2010/main" val="2302942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Case study: Within subjects and between subjects</a:t>
            </a:r>
          </a:p>
        </p:txBody>
      </p:sp>
      <p:sp>
        <p:nvSpPr>
          <p:cNvPr id="5" name="Slide Number Placeholder 4"/>
          <p:cNvSpPr>
            <a:spLocks noGrp="1"/>
          </p:cNvSpPr>
          <p:nvPr>
            <p:ph type="sldNum" sz="quarter" idx="12"/>
          </p:nvPr>
        </p:nvSpPr>
        <p:spPr/>
        <p:txBody>
          <a:bodyPr/>
          <a:lstStyle/>
          <a:p>
            <a:pPr>
              <a:defRPr/>
            </a:pPr>
            <a:fld id="{83D530C7-866A-4E32-9D84-AC8AA2B72CFB}" type="slidenum">
              <a:rPr lang="en-GB" altLang="en-US" smtClean="0"/>
              <a:pPr>
                <a:defRPr/>
              </a:pPr>
              <a:t>47</a:t>
            </a:fld>
            <a:endParaRPr lang="en-GB" altLang="en-US"/>
          </a:p>
        </p:txBody>
      </p:sp>
      <p:pic>
        <p:nvPicPr>
          <p:cNvPr id="8" name="Content Placeholder 7"/>
          <p:cNvPicPr>
            <a:picLocks noGrp="1" noChangeAspect="1"/>
          </p:cNvPicPr>
          <p:nvPr>
            <p:ph idx="1"/>
          </p:nvPr>
        </p:nvPicPr>
        <p:blipFill rotWithShape="1">
          <a:blip r:embed="rId2"/>
          <a:srcRect l="25236" t="37153" r="381" b="29124"/>
          <a:stretch/>
        </p:blipFill>
        <p:spPr>
          <a:xfrm>
            <a:off x="263352" y="1736725"/>
            <a:ext cx="10701853" cy="4500587"/>
          </a:xfrm>
          <a:prstGeom prst="rect">
            <a:avLst/>
          </a:prstGeom>
        </p:spPr>
      </p:pic>
    </p:spTree>
    <p:extLst>
      <p:ext uri="{BB962C8B-B14F-4D97-AF65-F5344CB8AC3E}">
        <p14:creationId xmlns:p14="http://schemas.microsoft.com/office/powerpoint/2010/main" val="27239686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normAutofit/>
          </a:bodyPr>
          <a:lstStyle/>
          <a:p>
            <a:r>
              <a:rPr lang="en-US" altLang="en-US" dirty="0">
                <a:latin typeface="Times New Roman" panose="02020603050405020304" pitchFamily="18" charset="0"/>
                <a:cs typeface="Times New Roman" panose="02020603050405020304" pitchFamily="18" charset="0"/>
              </a:rPr>
              <a:t>Advantages and Disadvantages of Between-subjects experimental design</a:t>
            </a:r>
          </a:p>
        </p:txBody>
      </p:sp>
      <p:sp>
        <p:nvSpPr>
          <p:cNvPr id="52227" name="Content Placeholder 2"/>
          <p:cNvSpPr>
            <a:spLocks noGrp="1"/>
          </p:cNvSpPr>
          <p:nvPr>
            <p:ph idx="1"/>
          </p:nvPr>
        </p:nvSpPr>
        <p:spPr>
          <a:xfrm>
            <a:off x="1096962" y="1846263"/>
            <a:ext cx="10687669" cy="4391049"/>
          </a:xfrm>
        </p:spPr>
        <p:txBody>
          <a:bodyPr/>
          <a:lstStyle/>
          <a:p>
            <a:r>
              <a:rPr lang="en-US" altLang="en-US" sz="2600" dirty="0">
                <a:latin typeface="Times New Roman" panose="02020603050405020304" pitchFamily="18" charset="0"/>
                <a:cs typeface="Times New Roman" panose="02020603050405020304" pitchFamily="18" charset="0"/>
              </a:rPr>
              <a:t>The </a:t>
            </a:r>
            <a:r>
              <a:rPr lang="en-US" altLang="en-US" sz="2600" b="1" dirty="0">
                <a:latin typeface="Times New Roman" panose="02020603050405020304" pitchFamily="18" charset="0"/>
                <a:cs typeface="Times New Roman" panose="02020603050405020304" pitchFamily="18" charset="0"/>
              </a:rPr>
              <a:t>advantage</a:t>
            </a:r>
            <a:r>
              <a:rPr lang="en-US" altLang="en-US" sz="2600" dirty="0">
                <a:latin typeface="Times New Roman" panose="02020603050405020304" pitchFamily="18" charset="0"/>
                <a:cs typeface="Times New Roman" panose="02020603050405020304" pitchFamily="18" charset="0"/>
              </a:rPr>
              <a:t> of a between-subjects design is that </a:t>
            </a:r>
            <a:r>
              <a:rPr lang="en-US" altLang="en-US" sz="2600" b="1" dirty="0">
                <a:latin typeface="Times New Roman" panose="02020603050405020304" pitchFamily="18" charset="0"/>
                <a:cs typeface="Times New Roman" panose="02020603050405020304" pitchFamily="18" charset="0"/>
              </a:rPr>
              <a:t>any learning effect</a:t>
            </a:r>
            <a:r>
              <a:rPr lang="en-US" altLang="en-US" sz="2600" dirty="0">
                <a:latin typeface="Times New Roman" panose="02020603050405020304" pitchFamily="18" charset="0"/>
                <a:cs typeface="Times New Roman" panose="02020603050405020304" pitchFamily="18" charset="0"/>
              </a:rPr>
              <a:t> resulting from the user performing in one condition and then the other is </a:t>
            </a:r>
            <a:r>
              <a:rPr lang="en-US" altLang="en-US" sz="2600" b="1" dirty="0">
                <a:latin typeface="Times New Roman" panose="02020603050405020304" pitchFamily="18" charset="0"/>
                <a:cs typeface="Times New Roman" panose="02020603050405020304" pitchFamily="18" charset="0"/>
              </a:rPr>
              <a:t>controlled</a:t>
            </a:r>
            <a:r>
              <a:rPr lang="en-US" altLang="en-US" sz="2600" dirty="0">
                <a:latin typeface="Times New Roman" panose="02020603050405020304" pitchFamily="18" charset="0"/>
                <a:cs typeface="Times New Roman" panose="02020603050405020304" pitchFamily="18" charset="0"/>
              </a:rPr>
              <a:t>: each user performs under only one condition. </a:t>
            </a:r>
          </a:p>
          <a:p>
            <a:r>
              <a:rPr lang="en-US" altLang="en-US" sz="2600" dirty="0">
                <a:latin typeface="Times New Roman" panose="02020603050405020304" pitchFamily="18" charset="0"/>
                <a:cs typeface="Times New Roman" panose="02020603050405020304" pitchFamily="18" charset="0"/>
              </a:rPr>
              <a:t>The </a:t>
            </a:r>
            <a:r>
              <a:rPr lang="en-US" altLang="en-US" sz="2600" b="1" dirty="0">
                <a:latin typeface="Times New Roman" panose="02020603050405020304" pitchFamily="18" charset="0"/>
                <a:cs typeface="Times New Roman" panose="02020603050405020304" pitchFamily="18" charset="0"/>
              </a:rPr>
              <a:t>disadvantages</a:t>
            </a:r>
            <a:r>
              <a:rPr lang="en-US" altLang="en-US" sz="2600" dirty="0">
                <a:latin typeface="Times New Roman" panose="02020603050405020304" pitchFamily="18" charset="0"/>
                <a:cs typeface="Times New Roman" panose="02020603050405020304" pitchFamily="18" charset="0"/>
              </a:rPr>
              <a:t> are that a greater number of participants are required, and that </a:t>
            </a:r>
            <a:r>
              <a:rPr lang="en-US" altLang="en-US" sz="2600" dirty="0">
                <a:solidFill>
                  <a:srgbClr val="FF0000"/>
                </a:solidFill>
                <a:latin typeface="Times New Roman" panose="02020603050405020304" pitchFamily="18" charset="0"/>
                <a:cs typeface="Times New Roman" panose="02020603050405020304" pitchFamily="18" charset="0"/>
              </a:rPr>
              <a:t>significant variation between the groups can negate any results</a:t>
            </a:r>
            <a:r>
              <a:rPr lang="en-US" altLang="en-US" sz="2600" dirty="0">
                <a:latin typeface="Times New Roman" panose="02020603050405020304" pitchFamily="18" charset="0"/>
                <a:cs typeface="Times New Roman" panose="02020603050405020304" pitchFamily="18" charset="0"/>
              </a:rPr>
              <a:t>. </a:t>
            </a:r>
          </a:p>
          <a:p>
            <a:endParaRPr lang="en-US" altLang="en-US" sz="2600" dirty="0">
              <a:latin typeface="Times New Roman" panose="02020603050405020304" pitchFamily="18" charset="0"/>
              <a:cs typeface="Times New Roman" panose="02020603050405020304" pitchFamily="18" charset="0"/>
            </a:endParaRPr>
          </a:p>
          <a:p>
            <a:pPr lvl="1"/>
            <a:r>
              <a:rPr lang="en-US" altLang="en-US" sz="2600" dirty="0">
                <a:latin typeface="Times New Roman" panose="02020603050405020304" pitchFamily="18" charset="0"/>
                <a:cs typeface="Times New Roman" panose="02020603050405020304" pitchFamily="18" charset="0"/>
              </a:rPr>
              <a:t>Also, individual differences between users can bias the results. </a:t>
            </a:r>
          </a:p>
          <a:p>
            <a:pPr lvl="1"/>
            <a:r>
              <a:rPr lang="en-US" altLang="en-US" sz="2600" dirty="0">
                <a:solidFill>
                  <a:srgbClr val="00B050"/>
                </a:solidFill>
                <a:latin typeface="Times New Roman" panose="02020603050405020304" pitchFamily="18" charset="0"/>
                <a:cs typeface="Times New Roman" panose="02020603050405020304" pitchFamily="18" charset="0"/>
              </a:rPr>
              <a:t>These problems can be handled by a careful selection of participants, ensuring that all are representative of the population and by matching participants between groups.</a:t>
            </a:r>
          </a:p>
        </p:txBody>
      </p:sp>
      <p:sp>
        <p:nvSpPr>
          <p:cNvPr id="52228"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3D68D39-189F-4F02-BFCD-89B5D7777B9C}" type="slidenum">
              <a:rPr lang="en-GB" altLang="en-US">
                <a:solidFill>
                  <a:srgbClr val="FFC551"/>
                </a:solidFill>
                <a:latin typeface="Century Gothic" panose="020B0502020202020204" pitchFamily="34" charset="0"/>
              </a:rPr>
              <a:pPr/>
              <a:t>48</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39507753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algn="ctr"/>
            <a:r>
              <a:rPr lang="en-US" altLang="en-US" sz="2000" dirty="0">
                <a:latin typeface="Times New Roman" panose="02020603050405020304" pitchFamily="18" charset="0"/>
                <a:cs typeface="Times New Roman" panose="02020603050405020304" pitchFamily="18" charset="0"/>
              </a:rPr>
              <a:t>Experimental design</a:t>
            </a:r>
            <a:r>
              <a:rPr lang="en-US" altLang="en-US" dirty="0">
                <a:latin typeface="Times New Roman" panose="02020603050405020304" pitchFamily="18" charset="0"/>
                <a:cs typeface="Times New Roman" panose="02020603050405020304" pitchFamily="18" charset="0"/>
              </a:rPr>
              <a:t>: Within-subjects</a:t>
            </a:r>
          </a:p>
        </p:txBody>
      </p:sp>
      <p:sp>
        <p:nvSpPr>
          <p:cNvPr id="53251" name="Content Placeholder 2"/>
          <p:cNvSpPr>
            <a:spLocks noGrp="1"/>
          </p:cNvSpPr>
          <p:nvPr>
            <p:ph idx="1"/>
          </p:nvPr>
        </p:nvSpPr>
        <p:spPr>
          <a:xfrm>
            <a:off x="838200" y="1825625"/>
            <a:ext cx="11018838" cy="4772025"/>
          </a:xfrm>
        </p:spPr>
        <p:txBody>
          <a:bodyPr/>
          <a:lstStyle/>
          <a:p>
            <a:r>
              <a:rPr lang="en-US" altLang="en-US" sz="2600" dirty="0">
                <a:latin typeface="Times New Roman" panose="02020603050405020304" pitchFamily="18" charset="0"/>
                <a:cs typeface="Times New Roman" panose="02020603050405020304" pitchFamily="18" charset="0"/>
              </a:rPr>
              <a:t>The second experimental design is within-subjects (or </a:t>
            </a:r>
            <a:r>
              <a:rPr lang="en-US" altLang="en-US" sz="2600" i="1" dirty="0">
                <a:latin typeface="Times New Roman" panose="02020603050405020304" pitchFamily="18" charset="0"/>
                <a:cs typeface="Times New Roman" panose="02020603050405020304" pitchFamily="18" charset="0"/>
              </a:rPr>
              <a:t>repeated measures</a:t>
            </a:r>
            <a:r>
              <a:rPr lang="en-US" altLang="en-US" sz="2600" dirty="0">
                <a:latin typeface="Times New Roman" panose="02020603050405020304" pitchFamily="18" charset="0"/>
                <a:cs typeface="Times New Roman" panose="02020603050405020304" pitchFamily="18" charset="0"/>
              </a:rPr>
              <a:t>). </a:t>
            </a:r>
          </a:p>
          <a:p>
            <a:r>
              <a:rPr lang="en-US" altLang="en-US" sz="2600" b="1" dirty="0">
                <a:latin typeface="Times New Roman" panose="02020603050405020304" pitchFamily="18" charset="0"/>
                <a:cs typeface="Times New Roman" panose="02020603050405020304" pitchFamily="18" charset="0"/>
              </a:rPr>
              <a:t>Here each user performs under each different condition.</a:t>
            </a:r>
          </a:p>
          <a:p>
            <a:r>
              <a:rPr lang="en-US" altLang="en-US" sz="2600" b="1" dirty="0">
                <a:latin typeface="Times New Roman" panose="02020603050405020304" pitchFamily="18" charset="0"/>
                <a:cs typeface="Times New Roman" panose="02020603050405020304" pitchFamily="18" charset="0"/>
              </a:rPr>
              <a:t> </a:t>
            </a:r>
            <a:r>
              <a:rPr lang="en-US" altLang="en-US" sz="2600" b="1" dirty="0">
                <a:solidFill>
                  <a:srgbClr val="FF0000"/>
                </a:solidFill>
                <a:latin typeface="Times New Roman" panose="02020603050405020304" pitchFamily="18" charset="0"/>
                <a:cs typeface="Times New Roman" panose="02020603050405020304" pitchFamily="18" charset="0"/>
              </a:rPr>
              <a:t>This design can suffer from transfer of learning effects, </a:t>
            </a:r>
          </a:p>
          <a:p>
            <a:pPr lvl="1"/>
            <a:r>
              <a:rPr lang="en-US" altLang="en-US" sz="2600" dirty="0">
                <a:latin typeface="Times New Roman" panose="02020603050405020304" pitchFamily="18" charset="0"/>
                <a:cs typeface="Times New Roman" panose="02020603050405020304" pitchFamily="18" charset="0"/>
              </a:rPr>
              <a:t>but this can be lessened if the order in which the conditions are tackled is varied between users, for example, group A do first condition followed by second and group B do second condition followed by first. </a:t>
            </a:r>
          </a:p>
          <a:p>
            <a:r>
              <a:rPr lang="en-US" altLang="en-US" sz="2600" b="1" dirty="0">
                <a:solidFill>
                  <a:srgbClr val="00B050"/>
                </a:solidFill>
                <a:latin typeface="Times New Roman" panose="02020603050405020304" pitchFamily="18" charset="0"/>
                <a:cs typeface="Times New Roman" panose="02020603050405020304" pitchFamily="18" charset="0"/>
              </a:rPr>
              <a:t>Within-subjects is less costly than between-subjects, </a:t>
            </a:r>
            <a:r>
              <a:rPr lang="en-US" altLang="en-US" sz="2600" dirty="0">
                <a:latin typeface="Times New Roman" panose="02020603050405020304" pitchFamily="18" charset="0"/>
                <a:cs typeface="Times New Roman" panose="02020603050405020304" pitchFamily="18" charset="0"/>
              </a:rPr>
              <a:t>since fewer users are required, and it can be particularly effective where learning is involved.</a:t>
            </a:r>
          </a:p>
          <a:p>
            <a:r>
              <a:rPr lang="en-US" altLang="en-US" sz="2600" dirty="0">
                <a:latin typeface="Times New Roman" panose="02020603050405020304" pitchFamily="18" charset="0"/>
                <a:cs typeface="Times New Roman" panose="02020603050405020304" pitchFamily="18" charset="0"/>
              </a:rPr>
              <a:t> There is also less chance of effects from variation between participants.</a:t>
            </a:r>
          </a:p>
        </p:txBody>
      </p:sp>
      <p:sp>
        <p:nvSpPr>
          <p:cNvPr id="53252"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AD078A8-CD63-4880-919D-E345383F6B3E}" type="slidenum">
              <a:rPr lang="en-GB" altLang="en-US">
                <a:solidFill>
                  <a:srgbClr val="FFC551"/>
                </a:solidFill>
                <a:latin typeface="Century Gothic" panose="020B0502020202020204" pitchFamily="34" charset="0"/>
              </a:rPr>
              <a:pPr/>
              <a:t>49</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3022068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Empirical research: Example 1</a:t>
            </a:r>
          </a:p>
        </p:txBody>
      </p:sp>
      <p:pic>
        <p:nvPicPr>
          <p:cNvPr id="5" name="Content Placeholder 4"/>
          <p:cNvPicPr>
            <a:picLocks noGrp="1" noChangeAspect="1"/>
          </p:cNvPicPr>
          <p:nvPr>
            <p:ph idx="1"/>
          </p:nvPr>
        </p:nvPicPr>
        <p:blipFill rotWithShape="1">
          <a:blip r:embed="rId2"/>
          <a:srcRect l="16367" t="35766" r="29287" b="10534"/>
          <a:stretch/>
        </p:blipFill>
        <p:spPr>
          <a:xfrm>
            <a:off x="1096963" y="1827888"/>
            <a:ext cx="10058400" cy="4193400"/>
          </a:xfrm>
          <a:prstGeom prst="rect">
            <a:avLst/>
          </a:prstGeom>
        </p:spPr>
      </p:pic>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50</a:t>
            </a:fld>
            <a:endParaRPr lang="en-GB" altLang="en-US"/>
          </a:p>
        </p:txBody>
      </p:sp>
      <p:sp>
        <p:nvSpPr>
          <p:cNvPr id="6" name="TextBox 5"/>
          <p:cNvSpPr txBox="1"/>
          <p:nvPr/>
        </p:nvSpPr>
        <p:spPr>
          <a:xfrm>
            <a:off x="1919536" y="6021288"/>
            <a:ext cx="6912768" cy="369332"/>
          </a:xfrm>
          <a:prstGeom prst="rect">
            <a:avLst/>
          </a:prstGeom>
          <a:noFill/>
        </p:spPr>
        <p:txBody>
          <a:bodyPr wrap="square" rtlCol="0">
            <a:spAutoFit/>
          </a:bodyPr>
          <a:lstStyle/>
          <a:p>
            <a:r>
              <a:rPr lang="en-US" dirty="0"/>
              <a:t>www.nixdell.com&gt;classes&gt;lecture16</a:t>
            </a:r>
          </a:p>
        </p:txBody>
      </p:sp>
    </p:spTree>
    <p:extLst>
      <p:ext uri="{BB962C8B-B14F-4D97-AF65-F5344CB8AC3E}">
        <p14:creationId xmlns:p14="http://schemas.microsoft.com/office/powerpoint/2010/main" val="8914423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Empirical research: Example 2</a:t>
            </a:r>
          </a:p>
        </p:txBody>
      </p:sp>
      <p:pic>
        <p:nvPicPr>
          <p:cNvPr id="5" name="Content Placeholder 4"/>
          <p:cNvPicPr>
            <a:picLocks noGrp="1" noChangeAspect="1"/>
          </p:cNvPicPr>
          <p:nvPr>
            <p:ph idx="1"/>
          </p:nvPr>
        </p:nvPicPr>
        <p:blipFill rotWithShape="1">
          <a:blip r:embed="rId2"/>
          <a:srcRect l="14355" t="37555" r="31178" b="14114"/>
          <a:stretch/>
        </p:blipFill>
        <p:spPr>
          <a:xfrm>
            <a:off x="551384" y="1924412"/>
            <a:ext cx="10513168" cy="4168884"/>
          </a:xfrm>
          <a:prstGeom prst="rect">
            <a:avLst/>
          </a:prstGeom>
        </p:spPr>
      </p:pic>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51</a:t>
            </a:fld>
            <a:endParaRPr lang="en-GB" altLang="en-US"/>
          </a:p>
        </p:txBody>
      </p:sp>
      <p:sp>
        <p:nvSpPr>
          <p:cNvPr id="8" name="TextBox 7"/>
          <p:cNvSpPr txBox="1"/>
          <p:nvPr/>
        </p:nvSpPr>
        <p:spPr>
          <a:xfrm>
            <a:off x="2351584" y="6093296"/>
            <a:ext cx="5256584" cy="369332"/>
          </a:xfrm>
          <a:prstGeom prst="rect">
            <a:avLst/>
          </a:prstGeom>
          <a:noFill/>
        </p:spPr>
        <p:txBody>
          <a:bodyPr wrap="square" rtlCol="0">
            <a:spAutoFit/>
          </a:bodyPr>
          <a:lstStyle/>
          <a:p>
            <a:r>
              <a:rPr lang="en-US" dirty="0"/>
              <a:t>www.nixdell.com&gt;classes&gt;lecture16</a:t>
            </a:r>
          </a:p>
        </p:txBody>
      </p:sp>
    </p:spTree>
    <p:extLst>
      <p:ext uri="{BB962C8B-B14F-4D97-AF65-F5344CB8AC3E}">
        <p14:creationId xmlns:p14="http://schemas.microsoft.com/office/powerpoint/2010/main" val="27026421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838200" y="788988"/>
            <a:ext cx="10515600" cy="552450"/>
          </a:xfrm>
        </p:spPr>
        <p:txBody>
          <a:bodyPr>
            <a:normAutofit fontScale="90000"/>
          </a:bodyPr>
          <a:lstStyle/>
          <a:p>
            <a:pPr algn="ctr"/>
            <a:r>
              <a:rPr lang="en-GB" altLang="en-US" sz="1800" dirty="0">
                <a:latin typeface="Times New Roman" panose="02020603050405020304" pitchFamily="18" charset="0"/>
                <a:cs typeface="Times New Roman" panose="02020603050405020304" pitchFamily="18" charset="0"/>
              </a:rPr>
              <a:t>Evaluation Through User Participation</a:t>
            </a:r>
            <a:r>
              <a:rPr lang="en-GB" altLang="en-US" sz="2800"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Observational techniques</a:t>
            </a:r>
          </a:p>
        </p:txBody>
      </p:sp>
      <p:sp>
        <p:nvSpPr>
          <p:cNvPr id="54275" name="Content Placeholder 2"/>
          <p:cNvSpPr>
            <a:spLocks noGrp="1"/>
          </p:cNvSpPr>
          <p:nvPr>
            <p:ph idx="1"/>
          </p:nvPr>
        </p:nvSpPr>
        <p:spPr>
          <a:xfrm>
            <a:off x="557213" y="1916832"/>
            <a:ext cx="11083925" cy="4752256"/>
          </a:xfrm>
        </p:spPr>
        <p:txBody>
          <a:bodyPr/>
          <a:lstStyle/>
          <a:p>
            <a:r>
              <a:rPr lang="en-US" altLang="en-US" sz="2600" dirty="0">
                <a:latin typeface="Times New Roman" panose="02020603050405020304" pitchFamily="18" charset="0"/>
                <a:cs typeface="Times New Roman" panose="02020603050405020304" pitchFamily="18" charset="0"/>
              </a:rPr>
              <a:t>A popular way to gather information about actual use of a system is to </a:t>
            </a:r>
            <a:r>
              <a:rPr lang="en-US" altLang="en-US" sz="2600" b="1" dirty="0">
                <a:latin typeface="Times New Roman" panose="02020603050405020304" pitchFamily="18" charset="0"/>
                <a:cs typeface="Times New Roman" panose="02020603050405020304" pitchFamily="18" charset="0"/>
              </a:rPr>
              <a:t>observe users interacting with it</a:t>
            </a:r>
            <a:r>
              <a:rPr lang="en-US" altLang="en-US" sz="2600" dirty="0">
                <a:latin typeface="Times New Roman" panose="02020603050405020304" pitchFamily="18" charset="0"/>
                <a:cs typeface="Times New Roman" panose="02020603050405020304" pitchFamily="18" charset="0"/>
              </a:rPr>
              <a:t>.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Usually they are asked to complete a set of predetermined tasks, although, if observation is being carried out in their place of work, they may be observed going about their normal duties. </a:t>
            </a:r>
          </a:p>
          <a:p>
            <a:endParaRPr lang="en-US" altLang="en-US" sz="2600" dirty="0">
              <a:latin typeface="Times New Roman" panose="02020603050405020304" pitchFamily="18" charset="0"/>
              <a:cs typeface="Times New Roman" panose="02020603050405020304" pitchFamily="18" charset="0"/>
            </a:endParaRPr>
          </a:p>
          <a:p>
            <a:endParaRPr lang="en-US" altLang="en-US" sz="2600" dirty="0">
              <a:solidFill>
                <a:srgbClr val="FF0000"/>
              </a:solidFill>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Consequently users are asked to elaborate their actions by ‘</a:t>
            </a:r>
            <a:r>
              <a:rPr lang="en-US" altLang="en-US" sz="2600" dirty="0">
                <a:solidFill>
                  <a:srgbClr val="00B050"/>
                </a:solidFill>
                <a:latin typeface="Times New Roman" panose="02020603050405020304" pitchFamily="18" charset="0"/>
                <a:cs typeface="Times New Roman" panose="02020603050405020304" pitchFamily="18" charset="0"/>
              </a:rPr>
              <a:t>thinking aloud</a:t>
            </a:r>
          </a:p>
        </p:txBody>
      </p:sp>
      <p:sp>
        <p:nvSpPr>
          <p:cNvPr id="5427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61D435E-0F9C-4DE3-B16A-A09C6912577C}" type="slidenum">
              <a:rPr lang="en-GB" altLang="en-US">
                <a:solidFill>
                  <a:srgbClr val="FFC551"/>
                </a:solidFill>
                <a:latin typeface="Century Gothic" panose="020B0502020202020204" pitchFamily="34" charset="0"/>
              </a:rPr>
              <a:pPr/>
              <a:t>52</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792315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838200" y="788988"/>
            <a:ext cx="10515600" cy="552450"/>
          </a:xfrm>
        </p:spPr>
        <p:txBody>
          <a:bodyPr>
            <a:normAutofit fontScale="90000"/>
          </a:bodyPr>
          <a:lstStyle/>
          <a:p>
            <a:pPr algn="ctr"/>
            <a:r>
              <a:rPr lang="en-GB" altLang="en-US" sz="1800" dirty="0">
                <a:latin typeface="Times New Roman" panose="02020603050405020304" pitchFamily="18" charset="0"/>
                <a:cs typeface="Times New Roman" panose="02020603050405020304" pitchFamily="18" charset="0"/>
              </a:rPr>
              <a:t>Evaluation Through User Participation</a:t>
            </a:r>
            <a:r>
              <a:rPr lang="en-GB" altLang="en-US" sz="2800"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Observational techniques</a:t>
            </a:r>
          </a:p>
        </p:txBody>
      </p:sp>
      <p:sp>
        <p:nvSpPr>
          <p:cNvPr id="54275" name="Content Placeholder 2"/>
          <p:cNvSpPr>
            <a:spLocks noGrp="1"/>
          </p:cNvSpPr>
          <p:nvPr>
            <p:ph idx="1"/>
          </p:nvPr>
        </p:nvSpPr>
        <p:spPr>
          <a:xfrm>
            <a:off x="557213" y="1844824"/>
            <a:ext cx="11083925" cy="4824264"/>
          </a:xfrm>
        </p:spPr>
        <p:txBody>
          <a:bodyPr/>
          <a:lstStyle/>
          <a:p>
            <a:r>
              <a:rPr lang="en-US" altLang="en-US" sz="2600" b="1" dirty="0">
                <a:latin typeface="Times New Roman" panose="02020603050405020304" pitchFamily="18" charset="0"/>
                <a:cs typeface="Times New Roman" panose="02020603050405020304" pitchFamily="18" charset="0"/>
              </a:rPr>
              <a:t>The evaluator watches and records the users’ actions </a:t>
            </a:r>
            <a:r>
              <a:rPr lang="en-US" altLang="en-US" sz="2600" dirty="0">
                <a:latin typeface="Times New Roman" panose="02020603050405020304" pitchFamily="18" charset="0"/>
                <a:cs typeface="Times New Roman" panose="02020603050405020304" pitchFamily="18" charset="0"/>
              </a:rPr>
              <a:t>(using a variety of techniques such as </a:t>
            </a:r>
            <a:r>
              <a:rPr lang="en-US" altLang="en-US" sz="2600" i="1" dirty="0">
                <a:solidFill>
                  <a:srgbClr val="00B050"/>
                </a:solidFill>
                <a:latin typeface="Times New Roman" panose="02020603050405020304" pitchFamily="18" charset="0"/>
                <a:cs typeface="Times New Roman" panose="02020603050405020304" pitchFamily="18" charset="0"/>
              </a:rPr>
              <a:t>Think aloud </a:t>
            </a:r>
            <a:r>
              <a:rPr lang="en-US" altLang="en-US" sz="2600" i="1" dirty="0">
                <a:latin typeface="Times New Roman" panose="02020603050405020304" pitchFamily="18" charset="0"/>
                <a:cs typeface="Times New Roman" panose="02020603050405020304" pitchFamily="18" charset="0"/>
              </a:rPr>
              <a:t>and </a:t>
            </a:r>
            <a:r>
              <a:rPr lang="en-US" altLang="en-US" sz="2600" i="1" dirty="0">
                <a:solidFill>
                  <a:srgbClr val="00B050"/>
                </a:solidFill>
                <a:latin typeface="Times New Roman" panose="02020603050405020304" pitchFamily="18" charset="0"/>
                <a:cs typeface="Times New Roman" panose="02020603050405020304" pitchFamily="18" charset="0"/>
              </a:rPr>
              <a:t>cooperative evaluation</a:t>
            </a:r>
            <a:r>
              <a:rPr lang="en-US" altLang="en-US" sz="2600" i="1" dirty="0">
                <a:latin typeface="Times New Roman" panose="02020603050405020304" pitchFamily="18" charset="0"/>
                <a:cs typeface="Times New Roman" panose="02020603050405020304" pitchFamily="18" charset="0"/>
              </a:rPr>
              <a:t>)</a:t>
            </a:r>
          </a:p>
          <a:p>
            <a:endParaRPr lang="en-US" altLang="en-US" sz="2600" b="1" i="1" dirty="0">
              <a:latin typeface="Times New Roman" panose="02020603050405020304" pitchFamily="18" charset="0"/>
              <a:cs typeface="Times New Roman" panose="02020603050405020304" pitchFamily="18" charset="0"/>
            </a:endParaRPr>
          </a:p>
          <a:p>
            <a:r>
              <a:rPr lang="en-US" altLang="en-US" sz="2600" dirty="0">
                <a:solidFill>
                  <a:srgbClr val="FF0000"/>
                </a:solidFill>
                <a:latin typeface="Times New Roman" panose="02020603050405020304" pitchFamily="18" charset="0"/>
                <a:cs typeface="Times New Roman" panose="02020603050405020304" pitchFamily="18" charset="0"/>
              </a:rPr>
              <a:t>Simple observation is seldom sufficient to determine how well the system meets the users’ requirements since it does not always give insight into the their decision processes or attitude.</a:t>
            </a:r>
          </a:p>
          <a:p>
            <a:endParaRPr lang="en-US" altLang="en-US" sz="2600" dirty="0">
              <a:solidFill>
                <a:srgbClr val="FF0000"/>
              </a:solidFill>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Consequently users are asked to elaborate their actions by ‘</a:t>
            </a:r>
            <a:r>
              <a:rPr lang="en-US" altLang="en-US" sz="2600" dirty="0">
                <a:solidFill>
                  <a:srgbClr val="00B050"/>
                </a:solidFill>
                <a:latin typeface="Times New Roman" panose="02020603050405020304" pitchFamily="18" charset="0"/>
                <a:cs typeface="Times New Roman" panose="02020603050405020304" pitchFamily="18" charset="0"/>
              </a:rPr>
              <a:t>thinking aloud</a:t>
            </a:r>
          </a:p>
        </p:txBody>
      </p:sp>
      <p:sp>
        <p:nvSpPr>
          <p:cNvPr id="5427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61D435E-0F9C-4DE3-B16A-A09C6912577C}" type="slidenum">
              <a:rPr lang="en-GB" altLang="en-US">
                <a:solidFill>
                  <a:srgbClr val="FFC551"/>
                </a:solidFill>
                <a:latin typeface="Century Gothic" panose="020B0502020202020204" pitchFamily="34" charset="0"/>
              </a:rPr>
              <a:pPr/>
              <a:t>53</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2635085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1096963" y="287339"/>
            <a:ext cx="10058400" cy="1269454"/>
          </a:xfrm>
        </p:spPr>
        <p:txBody>
          <a:bodyPr>
            <a:normAutofit/>
          </a:bodyPr>
          <a:lstStyle/>
          <a:p>
            <a:r>
              <a:rPr lang="en-US" altLang="en-US" sz="2800" b="1" dirty="0">
                <a:latin typeface="Times New Roman" panose="02020603050405020304" pitchFamily="18" charset="0"/>
                <a:cs typeface="Times New Roman" panose="02020603050405020304" pitchFamily="18" charset="0"/>
              </a:rPr>
              <a:t>Some of the techniques used to evaluate systems by observing user behavior.</a:t>
            </a:r>
          </a:p>
        </p:txBody>
      </p:sp>
      <p:sp>
        <p:nvSpPr>
          <p:cNvPr id="3" name="Content Placeholder 2"/>
          <p:cNvSpPr>
            <a:spLocks noGrp="1"/>
          </p:cNvSpPr>
          <p:nvPr>
            <p:ph idx="1"/>
          </p:nvPr>
        </p:nvSpPr>
        <p:spPr>
          <a:xfrm>
            <a:off x="838200" y="1825625"/>
            <a:ext cx="10515600" cy="5032375"/>
          </a:xfrm>
        </p:spPr>
        <p:txBody>
          <a:bodyPr/>
          <a:lstStyle/>
          <a:p>
            <a:pPr marL="0" indent="0">
              <a:buFont typeface="Arial" panose="020B0604020202020204" pitchFamily="34" charset="0"/>
              <a:buNone/>
              <a:defRPr/>
            </a:pPr>
            <a:r>
              <a:rPr lang="en-US" sz="2600" i="1" dirty="0">
                <a:latin typeface="Times New Roman" panose="02020603050405020304" pitchFamily="18" charset="0"/>
                <a:cs typeface="Times New Roman" panose="02020603050405020304" pitchFamily="18" charset="0"/>
              </a:rPr>
              <a:t>1. </a:t>
            </a:r>
            <a:r>
              <a:rPr lang="en-US" sz="2600" b="1" i="1" dirty="0">
                <a:latin typeface="Times New Roman" panose="02020603050405020304" pitchFamily="18" charset="0"/>
                <a:cs typeface="Times New Roman" panose="02020603050405020304" pitchFamily="18" charset="0"/>
              </a:rPr>
              <a:t>Think aloud</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Think aloud is a form of observation where the user is asked to talk through what he is doing as he is being observed; for example, describing what he believes is happening, why he takes an action, what he is trying to do.</a:t>
            </a:r>
          </a:p>
          <a:p>
            <a:pPr marL="0" indent="0" algn="just">
              <a:buFont typeface="Arial" panose="020B0604020202020204" pitchFamily="34" charset="0"/>
              <a:buNone/>
              <a:defRPr/>
            </a:pPr>
            <a:r>
              <a:rPr lang="en-US" sz="2600" dirty="0">
                <a:latin typeface="Times New Roman" panose="02020603050405020304" pitchFamily="18" charset="0"/>
                <a:cs typeface="Times New Roman" panose="02020603050405020304" pitchFamily="18" charset="0"/>
              </a:rPr>
              <a:t>2. A variation on think aloud is known as </a:t>
            </a:r>
            <a:r>
              <a:rPr lang="en-US" sz="2600" b="1" i="1" dirty="0">
                <a:latin typeface="Times New Roman" panose="02020603050405020304" pitchFamily="18" charset="0"/>
                <a:cs typeface="Times New Roman" panose="02020603050405020304" pitchFamily="18" charset="0"/>
              </a:rPr>
              <a:t>cooperative evaluation</a:t>
            </a: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in which the user is encouraged to see himself as a collaborator in the evaluation and not simply as an experimental participant. </a:t>
            </a:r>
            <a:r>
              <a:rPr lang="en-US" sz="2600" b="1" dirty="0">
                <a:latin typeface="Times New Roman" panose="02020603050405020304" pitchFamily="18" charset="0"/>
                <a:cs typeface="Times New Roman" panose="02020603050405020304" pitchFamily="18" charset="0"/>
              </a:rPr>
              <a:t>As well as asking the user to think aloud at the beginning of the session, the evaluator can ask the user questions (typically of the ‘why?’ or ‘what-if ?’ type) if his behavior is unclear, and the user can ask the evaluator for clarification if a problem arises. This more relaxed view of the think aloud process</a:t>
            </a:r>
            <a:endParaRPr lang="en-US" sz="2600" dirty="0">
              <a:latin typeface="Times New Roman" panose="02020603050405020304" pitchFamily="18" charset="0"/>
              <a:cs typeface="Times New Roman" panose="02020603050405020304" pitchFamily="18" charset="0"/>
            </a:endParaRPr>
          </a:p>
          <a:p>
            <a:pPr algn="just">
              <a:defRPr/>
            </a:pPr>
            <a:endParaRPr lang="en-US" sz="2600" dirty="0">
              <a:latin typeface="Times New Roman" panose="02020603050405020304" pitchFamily="18" charset="0"/>
              <a:cs typeface="Times New Roman" panose="02020603050405020304" pitchFamily="18" charset="0"/>
            </a:endParaRPr>
          </a:p>
        </p:txBody>
      </p:sp>
      <p:sp>
        <p:nvSpPr>
          <p:cNvPr id="5530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6F39F7-CB97-46FC-BB5A-5DE5278C4BAE}" type="slidenum">
              <a:rPr lang="en-GB" altLang="en-US">
                <a:solidFill>
                  <a:srgbClr val="FFC551"/>
                </a:solidFill>
                <a:latin typeface="Century Gothic" panose="020B0502020202020204" pitchFamily="34" charset="0"/>
              </a:rPr>
              <a:pPr/>
              <a:t>54</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35986855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01BAD-5062-92BE-0923-FD9E68C99C8F}"/>
              </a:ext>
            </a:extLst>
          </p:cNvPr>
          <p:cNvSpPr>
            <a:spLocks noGrp="1"/>
          </p:cNvSpPr>
          <p:nvPr>
            <p:ph type="title"/>
          </p:nvPr>
        </p:nvSpPr>
        <p:spPr/>
        <p:txBody>
          <a:bodyPr/>
          <a:lstStyle/>
          <a:p>
            <a:pPr algn="ctr"/>
            <a:r>
              <a:rPr lang="en-US" sz="4800" b="1" dirty="0">
                <a:latin typeface="Times New Roman" panose="02020603050405020304" pitchFamily="18" charset="0"/>
                <a:cs typeface="Times New Roman" panose="02020603050405020304" pitchFamily="18" charset="0"/>
              </a:rPr>
              <a:t>Assignment</a:t>
            </a:r>
            <a:endParaRPr lang="en-US" dirty="0"/>
          </a:p>
        </p:txBody>
      </p:sp>
      <p:sp>
        <p:nvSpPr>
          <p:cNvPr id="3" name="Content Placeholder 2">
            <a:extLst>
              <a:ext uri="{FF2B5EF4-FFF2-40B4-BE49-F238E27FC236}">
                <a16:creationId xmlns:a16="http://schemas.microsoft.com/office/drawing/2014/main" id="{E423F930-52DE-8D99-D181-CEE6651E45AB}"/>
              </a:ext>
            </a:extLst>
          </p:cNvPr>
          <p:cNvSpPr>
            <a:spLocks noGrp="1"/>
          </p:cNvSpPr>
          <p:nvPr>
            <p:ph idx="1"/>
          </p:nvPr>
        </p:nvSpPr>
        <p:spPr/>
        <p:txBody>
          <a:bodyPr/>
          <a:lstStyle/>
          <a:p>
            <a:r>
              <a:rPr lang="en-US" sz="2600" b="1" dirty="0">
                <a:latin typeface="Times New Roman" panose="02020603050405020304" pitchFamily="18" charset="0"/>
                <a:cs typeface="Times New Roman" panose="02020603050405020304" pitchFamily="18" charset="0"/>
              </a:rPr>
              <a:t>In not less than 200 words, explain why cooperative evaluation is better than think aloud approach to observation</a:t>
            </a:r>
          </a:p>
          <a:p>
            <a:endParaRPr lang="en-US" sz="2600" dirty="0"/>
          </a:p>
        </p:txBody>
      </p:sp>
      <p:sp>
        <p:nvSpPr>
          <p:cNvPr id="4" name="Slide Number Placeholder 3">
            <a:extLst>
              <a:ext uri="{FF2B5EF4-FFF2-40B4-BE49-F238E27FC236}">
                <a16:creationId xmlns:a16="http://schemas.microsoft.com/office/drawing/2014/main" id="{0B10F824-1DD6-CBE2-F76F-6721ED40FEE2}"/>
              </a:ext>
            </a:extLst>
          </p:cNvPr>
          <p:cNvSpPr>
            <a:spLocks noGrp="1"/>
          </p:cNvSpPr>
          <p:nvPr>
            <p:ph type="sldNum" sz="quarter" idx="12"/>
          </p:nvPr>
        </p:nvSpPr>
        <p:spPr/>
        <p:txBody>
          <a:bodyPr/>
          <a:lstStyle/>
          <a:p>
            <a:pPr>
              <a:defRPr/>
            </a:pPr>
            <a:fld id="{784CB106-59EF-4E38-AE9E-B3544BD66F06}" type="slidenum">
              <a:rPr lang="en-GB" altLang="en-US" smtClean="0"/>
              <a:pPr>
                <a:defRPr/>
              </a:pPr>
              <a:t>55</a:t>
            </a:fld>
            <a:endParaRPr lang="en-GB" altLang="en-US"/>
          </a:p>
        </p:txBody>
      </p:sp>
    </p:spTree>
    <p:extLst>
      <p:ext uri="{BB962C8B-B14F-4D97-AF65-F5344CB8AC3E}">
        <p14:creationId xmlns:p14="http://schemas.microsoft.com/office/powerpoint/2010/main" val="21427722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algn="ctr"/>
            <a:r>
              <a:rPr lang="en-US" altLang="en-US" dirty="0">
                <a:latin typeface="Times New Roman" panose="02020603050405020304" pitchFamily="18" charset="0"/>
                <a:cs typeface="Times New Roman" panose="02020603050405020304" pitchFamily="18" charset="0"/>
              </a:rPr>
              <a:t>Protocol analysis</a:t>
            </a:r>
          </a:p>
        </p:txBody>
      </p:sp>
      <p:sp>
        <p:nvSpPr>
          <p:cNvPr id="3" name="Content Placeholder 2"/>
          <p:cNvSpPr>
            <a:spLocks noGrp="1"/>
          </p:cNvSpPr>
          <p:nvPr>
            <p:ph idx="1"/>
          </p:nvPr>
        </p:nvSpPr>
        <p:spPr>
          <a:xfrm>
            <a:off x="838200" y="1825625"/>
            <a:ext cx="10515600" cy="5003800"/>
          </a:xfrm>
        </p:spPr>
        <p:txBody>
          <a:bodyPr/>
          <a:lstStyle/>
          <a:p>
            <a:pPr>
              <a:defRPr/>
            </a:pPr>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record</a:t>
            </a:r>
            <a:r>
              <a:rPr lang="en-US" sz="2600" dirty="0">
                <a:latin typeface="Times New Roman" panose="02020603050405020304" pitchFamily="18" charset="0"/>
                <a:cs typeface="Times New Roman" panose="02020603050405020304" pitchFamily="18" charset="0"/>
              </a:rPr>
              <a:t> of an evaluation session is known as a </a:t>
            </a:r>
            <a:r>
              <a:rPr lang="en-US" sz="2600" b="1" i="1" dirty="0">
                <a:latin typeface="Times New Roman" panose="02020603050405020304" pitchFamily="18" charset="0"/>
                <a:cs typeface="Times New Roman" panose="02020603050405020304" pitchFamily="18" charset="0"/>
              </a:rPr>
              <a:t>protocol</a:t>
            </a:r>
            <a:r>
              <a:rPr lang="en-US" sz="2600" dirty="0">
                <a:latin typeface="Times New Roman" panose="02020603050405020304" pitchFamily="18" charset="0"/>
                <a:cs typeface="Times New Roman" panose="02020603050405020304" pitchFamily="18" charset="0"/>
              </a:rPr>
              <a:t>, and</a:t>
            </a:r>
          </a:p>
          <a:p>
            <a:pPr>
              <a:defRPr/>
            </a:pPr>
            <a:r>
              <a:rPr lang="en-US" sz="2600" dirty="0">
                <a:latin typeface="Times New Roman" panose="02020603050405020304" pitchFamily="18" charset="0"/>
                <a:cs typeface="Times New Roman" panose="02020603050405020304" pitchFamily="18" charset="0"/>
              </a:rPr>
              <a:t>there are a number of methods from which to choose.</a:t>
            </a:r>
          </a:p>
          <a:p>
            <a:pPr marL="800100" lvl="1" indent="-457200">
              <a:lnSpc>
                <a:spcPct val="200000"/>
              </a:lnSpc>
              <a:buFont typeface="+mj-lt"/>
              <a:buAutoNum type="arabicPeriod"/>
              <a:defRPr/>
            </a:pPr>
            <a:r>
              <a:rPr lang="en-US" sz="2600" b="1" dirty="0">
                <a:latin typeface="Times New Roman" panose="02020603050405020304" pitchFamily="18" charset="0"/>
                <a:cs typeface="Times New Roman" panose="02020603050405020304" pitchFamily="18" charset="0"/>
              </a:rPr>
              <a:t>Paper and pencil</a:t>
            </a:r>
          </a:p>
          <a:p>
            <a:pPr marL="800100" lvl="1" indent="-457200">
              <a:lnSpc>
                <a:spcPct val="200000"/>
              </a:lnSpc>
              <a:buFont typeface="+mj-lt"/>
              <a:buAutoNum type="arabicPeriod"/>
              <a:defRPr/>
            </a:pPr>
            <a:r>
              <a:rPr lang="en-US" sz="2600" b="1" dirty="0">
                <a:latin typeface="Times New Roman" panose="02020603050405020304" pitchFamily="18" charset="0"/>
                <a:cs typeface="Times New Roman" panose="02020603050405020304" pitchFamily="18" charset="0"/>
              </a:rPr>
              <a:t>Audio recording</a:t>
            </a:r>
          </a:p>
          <a:p>
            <a:pPr marL="800100" lvl="1" indent="-457200">
              <a:lnSpc>
                <a:spcPct val="200000"/>
              </a:lnSpc>
              <a:buFont typeface="+mj-lt"/>
              <a:buAutoNum type="arabicPeriod"/>
              <a:defRPr/>
            </a:pPr>
            <a:r>
              <a:rPr lang="en-US" sz="2600" b="1" dirty="0">
                <a:latin typeface="Times New Roman" panose="02020603050405020304" pitchFamily="18" charset="0"/>
                <a:cs typeface="Times New Roman" panose="02020603050405020304" pitchFamily="18" charset="0"/>
              </a:rPr>
              <a:t>Video recording</a:t>
            </a:r>
          </a:p>
          <a:p>
            <a:pPr marL="800100" lvl="1" indent="-457200">
              <a:lnSpc>
                <a:spcPct val="200000"/>
              </a:lnSpc>
              <a:buFont typeface="+mj-lt"/>
              <a:buAutoNum type="arabicPeriod"/>
              <a:defRPr/>
            </a:pPr>
            <a:r>
              <a:rPr lang="en-US" sz="2600" b="1" dirty="0">
                <a:latin typeface="Times New Roman" panose="02020603050405020304" pitchFamily="18" charset="0"/>
                <a:cs typeface="Times New Roman" panose="02020603050405020304" pitchFamily="18" charset="0"/>
              </a:rPr>
              <a:t>Computer logging</a:t>
            </a:r>
          </a:p>
          <a:p>
            <a:pPr marL="457200" indent="-457200">
              <a:buFont typeface="+mj-lt"/>
              <a:buAutoNum type="arabicPeriod"/>
              <a:defRPr/>
            </a:pPr>
            <a:endParaRPr lang="en-US" sz="2600" dirty="0">
              <a:latin typeface="Times New Roman" panose="02020603050405020304" pitchFamily="18" charset="0"/>
              <a:cs typeface="Times New Roman" panose="02020603050405020304" pitchFamily="18" charset="0"/>
            </a:endParaRPr>
          </a:p>
        </p:txBody>
      </p:sp>
      <p:sp>
        <p:nvSpPr>
          <p:cNvPr id="56324"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0A49D6C-9DF7-489A-9104-33CB5BDEB22F}" type="slidenum">
              <a:rPr lang="en-GB" altLang="en-US">
                <a:solidFill>
                  <a:srgbClr val="FFC551"/>
                </a:solidFill>
                <a:latin typeface="Century Gothic" panose="020B0502020202020204" pitchFamily="34" charset="0"/>
              </a:rPr>
              <a:pPr/>
              <a:t>56</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6591109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ltLang="en-US" i="1" dirty="0">
                <a:latin typeface="Times New Roman" panose="02020603050405020304" pitchFamily="18" charset="0"/>
                <a:cs typeface="Times New Roman" panose="02020603050405020304" pitchFamily="18" charset="0"/>
              </a:rPr>
              <a:t>Automatic protocol analysis tools</a:t>
            </a:r>
            <a:br>
              <a:rPr lang="en-US" altLang="en-US" i="1"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p:txBody>
      </p:sp>
      <p:sp>
        <p:nvSpPr>
          <p:cNvPr id="57347" name="Content Placeholder 2"/>
          <p:cNvSpPr>
            <a:spLocks noGrp="1"/>
          </p:cNvSpPr>
          <p:nvPr>
            <p:ph idx="1"/>
          </p:nvPr>
        </p:nvSpPr>
        <p:spPr>
          <a:xfrm>
            <a:off x="147638" y="1825625"/>
            <a:ext cx="11709400" cy="5032375"/>
          </a:xfrm>
        </p:spPr>
        <p:txBody>
          <a:bodyPr/>
          <a:lstStyle/>
          <a:p>
            <a:r>
              <a:rPr lang="en-US" altLang="en-US" sz="2600" dirty="0">
                <a:latin typeface="Times New Roman" panose="02020603050405020304" pitchFamily="18" charset="0"/>
                <a:cs typeface="Times New Roman" panose="02020603050405020304" pitchFamily="18" charset="0"/>
              </a:rPr>
              <a:t>Analyzing protocols, whether video, audio or system logs, is time consuming and tedious by hand. </a:t>
            </a:r>
          </a:p>
          <a:p>
            <a:r>
              <a:rPr lang="en-US" altLang="en-US" sz="2600" dirty="0">
                <a:latin typeface="Times New Roman" panose="02020603050405020304" pitchFamily="18" charset="0"/>
                <a:cs typeface="Times New Roman" panose="02020603050405020304" pitchFamily="18" charset="0"/>
              </a:rPr>
              <a:t>It is made harder if there is more than one stream of data to synchronize. </a:t>
            </a:r>
          </a:p>
          <a:p>
            <a:r>
              <a:rPr lang="en-US" altLang="en-US" sz="2600" b="1" dirty="0">
                <a:latin typeface="Times New Roman" panose="02020603050405020304" pitchFamily="18" charset="0"/>
                <a:cs typeface="Times New Roman" panose="02020603050405020304" pitchFamily="18" charset="0"/>
              </a:rPr>
              <a:t>One solution to this problem is to provide automatic analysis tools to support the task</a:t>
            </a:r>
            <a:r>
              <a:rPr lang="en-US" altLang="en-US" sz="2600" dirty="0">
                <a:latin typeface="Times New Roman" panose="02020603050405020304" pitchFamily="18" charset="0"/>
                <a:cs typeface="Times New Roman" panose="02020603050405020304" pitchFamily="18" charset="0"/>
              </a:rPr>
              <a:t>. These offer a means of editing and annotating video, audio and system logs and synchronizing these for detailed analysis.</a:t>
            </a:r>
          </a:p>
          <a:p>
            <a:r>
              <a:rPr lang="en-US" altLang="en-US" sz="2600" dirty="0">
                <a:latin typeface="Times New Roman" panose="02020603050405020304" pitchFamily="18" charset="0"/>
                <a:cs typeface="Times New Roman" panose="02020603050405020304" pitchFamily="18" charset="0"/>
              </a:rPr>
              <a:t>Examples of such automatic analysis tools are:</a:t>
            </a:r>
          </a:p>
          <a:p>
            <a:pPr lvl="1">
              <a:lnSpc>
                <a:spcPct val="150000"/>
              </a:lnSpc>
            </a:pPr>
            <a:r>
              <a:rPr lang="en-US" altLang="en-US" sz="2600" i="1" dirty="0">
                <a:latin typeface="Times New Roman" panose="02020603050405020304" pitchFamily="18" charset="0"/>
                <a:cs typeface="Times New Roman" panose="02020603050405020304" pitchFamily="18" charset="0"/>
              </a:rPr>
              <a:t>EVA </a:t>
            </a:r>
            <a:r>
              <a:rPr lang="en-US" altLang="en-US" sz="2600" dirty="0">
                <a:latin typeface="Times New Roman" panose="02020603050405020304" pitchFamily="18" charset="0"/>
                <a:cs typeface="Times New Roman" panose="02020603050405020304" pitchFamily="18" charset="0"/>
              </a:rPr>
              <a:t>(</a:t>
            </a:r>
            <a:r>
              <a:rPr lang="en-US" altLang="en-US" sz="2600" i="1" dirty="0">
                <a:latin typeface="Times New Roman" panose="02020603050405020304" pitchFamily="18" charset="0"/>
                <a:cs typeface="Times New Roman" panose="02020603050405020304" pitchFamily="18" charset="0"/>
              </a:rPr>
              <a:t>Experimental Video Annotator</a:t>
            </a:r>
            <a:r>
              <a:rPr lang="en-US" altLang="en-US" sz="2600" dirty="0">
                <a:latin typeface="Times New Roman" panose="02020603050405020304" pitchFamily="18" charset="0"/>
                <a:cs typeface="Times New Roman" panose="02020603050405020304" pitchFamily="18" charset="0"/>
              </a:rPr>
              <a:t>)</a:t>
            </a:r>
          </a:p>
          <a:p>
            <a:pPr lvl="1">
              <a:lnSpc>
                <a:spcPct val="150000"/>
              </a:lnSpc>
            </a:pPr>
            <a:r>
              <a:rPr lang="en-US" altLang="en-US" sz="2600" i="1" dirty="0">
                <a:latin typeface="Times New Roman" panose="02020603050405020304" pitchFamily="18" charset="0"/>
                <a:cs typeface="Times New Roman" panose="02020603050405020304" pitchFamily="18" charset="0"/>
              </a:rPr>
              <a:t>Workplace project </a:t>
            </a:r>
            <a:r>
              <a:rPr lang="en-US" altLang="en-US" sz="2600" dirty="0">
                <a:latin typeface="Times New Roman" panose="02020603050405020304" pitchFamily="18" charset="0"/>
                <a:cs typeface="Times New Roman" panose="02020603050405020304" pitchFamily="18" charset="0"/>
              </a:rPr>
              <a:t>at Xerox PARC</a:t>
            </a:r>
          </a:p>
          <a:p>
            <a:pPr lvl="1">
              <a:lnSpc>
                <a:spcPct val="150000"/>
              </a:lnSpc>
            </a:pPr>
            <a:r>
              <a:rPr lang="en-US" altLang="en-US" sz="2600" dirty="0">
                <a:solidFill>
                  <a:schemeClr val="bg1"/>
                </a:solidFill>
                <a:latin typeface="Times New Roman" panose="02020603050405020304" pitchFamily="18" charset="0"/>
                <a:cs typeface="Times New Roman" panose="02020603050405020304" pitchFamily="18" charset="0"/>
              </a:rPr>
              <a:t>DRUM  which also provides video annotation and tagging facilities.</a:t>
            </a:r>
          </a:p>
          <a:p>
            <a:endParaRPr lang="en-US" altLang="en-US" sz="2600" dirty="0">
              <a:latin typeface="Times New Roman" panose="02020603050405020304" pitchFamily="18" charset="0"/>
              <a:cs typeface="Times New Roman" panose="02020603050405020304" pitchFamily="18" charset="0"/>
            </a:endParaRPr>
          </a:p>
        </p:txBody>
      </p:sp>
      <p:sp>
        <p:nvSpPr>
          <p:cNvPr id="57348"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310B00E-BE1E-4D86-A817-1983C1CB0CA1}" type="slidenum">
              <a:rPr lang="en-GB" altLang="en-US">
                <a:solidFill>
                  <a:srgbClr val="FFC551"/>
                </a:solidFill>
                <a:latin typeface="Century Gothic" panose="020B0502020202020204" pitchFamily="34" charset="0"/>
              </a:rPr>
              <a:pPr/>
              <a:t>57</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5507190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GB" altLang="en-US" sz="1800" dirty="0">
                <a:latin typeface="Times New Roman" panose="02020603050405020304" pitchFamily="18" charset="0"/>
                <a:cs typeface="Times New Roman" panose="02020603050405020304" pitchFamily="18" charset="0"/>
              </a:rPr>
              <a:t>Evaluation Through User Participation</a:t>
            </a:r>
            <a:r>
              <a:rPr lang="en-GB" altLang="en-US" sz="4000"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Query Techniques</a:t>
            </a:r>
          </a:p>
        </p:txBody>
      </p:sp>
      <p:sp>
        <p:nvSpPr>
          <p:cNvPr id="58371" name="Content Placeholder 2"/>
          <p:cNvSpPr>
            <a:spLocks noGrp="1"/>
          </p:cNvSpPr>
          <p:nvPr>
            <p:ph idx="1"/>
          </p:nvPr>
        </p:nvSpPr>
        <p:spPr/>
        <p:txBody>
          <a:bodyPr/>
          <a:lstStyle/>
          <a:p>
            <a:r>
              <a:rPr lang="en-US" altLang="en-US" sz="2600" dirty="0">
                <a:latin typeface="Times New Roman" panose="02020603050405020304" pitchFamily="18" charset="0"/>
                <a:cs typeface="Times New Roman" panose="02020603050405020304" pitchFamily="18" charset="0"/>
              </a:rPr>
              <a:t>Another set of evaluation techniques relies on asking the user about the interface directly.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They embody the philosophy that states that the best way to find out how a system meets user requirements is to ‘ask the user’</a:t>
            </a:r>
          </a:p>
          <a:p>
            <a:endParaRPr lang="en-US"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There are two main types of query techniques: </a:t>
            </a:r>
            <a:r>
              <a:rPr lang="en-US" altLang="en-US" sz="2600" b="1" dirty="0">
                <a:solidFill>
                  <a:srgbClr val="FF0000"/>
                </a:solidFill>
                <a:latin typeface="Times New Roman" panose="02020603050405020304" pitchFamily="18" charset="0"/>
                <a:cs typeface="Times New Roman" panose="02020603050405020304" pitchFamily="18" charset="0"/>
              </a:rPr>
              <a:t>interviews and questionnaires.</a:t>
            </a:r>
          </a:p>
        </p:txBody>
      </p:sp>
      <p:sp>
        <p:nvSpPr>
          <p:cNvPr id="58372"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CEC9AE9-B2B3-4EE9-B083-356C1391A146}" type="slidenum">
              <a:rPr lang="en-GB" altLang="en-US">
                <a:solidFill>
                  <a:srgbClr val="FFC551"/>
                </a:solidFill>
                <a:latin typeface="Century Gothic" panose="020B0502020202020204" pitchFamily="34" charset="0"/>
              </a:rPr>
              <a:pPr/>
              <a:t>58</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2878937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normAutofit/>
          </a:bodyPr>
          <a:lstStyle/>
          <a:p>
            <a:r>
              <a:rPr lang="en-GB" altLang="en-US" sz="1600" dirty="0">
                <a:latin typeface="Times New Roman" panose="02020603050405020304" pitchFamily="18" charset="0"/>
                <a:cs typeface="Times New Roman" panose="02020603050405020304" pitchFamily="18" charset="0"/>
              </a:rPr>
              <a:t>Evaluation Through User Participation</a:t>
            </a:r>
            <a:r>
              <a:rPr lang="en-GB" altLang="en-US" sz="2800"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Evaluation through monitoring physiological responses</a:t>
            </a:r>
          </a:p>
        </p:txBody>
      </p:sp>
      <p:sp>
        <p:nvSpPr>
          <p:cNvPr id="59395" name="Content Placeholder 2"/>
          <p:cNvSpPr>
            <a:spLocks noGrp="1"/>
          </p:cNvSpPr>
          <p:nvPr>
            <p:ph idx="1"/>
          </p:nvPr>
        </p:nvSpPr>
        <p:spPr>
          <a:xfrm>
            <a:off x="557213" y="1825625"/>
            <a:ext cx="10796587" cy="4843463"/>
          </a:xfrm>
        </p:spPr>
        <p:txBody>
          <a:bodyPr/>
          <a:lstStyle/>
          <a:p>
            <a:r>
              <a:rPr lang="en-US" altLang="en-US" sz="2600" dirty="0">
                <a:solidFill>
                  <a:srgbClr val="FF0000"/>
                </a:solidFill>
                <a:latin typeface="Times New Roman" panose="02020603050405020304" pitchFamily="18" charset="0"/>
                <a:cs typeface="Times New Roman" panose="02020603050405020304" pitchFamily="18" charset="0"/>
              </a:rPr>
              <a:t>One of the problems with most evaluation techniques is that we are reliant on observation and the users telling us what they are doing and how they are feeling.</a:t>
            </a:r>
          </a:p>
          <a:p>
            <a:r>
              <a:rPr lang="en-US" altLang="en-US" sz="2600" b="1" dirty="0">
                <a:solidFill>
                  <a:srgbClr val="00B050"/>
                </a:solidFill>
                <a:latin typeface="Times New Roman" panose="02020603050405020304" pitchFamily="18" charset="0"/>
                <a:cs typeface="Times New Roman" panose="02020603050405020304" pitchFamily="18" charset="0"/>
              </a:rPr>
              <a:t> What if we were able to measure these things directly?</a:t>
            </a:r>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 Interest has grown recently in the use of what is sometimes called </a:t>
            </a:r>
            <a:r>
              <a:rPr lang="en-US" altLang="en-US" sz="2600" b="1" dirty="0">
                <a:latin typeface="Times New Roman" panose="02020603050405020304" pitchFamily="18" charset="0"/>
                <a:cs typeface="Times New Roman" panose="02020603050405020304" pitchFamily="18" charset="0"/>
              </a:rPr>
              <a:t>objective usability testing, ways of monitoring physiological aspects of computer use</a:t>
            </a:r>
            <a:r>
              <a:rPr lang="en-US" altLang="en-US" sz="2600" dirty="0">
                <a:latin typeface="Times New Roman" panose="02020603050405020304" pitchFamily="18" charset="0"/>
                <a:cs typeface="Times New Roman" panose="02020603050405020304" pitchFamily="18" charset="0"/>
              </a:rPr>
              <a:t>. </a:t>
            </a:r>
          </a:p>
          <a:p>
            <a:r>
              <a:rPr lang="en-US" altLang="en-US" sz="2600" dirty="0">
                <a:latin typeface="Times New Roman" panose="02020603050405020304" pitchFamily="18" charset="0"/>
                <a:cs typeface="Times New Roman" panose="02020603050405020304" pitchFamily="18" charset="0"/>
              </a:rPr>
              <a:t>This will allow us to measure how they feel. </a:t>
            </a:r>
          </a:p>
          <a:p>
            <a:r>
              <a:rPr lang="en-US" altLang="en-US" sz="2600" b="1" dirty="0">
                <a:latin typeface="Times New Roman" panose="02020603050405020304" pitchFamily="18" charset="0"/>
                <a:cs typeface="Times New Roman" panose="02020603050405020304" pitchFamily="18" charset="0"/>
              </a:rPr>
              <a:t>The two areas receiving the most attention to date are eye tracking and physiological measurement (Heart activity, Activity of the sweat glands, Electrical activity in muscle, Electrical activity in the brain).</a:t>
            </a:r>
          </a:p>
        </p:txBody>
      </p:sp>
      <p:sp>
        <p:nvSpPr>
          <p:cNvPr id="5939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C91D4AE-C6B9-4726-AF1F-181C6A9DB82B}" type="slidenum">
              <a:rPr lang="en-GB" altLang="en-US">
                <a:solidFill>
                  <a:srgbClr val="FFC551"/>
                </a:solidFill>
                <a:latin typeface="Century Gothic" panose="020B0502020202020204" pitchFamily="34" charset="0"/>
              </a:rPr>
              <a:pPr/>
              <a:t>59</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9189150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4"/>
          <p:cNvSpPr>
            <a:spLocks noGrp="1"/>
          </p:cNvSpPr>
          <p:nvPr>
            <p:ph type="title"/>
          </p:nvPr>
        </p:nvSpPr>
        <p:spPr>
          <a:xfrm>
            <a:off x="767408" y="681038"/>
            <a:ext cx="10586392" cy="731838"/>
          </a:xfrm>
        </p:spPr>
        <p:txBody>
          <a:bodyPr>
            <a:noAutofit/>
          </a:bodyPr>
          <a:lstStyle/>
          <a:p>
            <a:r>
              <a:rPr lang="en-US" altLang="en-US" sz="2800" b="1" dirty="0">
                <a:latin typeface="Times New Roman" panose="02020603050405020304" pitchFamily="18" charset="0"/>
                <a:cs typeface="Times New Roman" panose="02020603050405020304" pitchFamily="18" charset="0"/>
              </a:rPr>
              <a:t>Choose an appropriate evaluation method for each of the following situations. </a:t>
            </a:r>
          </a:p>
        </p:txBody>
      </p:sp>
      <p:sp>
        <p:nvSpPr>
          <p:cNvPr id="61443" name="Content Placeholder 5"/>
          <p:cNvSpPr>
            <a:spLocks noGrp="1"/>
          </p:cNvSpPr>
          <p:nvPr>
            <p:ph sz="half" idx="1"/>
          </p:nvPr>
        </p:nvSpPr>
        <p:spPr>
          <a:xfrm>
            <a:off x="263352" y="1628775"/>
            <a:ext cx="7391573" cy="4548188"/>
          </a:xfrm>
        </p:spPr>
        <p:txBody>
          <a:bodyPr/>
          <a:lstStyle/>
          <a:p>
            <a:pPr marL="0" indent="0">
              <a:buFont typeface="Arial" panose="020B0604020202020204" pitchFamily="34" charset="0"/>
              <a:buNone/>
            </a:pPr>
            <a:r>
              <a:rPr lang="en-US" altLang="en-US" sz="2600" dirty="0">
                <a:latin typeface="Times New Roman" panose="02020603050405020304" pitchFamily="18" charset="0"/>
                <a:cs typeface="Times New Roman" panose="02020603050405020304" pitchFamily="18" charset="0"/>
              </a:rPr>
              <a:t>(a)You are at an early stage in the design of a spreadsheet package and you wish to test what type of icons will be easiest to learn.</a:t>
            </a:r>
          </a:p>
          <a:p>
            <a:pPr marL="0" indent="0">
              <a:buFont typeface="Arial" panose="020B0604020202020204" pitchFamily="34" charset="0"/>
              <a:buNone/>
            </a:pPr>
            <a:r>
              <a:rPr lang="en-US" altLang="en-US" sz="2600" dirty="0">
                <a:latin typeface="Times New Roman" panose="02020603050405020304" pitchFamily="18" charset="0"/>
                <a:cs typeface="Times New Roman" panose="02020603050405020304" pitchFamily="18" charset="0"/>
              </a:rPr>
              <a:t>(b) You have a prototype for a theatre booking system to be used by potential theatre-goers to reduce queues at the box office.</a:t>
            </a:r>
          </a:p>
          <a:p>
            <a:pPr marL="0" indent="0">
              <a:buFont typeface="Arial" panose="020B0604020202020204" pitchFamily="34" charset="0"/>
              <a:buNone/>
            </a:pPr>
            <a:r>
              <a:rPr lang="en-US" altLang="en-US" sz="2600" dirty="0">
                <a:latin typeface="Times New Roman" panose="02020603050405020304" pitchFamily="18" charset="0"/>
                <a:cs typeface="Times New Roman" panose="02020603050405020304" pitchFamily="18" charset="0"/>
              </a:rPr>
              <a:t>(c) You have designed and implemented a new game system and want to evaluate it before release.</a:t>
            </a:r>
          </a:p>
          <a:p>
            <a:pPr marL="0" indent="0">
              <a:buFont typeface="Arial" panose="020B0604020202020204" pitchFamily="34" charset="0"/>
              <a:buNone/>
            </a:pPr>
            <a:r>
              <a:rPr lang="en-US" altLang="en-US" sz="2600" dirty="0">
                <a:latin typeface="Times New Roman" panose="02020603050405020304" pitchFamily="18" charset="0"/>
                <a:cs typeface="Times New Roman" panose="02020603050405020304" pitchFamily="18" charset="0"/>
              </a:rPr>
              <a:t>(d) You have developed a group decision support system for a solicitor’s office.</a:t>
            </a:r>
          </a:p>
        </p:txBody>
      </p:sp>
      <p:sp>
        <p:nvSpPr>
          <p:cNvPr id="61444" name="Content Placeholder 6"/>
          <p:cNvSpPr>
            <a:spLocks noGrp="1"/>
          </p:cNvSpPr>
          <p:nvPr>
            <p:ph sz="half" idx="2"/>
          </p:nvPr>
        </p:nvSpPr>
        <p:spPr>
          <a:xfrm>
            <a:off x="7654925" y="1760537"/>
            <a:ext cx="4537075" cy="4351338"/>
          </a:xfrm>
        </p:spPr>
        <p:txBody>
          <a:bodyPr/>
          <a:lstStyle/>
          <a:p>
            <a:r>
              <a:rPr lang="en-US" altLang="en-US" sz="2600" dirty="0">
                <a:latin typeface="Times New Roman" panose="02020603050405020304" pitchFamily="18" charset="0"/>
                <a:cs typeface="Times New Roman" panose="02020603050405020304" pitchFamily="18" charset="0"/>
              </a:rPr>
              <a:t>In each case, identify:</a:t>
            </a:r>
          </a:p>
          <a:p>
            <a:r>
              <a:rPr lang="en-US" altLang="en-US" sz="2600" dirty="0">
                <a:latin typeface="Times New Roman" panose="02020603050405020304" pitchFamily="18" charset="0"/>
                <a:cs typeface="Times New Roman" panose="02020603050405020304" pitchFamily="18" charset="0"/>
              </a:rPr>
              <a:t>(</a:t>
            </a:r>
            <a:r>
              <a:rPr lang="en-US" altLang="en-US" sz="2600" dirty="0" err="1">
                <a:latin typeface="Times New Roman" panose="02020603050405020304" pitchFamily="18" charset="0"/>
                <a:cs typeface="Times New Roman" panose="02020603050405020304" pitchFamily="18" charset="0"/>
              </a:rPr>
              <a:t>i</a:t>
            </a:r>
            <a:r>
              <a:rPr lang="en-US" altLang="en-US" sz="2600" dirty="0">
                <a:latin typeface="Times New Roman" panose="02020603050405020304" pitchFamily="18" charset="0"/>
                <a:cs typeface="Times New Roman" panose="02020603050405020304" pitchFamily="18" charset="0"/>
              </a:rPr>
              <a:t>) the participants</a:t>
            </a:r>
          </a:p>
          <a:p>
            <a:r>
              <a:rPr lang="en-US" altLang="en-US" sz="2600" dirty="0">
                <a:latin typeface="Times New Roman" panose="02020603050405020304" pitchFamily="18" charset="0"/>
                <a:cs typeface="Times New Roman" panose="02020603050405020304" pitchFamily="18" charset="0"/>
              </a:rPr>
              <a:t>(ii) the technique used</a:t>
            </a:r>
          </a:p>
          <a:p>
            <a:r>
              <a:rPr lang="en-US" altLang="en-US" sz="2600" dirty="0">
                <a:latin typeface="Times New Roman" panose="02020603050405020304" pitchFamily="18" charset="0"/>
                <a:cs typeface="Times New Roman" panose="02020603050405020304" pitchFamily="18" charset="0"/>
              </a:rPr>
              <a:t>(iii) representative tasks to be examined</a:t>
            </a:r>
          </a:p>
          <a:p>
            <a:r>
              <a:rPr lang="en-US" altLang="en-US" sz="2600" dirty="0">
                <a:latin typeface="Times New Roman" panose="02020603050405020304" pitchFamily="18" charset="0"/>
                <a:cs typeface="Times New Roman" panose="02020603050405020304" pitchFamily="18" charset="0"/>
              </a:rPr>
              <a:t>(iv) measurements that would be appropriate</a:t>
            </a:r>
          </a:p>
          <a:p>
            <a:r>
              <a:rPr lang="en-US" altLang="en-US" sz="2600" dirty="0">
                <a:latin typeface="Times New Roman" panose="02020603050405020304" pitchFamily="18" charset="0"/>
                <a:cs typeface="Times New Roman" panose="02020603050405020304" pitchFamily="18" charset="0"/>
              </a:rPr>
              <a:t>(v) an outline plan for carrying out the evaluation.</a:t>
            </a:r>
          </a:p>
        </p:txBody>
      </p:sp>
      <p:sp>
        <p:nvSpPr>
          <p:cNvPr id="61445"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C97B302-14CB-492D-B5E0-74D5020935C6}" type="slidenum">
              <a:rPr lang="en-GB" altLang="en-US">
                <a:solidFill>
                  <a:srgbClr val="FFC551"/>
                </a:solidFill>
                <a:latin typeface="Century Gothic" panose="020B0502020202020204" pitchFamily="34" charset="0"/>
              </a:rPr>
              <a:pPr/>
              <a:t>60</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21933903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0FEC5-36A4-F4C7-21D3-3A60DF0EF164}"/>
              </a:ext>
            </a:extLst>
          </p:cNvPr>
          <p:cNvSpPr>
            <a:spLocks noGrp="1"/>
          </p:cNvSpPr>
          <p:nvPr>
            <p:ph type="title"/>
          </p:nvPr>
        </p:nvSpPr>
        <p:spPr/>
        <p:txBody>
          <a:bodyPr/>
          <a:lstStyle/>
          <a:p>
            <a:r>
              <a:rPr kumimoji="0" lang="en-US" altLang="en-US" sz="2800" b="1" i="0" u="none" strike="noStrike" kern="1200" cap="none" spc="-50" normalizeH="0" baseline="0" noProof="0" dirty="0">
                <a:ln>
                  <a:noFill/>
                </a:ln>
                <a:solidFill>
                  <a:srgbClr val="404040"/>
                </a:solidFill>
                <a:effectLst/>
                <a:uLnTx/>
                <a:uFillTx/>
                <a:latin typeface="Times New Roman" panose="02020603050405020304" pitchFamily="18" charset="0"/>
                <a:ea typeface="+mj-ea"/>
                <a:cs typeface="Times New Roman" panose="02020603050405020304" pitchFamily="18" charset="0"/>
              </a:rPr>
              <a:t>Choose an appropriate evaluation method for each of the following situations. </a:t>
            </a:r>
            <a:endParaRPr lang="en-US" dirty="0"/>
          </a:p>
        </p:txBody>
      </p:sp>
      <p:sp>
        <p:nvSpPr>
          <p:cNvPr id="3" name="Content Placeholder 2">
            <a:extLst>
              <a:ext uri="{FF2B5EF4-FFF2-40B4-BE49-F238E27FC236}">
                <a16:creationId xmlns:a16="http://schemas.microsoft.com/office/drawing/2014/main" id="{CE84ED18-B7BA-E206-2198-E6BA6413C5C3}"/>
              </a:ext>
            </a:extLst>
          </p:cNvPr>
          <p:cNvSpPr>
            <a:spLocks noGrp="1"/>
          </p:cNvSpPr>
          <p:nvPr>
            <p:ph sz="half" idx="1"/>
          </p:nvPr>
        </p:nvSpPr>
        <p:spPr/>
        <p:txBody>
          <a:bodyPr/>
          <a:lstStyle/>
          <a:p>
            <a:r>
              <a:rPr lang="en-US" altLang="en-US" sz="2600" dirty="0">
                <a:latin typeface="Times New Roman" panose="02020603050405020304" pitchFamily="18" charset="0"/>
                <a:cs typeface="Times New Roman" panose="02020603050405020304" pitchFamily="18" charset="0"/>
              </a:rPr>
              <a:t>(e) You have been asked to develop a system to store and manage student exam results and would like to test two different designs prior to implementation or prototyping.</a:t>
            </a:r>
          </a:p>
          <a:p>
            <a:endParaRPr lang="en-US" sz="2600" dirty="0"/>
          </a:p>
        </p:txBody>
      </p:sp>
      <p:sp>
        <p:nvSpPr>
          <p:cNvPr id="4" name="Content Placeholder 3">
            <a:extLst>
              <a:ext uri="{FF2B5EF4-FFF2-40B4-BE49-F238E27FC236}">
                <a16:creationId xmlns:a16="http://schemas.microsoft.com/office/drawing/2014/main" id="{89BE3052-FEC3-54F4-F91C-754A2BD022C9}"/>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57988FEE-6B5B-7338-106F-F192FA91699F}"/>
              </a:ext>
            </a:extLst>
          </p:cNvPr>
          <p:cNvSpPr>
            <a:spLocks noGrp="1"/>
          </p:cNvSpPr>
          <p:nvPr>
            <p:ph type="sldNum" sz="quarter" idx="12"/>
          </p:nvPr>
        </p:nvSpPr>
        <p:spPr/>
        <p:txBody>
          <a:bodyPr/>
          <a:lstStyle/>
          <a:p>
            <a:pPr>
              <a:defRPr/>
            </a:pPr>
            <a:fld id="{83D530C7-866A-4E32-9D84-AC8AA2B72CFB}" type="slidenum">
              <a:rPr lang="en-GB" altLang="en-US" smtClean="0"/>
              <a:pPr>
                <a:defRPr/>
              </a:pPr>
              <a:t>61</a:t>
            </a:fld>
            <a:endParaRPr lang="en-GB" altLang="en-US"/>
          </a:p>
        </p:txBody>
      </p:sp>
    </p:spTree>
    <p:extLst>
      <p:ext uri="{BB962C8B-B14F-4D97-AF65-F5344CB8AC3E}">
        <p14:creationId xmlns:p14="http://schemas.microsoft.com/office/powerpoint/2010/main" val="23917845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56D75-DCF6-4B3C-8421-CA2EBABC1703}"/>
              </a:ext>
            </a:extLst>
          </p:cNvPr>
          <p:cNvSpPr>
            <a:spLocks noGrp="1"/>
          </p:cNvSpPr>
          <p:nvPr>
            <p:ph type="title"/>
          </p:nvPr>
        </p:nvSpPr>
        <p:spPr/>
        <p:txBody>
          <a:bodyPr/>
          <a:lstStyle/>
          <a:p>
            <a:pPr algn="ctr"/>
            <a:r>
              <a:rPr lang="en-GB" dirty="0">
                <a:latin typeface="Times New Roman" panose="02020603050405020304" pitchFamily="18" charset="0"/>
                <a:cs typeface="Times New Roman" panose="02020603050405020304" pitchFamily="18" charset="0"/>
              </a:rPr>
              <a:t>Styles</a:t>
            </a:r>
            <a:r>
              <a:rPr lang="en-GB" dirty="0"/>
              <a:t> of evaluation</a:t>
            </a:r>
            <a:endParaRPr lang="en-GH" dirty="0"/>
          </a:p>
        </p:txBody>
      </p:sp>
      <p:sp>
        <p:nvSpPr>
          <p:cNvPr id="3" name="Content Placeholder 2">
            <a:extLst>
              <a:ext uri="{FF2B5EF4-FFF2-40B4-BE49-F238E27FC236}">
                <a16:creationId xmlns:a16="http://schemas.microsoft.com/office/drawing/2014/main" id="{0F272972-5505-4116-9B77-265CA0CDF584}"/>
              </a:ext>
            </a:extLst>
          </p:cNvPr>
          <p:cNvSpPr>
            <a:spLocks noGrp="1"/>
          </p:cNvSpPr>
          <p:nvPr>
            <p:ph idx="1"/>
          </p:nvPr>
        </p:nvSpPr>
        <p:spPr>
          <a:xfrm>
            <a:off x="479376" y="1846263"/>
            <a:ext cx="11377263" cy="4022725"/>
          </a:xfrm>
        </p:spPr>
        <p:txBody>
          <a:bodyPr/>
          <a:lstStyle/>
          <a:p>
            <a:pPr algn="l"/>
            <a:endParaRPr lang="en-GB" sz="2600" dirty="0">
              <a:latin typeface="Times New Roman" panose="02020603050405020304" pitchFamily="18" charset="0"/>
              <a:cs typeface="Times New Roman" panose="02020603050405020304" pitchFamily="18" charset="0"/>
            </a:endParaRPr>
          </a:p>
          <a:p>
            <a:pPr algn="l"/>
            <a:endParaRPr lang="en-GB" sz="2600" dirty="0">
              <a:latin typeface="Times New Roman" panose="02020603050405020304" pitchFamily="18" charset="0"/>
              <a:cs typeface="Times New Roman" panose="02020603050405020304" pitchFamily="18" charset="0"/>
            </a:endParaRPr>
          </a:p>
          <a:p>
            <a:pPr algn="ctr"/>
            <a:r>
              <a:rPr lang="en-GB" sz="2600" b="1" dirty="0">
                <a:latin typeface="Times New Roman" panose="02020603050405020304" pitchFamily="18" charset="0"/>
                <a:cs typeface="Times New Roman" panose="02020603050405020304" pitchFamily="18" charset="0"/>
              </a:rPr>
              <a:t>Evaluation styles</a:t>
            </a:r>
          </a:p>
          <a:p>
            <a:pPr algn="ctr"/>
            <a:endParaRPr lang="en-GB" sz="2600" b="1" dirty="0">
              <a:latin typeface="Times New Roman" panose="02020603050405020304" pitchFamily="18" charset="0"/>
              <a:cs typeface="Times New Roman" panose="02020603050405020304" pitchFamily="18" charset="0"/>
            </a:endParaRPr>
          </a:p>
          <a:p>
            <a:pPr algn="ctr"/>
            <a:endParaRPr lang="en-GB" sz="2600" b="1" dirty="0">
              <a:latin typeface="Times New Roman" panose="02020603050405020304" pitchFamily="18" charset="0"/>
              <a:cs typeface="Times New Roman" panose="02020603050405020304" pitchFamily="18" charset="0"/>
            </a:endParaRPr>
          </a:p>
          <a:p>
            <a:pPr algn="l"/>
            <a:endParaRPr lang="en-GB"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A865D3A-877A-4182-B8D7-DB31275856CB}"/>
              </a:ext>
            </a:extLst>
          </p:cNvPr>
          <p:cNvSpPr>
            <a:spLocks noGrp="1"/>
          </p:cNvSpPr>
          <p:nvPr>
            <p:ph type="sldNum" sz="quarter" idx="12"/>
          </p:nvPr>
        </p:nvSpPr>
        <p:spPr/>
        <p:txBody>
          <a:bodyPr/>
          <a:lstStyle/>
          <a:p>
            <a:pPr>
              <a:defRPr/>
            </a:pPr>
            <a:fld id="{784CB106-59EF-4E38-AE9E-B3544BD66F06}" type="slidenum">
              <a:rPr lang="en-GB" altLang="en-US" smtClean="0"/>
              <a:pPr>
                <a:defRPr/>
              </a:pPr>
              <a:t>62</a:t>
            </a:fld>
            <a:endParaRPr lang="en-GB" altLang="en-US"/>
          </a:p>
        </p:txBody>
      </p:sp>
      <p:cxnSp>
        <p:nvCxnSpPr>
          <p:cNvPr id="6" name="Straight Connector 5">
            <a:extLst>
              <a:ext uri="{FF2B5EF4-FFF2-40B4-BE49-F238E27FC236}">
                <a16:creationId xmlns:a16="http://schemas.microsoft.com/office/drawing/2014/main" id="{75527454-1BEF-4228-A759-EE9F5BD55199}"/>
              </a:ext>
            </a:extLst>
          </p:cNvPr>
          <p:cNvCxnSpPr/>
          <p:nvPr/>
        </p:nvCxnSpPr>
        <p:spPr>
          <a:xfrm flipH="1">
            <a:off x="5307003" y="3284984"/>
            <a:ext cx="864096"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F241F06-5364-49CF-AACA-412AD2246778}"/>
              </a:ext>
            </a:extLst>
          </p:cNvPr>
          <p:cNvCxnSpPr>
            <a:cxnSpLocks/>
          </p:cNvCxnSpPr>
          <p:nvPr/>
        </p:nvCxnSpPr>
        <p:spPr>
          <a:xfrm>
            <a:off x="6187332" y="3284984"/>
            <a:ext cx="720080" cy="648072"/>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3381DD-6EFF-49C7-B0AC-131414593136}"/>
              </a:ext>
            </a:extLst>
          </p:cNvPr>
          <p:cNvSpPr txBox="1"/>
          <p:nvPr/>
        </p:nvSpPr>
        <p:spPr>
          <a:xfrm>
            <a:off x="1449938" y="3857625"/>
            <a:ext cx="4608512" cy="892552"/>
          </a:xfrm>
          <a:prstGeom prst="rect">
            <a:avLst/>
          </a:prstGeom>
          <a:noFill/>
        </p:spPr>
        <p:txBody>
          <a:bodyPr wrap="square" rtlCol="0">
            <a:spAutoFit/>
          </a:bodyPr>
          <a:lstStyle/>
          <a:p>
            <a:r>
              <a:rPr lang="en-GB" sz="2600" b="0" i="0" u="none" strike="noStrike" baseline="0" dirty="0">
                <a:latin typeface="Times New Roman" panose="02020603050405020304" pitchFamily="18" charset="0"/>
                <a:cs typeface="Times New Roman" panose="02020603050405020304" pitchFamily="18" charset="0"/>
              </a:rPr>
              <a:t>those performed under laboratory conditions </a:t>
            </a:r>
            <a:endParaRPr lang="en-GH" sz="2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2F6DE3A-2497-4396-B659-7B3BABA4D0E8}"/>
              </a:ext>
            </a:extLst>
          </p:cNvPr>
          <p:cNvSpPr txBox="1"/>
          <p:nvPr/>
        </p:nvSpPr>
        <p:spPr>
          <a:xfrm>
            <a:off x="6152326" y="3898063"/>
            <a:ext cx="5760638" cy="492443"/>
          </a:xfrm>
          <a:prstGeom prst="rect">
            <a:avLst/>
          </a:prstGeom>
          <a:noFill/>
        </p:spPr>
        <p:txBody>
          <a:bodyPr wrap="square" rtlCol="0">
            <a:spAutoFit/>
          </a:bodyPr>
          <a:lstStyle/>
          <a:p>
            <a:r>
              <a:rPr lang="en-GB" sz="2600" b="0" i="0" u="none" strike="noStrike" baseline="0" dirty="0">
                <a:latin typeface="Times New Roman" panose="02020603050405020304" pitchFamily="18" charset="0"/>
                <a:cs typeface="Times New Roman" panose="02020603050405020304" pitchFamily="18" charset="0"/>
              </a:rPr>
              <a:t>those performed ‘in the field’ </a:t>
            </a:r>
            <a:endParaRPr lang="en-GH"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99760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D0297-B294-4935-9337-1145DA24EC7F}"/>
              </a:ext>
            </a:extLst>
          </p:cNvPr>
          <p:cNvSpPr>
            <a:spLocks noGrp="1"/>
          </p:cNvSpPr>
          <p:nvPr>
            <p:ph type="title"/>
          </p:nvPr>
        </p:nvSpPr>
        <p:spPr/>
        <p:txBody>
          <a:bodyPr/>
          <a:lstStyle/>
          <a:p>
            <a:r>
              <a:rPr lang="en-GB" sz="2000" dirty="0">
                <a:latin typeface="Times New Roman" panose="02020603050405020304" pitchFamily="18" charset="0"/>
                <a:cs typeface="Times New Roman" panose="02020603050405020304" pitchFamily="18" charset="0"/>
              </a:rPr>
              <a:t>Styles of Evaluation</a:t>
            </a:r>
            <a:r>
              <a:rPr lang="en-GB" dirty="0">
                <a:latin typeface="Times New Roman" panose="02020603050405020304" pitchFamily="18" charset="0"/>
                <a:cs typeface="Times New Roman" panose="02020603050405020304" pitchFamily="18" charset="0"/>
              </a:rPr>
              <a:t>: Laboratory studies</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5D1DA1-5CAA-46FA-A251-AB54B54776EE}"/>
              </a:ext>
            </a:extLst>
          </p:cNvPr>
          <p:cNvSpPr>
            <a:spLocks noGrp="1"/>
          </p:cNvSpPr>
          <p:nvPr>
            <p:ph idx="1"/>
          </p:nvPr>
        </p:nvSpPr>
        <p:spPr>
          <a:xfrm>
            <a:off x="623392" y="1846263"/>
            <a:ext cx="11233248" cy="4391049"/>
          </a:xfrm>
        </p:spPr>
        <p:txBody>
          <a:bodyPr/>
          <a:lstStyle/>
          <a:p>
            <a:pPr algn="l"/>
            <a:r>
              <a:rPr lang="en-GB" sz="2600" b="0" i="0" u="none" strike="noStrike" baseline="0" dirty="0">
                <a:latin typeface="Times New Roman" panose="02020603050405020304" pitchFamily="18" charset="0"/>
                <a:cs typeface="Times New Roman" panose="02020603050405020304" pitchFamily="18" charset="0"/>
              </a:rPr>
              <a:t>In the first type of evaluation studies, users are taken out of their normal work environment to take part in controlled tests, often in a specialist usability laboratory</a:t>
            </a:r>
            <a:endParaRPr lang="en-GB" sz="260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In addition, </a:t>
            </a:r>
            <a:r>
              <a:rPr lang="en-GB" sz="2600" b="0" i="0" u="none" strike="noStrike" baseline="0" dirty="0">
                <a:solidFill>
                  <a:srgbClr val="00B050"/>
                </a:solidFill>
                <a:latin typeface="Times New Roman" panose="02020603050405020304" pitchFamily="18" charset="0"/>
                <a:cs typeface="Times New Roman" panose="02020603050405020304" pitchFamily="18" charset="0"/>
              </a:rPr>
              <a:t>the participants operate in an interruption-free environment. </a:t>
            </a:r>
            <a:endParaRPr lang="en-GB" sz="2600" b="0" i="0" u="none" strike="noStrike" baseline="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However, the lack of context – for example, filing cabinets, wall calendars, books or interruptions – and the unnatural situation may mean that one accurately records a situation that never arises in the real world. </a:t>
            </a:r>
            <a:r>
              <a:rPr lang="en-GB" sz="2600" b="0" i="0" u="none" strike="noStrike" baseline="0" dirty="0">
                <a:solidFill>
                  <a:srgbClr val="C00000"/>
                </a:solidFill>
                <a:latin typeface="Times New Roman" panose="02020603050405020304" pitchFamily="18" charset="0"/>
                <a:cs typeface="Times New Roman" panose="02020603050405020304" pitchFamily="18" charset="0"/>
              </a:rPr>
              <a:t>It is especially difficult to observe several people cooperating on a task in a laboratory situation</a:t>
            </a:r>
            <a:endParaRPr lang="en-GB" sz="2600" dirty="0">
              <a:solidFill>
                <a:srgbClr val="C00000"/>
              </a:solidFill>
              <a:latin typeface="Times New Roman" panose="02020603050405020304" pitchFamily="18" charset="0"/>
              <a:cs typeface="Times New Roman" panose="02020603050405020304" pitchFamily="18" charset="0"/>
            </a:endParaRPr>
          </a:p>
          <a:p>
            <a:pPr algn="l"/>
            <a:r>
              <a:rPr lang="en-GB" sz="2600" b="1" i="0" u="none" strike="noStrike" baseline="0" dirty="0">
                <a:latin typeface="Times New Roman" panose="02020603050405020304" pitchFamily="18" charset="0"/>
                <a:cs typeface="Times New Roman" panose="02020603050405020304" pitchFamily="18" charset="0"/>
              </a:rPr>
              <a:t>There are, however, some situations where laboratory observation is the only option, for example, if the system is to be located in a dangerous or remote location, such as a space station.</a:t>
            </a:r>
          </a:p>
          <a:p>
            <a:pPr algn="l"/>
            <a:endParaRPr lang="en-GH" sz="2600" b="1"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C661151-0113-4687-87D8-F4CDC1D7936A}"/>
              </a:ext>
            </a:extLst>
          </p:cNvPr>
          <p:cNvSpPr>
            <a:spLocks noGrp="1"/>
          </p:cNvSpPr>
          <p:nvPr>
            <p:ph type="sldNum" sz="quarter" idx="12"/>
          </p:nvPr>
        </p:nvSpPr>
        <p:spPr/>
        <p:txBody>
          <a:bodyPr/>
          <a:lstStyle/>
          <a:p>
            <a:pPr>
              <a:defRPr/>
            </a:pPr>
            <a:fld id="{784CB106-59EF-4E38-AE9E-B3544BD66F06}" type="slidenum">
              <a:rPr lang="en-GB" altLang="en-US" smtClean="0"/>
              <a:pPr>
                <a:defRPr/>
              </a:pPr>
              <a:t>63</a:t>
            </a:fld>
            <a:endParaRPr lang="en-GB" altLang="en-US"/>
          </a:p>
        </p:txBody>
      </p:sp>
    </p:spTree>
    <p:extLst>
      <p:ext uri="{BB962C8B-B14F-4D97-AF65-F5344CB8AC3E}">
        <p14:creationId xmlns:p14="http://schemas.microsoft.com/office/powerpoint/2010/main" val="21071513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BAB9E-A0ED-E437-9CA7-7BB9950610D6}"/>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Laboratory studies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78CA707-173E-2A36-06FC-6E3B1BA6FD14}"/>
              </a:ext>
            </a:extLst>
          </p:cNvPr>
          <p:cNvSpPr>
            <a:spLocks noGrp="1"/>
          </p:cNvSpPr>
          <p:nvPr>
            <p:ph idx="1"/>
          </p:nvPr>
        </p:nvSpPr>
        <p:spPr/>
        <p:txBody>
          <a:bodyPr/>
          <a:lstStyle/>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ACTIVITY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A company is developing a new car seat to monitor whether a person is starting to fall asleep while driving and to provide a wake-up call using olfactory and haptic feedback. Where would you evaluate it?</a:t>
            </a:r>
          </a:p>
          <a:p>
            <a:pPr algn="l"/>
            <a:r>
              <a:rPr lang="en-US" sz="2600" b="1" i="0" u="none" strike="noStrike" baseline="0" dirty="0">
                <a:solidFill>
                  <a:srgbClr val="000000"/>
                </a:solidFill>
                <a:latin typeface="Times New Roman" panose="02020603050405020304" pitchFamily="18" charset="0"/>
                <a:cs typeface="Times New Roman" panose="02020603050405020304" pitchFamily="18" charset="0"/>
              </a:rPr>
              <a:t>Comment</a:t>
            </a: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It would be initially important to conduct lab-based experiments using a car simulator to see the effectiveness of the new type of feedback—in a safe setting, of course! You would also need to find a way to try to get the participants to fall asleep at the wheel. Once established as an effective mechanism, you would then need to test it in a more natural setting, such as a race track, airfield, or safe training circuit for new drivers, which can be controlled by the experimenter using a dual-control car.</a:t>
            </a:r>
            <a:endParaRPr lang="en-US"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BE0E13-997A-079D-048E-65B732A40DE3}"/>
              </a:ext>
            </a:extLst>
          </p:cNvPr>
          <p:cNvSpPr>
            <a:spLocks noGrp="1"/>
          </p:cNvSpPr>
          <p:nvPr>
            <p:ph type="sldNum" sz="quarter" idx="12"/>
          </p:nvPr>
        </p:nvSpPr>
        <p:spPr/>
        <p:txBody>
          <a:bodyPr/>
          <a:lstStyle/>
          <a:p>
            <a:pPr>
              <a:defRPr/>
            </a:pPr>
            <a:fld id="{784CB106-59EF-4E38-AE9E-B3544BD66F06}" type="slidenum">
              <a:rPr lang="en-GB" altLang="en-US" smtClean="0"/>
              <a:pPr>
                <a:defRPr/>
              </a:pPr>
              <a:t>64</a:t>
            </a:fld>
            <a:endParaRPr lang="en-GB" altLang="en-US"/>
          </a:p>
        </p:txBody>
      </p:sp>
    </p:spTree>
    <p:extLst>
      <p:ext uri="{BB962C8B-B14F-4D97-AF65-F5344CB8AC3E}">
        <p14:creationId xmlns:p14="http://schemas.microsoft.com/office/powerpoint/2010/main" val="14160951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D0297-B294-4935-9337-1145DA24EC7F}"/>
              </a:ext>
            </a:extLst>
          </p:cNvPr>
          <p:cNvSpPr>
            <a:spLocks noGrp="1"/>
          </p:cNvSpPr>
          <p:nvPr>
            <p:ph type="title"/>
          </p:nvPr>
        </p:nvSpPr>
        <p:spPr/>
        <p:txBody>
          <a:bodyPr/>
          <a:lstStyle/>
          <a:p>
            <a:r>
              <a:rPr lang="en-GB" sz="2000" dirty="0">
                <a:latin typeface="Times New Roman" panose="02020603050405020304" pitchFamily="18" charset="0"/>
                <a:cs typeface="Times New Roman" panose="02020603050405020304" pitchFamily="18" charset="0"/>
              </a:rPr>
              <a:t>Styles of Evaluation</a:t>
            </a:r>
            <a:r>
              <a:rPr lang="en-GB" dirty="0">
                <a:latin typeface="Times New Roman" panose="02020603050405020304" pitchFamily="18" charset="0"/>
                <a:cs typeface="Times New Roman" panose="02020603050405020304" pitchFamily="18" charset="0"/>
              </a:rPr>
              <a:t>: Field studies</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5D1DA1-5CAA-46FA-A251-AB54B54776EE}"/>
              </a:ext>
            </a:extLst>
          </p:cNvPr>
          <p:cNvSpPr>
            <a:spLocks noGrp="1"/>
          </p:cNvSpPr>
          <p:nvPr>
            <p:ph idx="1"/>
          </p:nvPr>
        </p:nvSpPr>
        <p:spPr>
          <a:xfrm>
            <a:off x="623392" y="1846263"/>
            <a:ext cx="11233248" cy="4391049"/>
          </a:xfrm>
        </p:spPr>
        <p:txBody>
          <a:bodyPr/>
          <a:lstStyle/>
          <a:p>
            <a:pPr algn="l"/>
            <a:r>
              <a:rPr lang="en-GB" sz="2600" b="1" i="0" u="none" strike="noStrike" baseline="0" dirty="0">
                <a:latin typeface="Times New Roman" panose="02020603050405020304" pitchFamily="18" charset="0"/>
                <a:cs typeface="Times New Roman" panose="02020603050405020304" pitchFamily="18" charset="0"/>
              </a:rPr>
              <a:t>The second type of evaluation takes the designer or evaluator out into the user’s work environment in order to observe the system in action. </a:t>
            </a:r>
            <a:endParaRPr lang="en-GB" sz="260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Again this approach has its pros and cons.</a:t>
            </a:r>
          </a:p>
          <a:p>
            <a:pPr algn="l"/>
            <a:r>
              <a:rPr lang="en-GB" sz="2600" b="0" i="0" u="none" strike="noStrike" baseline="0" dirty="0">
                <a:solidFill>
                  <a:srgbClr val="FF0000"/>
                </a:solidFill>
                <a:latin typeface="Times New Roman" panose="02020603050405020304" pitchFamily="18" charset="0"/>
                <a:cs typeface="Times New Roman" panose="02020603050405020304" pitchFamily="18" charset="0"/>
              </a:rPr>
              <a:t>High levels of ambient noise, greater levels of movement and constant interruptions, such as phone calls, all make field observation difficult.</a:t>
            </a:r>
          </a:p>
          <a:p>
            <a:pPr algn="l"/>
            <a:endParaRPr lang="en-GB" sz="2600" b="0" i="0" u="none" strike="noStrike" baseline="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 </a:t>
            </a:r>
            <a:r>
              <a:rPr lang="en-GB" sz="2600" b="0" i="0" u="none" strike="noStrike" baseline="0" dirty="0">
                <a:solidFill>
                  <a:srgbClr val="00B050"/>
                </a:solidFill>
                <a:latin typeface="Times New Roman" panose="02020603050405020304" pitchFamily="18" charset="0"/>
                <a:cs typeface="Times New Roman" panose="02020603050405020304" pitchFamily="18" charset="0"/>
              </a:rPr>
              <a:t>However, the very ‘open’ nature of the situation means that you will observe interactions between systems and between individuals that would have been missed in a laboratory study.</a:t>
            </a:r>
            <a:endParaRPr lang="en-GH" sz="2600" b="1" dirty="0">
              <a:solidFill>
                <a:srgbClr val="00B05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C661151-0113-4687-87D8-F4CDC1D7936A}"/>
              </a:ext>
            </a:extLst>
          </p:cNvPr>
          <p:cNvSpPr>
            <a:spLocks noGrp="1"/>
          </p:cNvSpPr>
          <p:nvPr>
            <p:ph type="sldNum" sz="quarter" idx="12"/>
          </p:nvPr>
        </p:nvSpPr>
        <p:spPr/>
        <p:txBody>
          <a:bodyPr/>
          <a:lstStyle/>
          <a:p>
            <a:pPr>
              <a:defRPr/>
            </a:pPr>
            <a:fld id="{784CB106-59EF-4E38-AE9E-B3544BD66F06}" type="slidenum">
              <a:rPr lang="en-GB" altLang="en-US" smtClean="0"/>
              <a:pPr>
                <a:defRPr/>
              </a:pPr>
              <a:t>65</a:t>
            </a:fld>
            <a:endParaRPr lang="en-GB" altLang="en-US"/>
          </a:p>
        </p:txBody>
      </p:sp>
    </p:spTree>
    <p:extLst>
      <p:ext uri="{BB962C8B-B14F-4D97-AF65-F5344CB8AC3E}">
        <p14:creationId xmlns:p14="http://schemas.microsoft.com/office/powerpoint/2010/main" val="33964932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F9BA5-CD8D-0030-80FF-4A0C18F221FA}"/>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D3FEED07-3FF7-3A9F-73A6-1B398C047083}"/>
              </a:ext>
            </a:extLst>
          </p:cNvPr>
          <p:cNvPicPr>
            <a:picLocks noGrp="1" noChangeAspect="1"/>
          </p:cNvPicPr>
          <p:nvPr>
            <p:ph idx="1"/>
          </p:nvPr>
        </p:nvPicPr>
        <p:blipFill rotWithShape="1">
          <a:blip r:embed="rId2"/>
          <a:srcRect l="27437" t="26815" r="27745" b="14115"/>
          <a:stretch/>
        </p:blipFill>
        <p:spPr>
          <a:xfrm>
            <a:off x="979487" y="-79649"/>
            <a:ext cx="9148961" cy="6779621"/>
          </a:xfrm>
        </p:spPr>
      </p:pic>
      <p:sp>
        <p:nvSpPr>
          <p:cNvPr id="4" name="Slide Number Placeholder 3">
            <a:extLst>
              <a:ext uri="{FF2B5EF4-FFF2-40B4-BE49-F238E27FC236}">
                <a16:creationId xmlns:a16="http://schemas.microsoft.com/office/drawing/2014/main" id="{D2D07FCB-6D9E-FEB2-0555-35D43FC49854}"/>
              </a:ext>
            </a:extLst>
          </p:cNvPr>
          <p:cNvSpPr>
            <a:spLocks noGrp="1"/>
          </p:cNvSpPr>
          <p:nvPr>
            <p:ph type="sldNum" sz="quarter" idx="12"/>
          </p:nvPr>
        </p:nvSpPr>
        <p:spPr/>
        <p:txBody>
          <a:bodyPr/>
          <a:lstStyle/>
          <a:p>
            <a:pPr>
              <a:defRPr/>
            </a:pPr>
            <a:fld id="{784CB106-59EF-4E38-AE9E-B3544BD66F06}" type="slidenum">
              <a:rPr lang="en-GB" altLang="en-US" smtClean="0"/>
              <a:pPr>
                <a:defRPr/>
              </a:pPr>
              <a:t>66</a:t>
            </a:fld>
            <a:endParaRPr lang="en-GB" altLang="en-US"/>
          </a:p>
        </p:txBody>
      </p:sp>
    </p:spTree>
    <p:extLst>
      <p:ext uri="{BB962C8B-B14F-4D97-AF65-F5344CB8AC3E}">
        <p14:creationId xmlns:p14="http://schemas.microsoft.com/office/powerpoint/2010/main" val="38762079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7034B-D490-C1A0-1FF9-7335AF07C11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6651929-DFBF-0AED-5676-FA15BBF28134}"/>
              </a:ext>
            </a:extLst>
          </p:cNvPr>
          <p:cNvSpPr>
            <a:spLocks noGrp="1"/>
          </p:cNvSpPr>
          <p:nvPr>
            <p:ph idx="1"/>
          </p:nvPr>
        </p:nvSpPr>
        <p:spPr>
          <a:xfrm>
            <a:off x="1096963" y="1846263"/>
            <a:ext cx="10058400" cy="4463057"/>
          </a:xfrm>
        </p:spPr>
        <p:txBody>
          <a:bodyPr/>
          <a:lstStyle/>
          <a:p>
            <a:pPr algn="l"/>
            <a:r>
              <a:rPr lang="en-US" sz="2600" b="1" i="0" u="none" strike="noStrike" baseline="0" dirty="0">
                <a:latin typeface="Times New Roman" panose="02020603050405020304" pitchFamily="18" charset="0"/>
                <a:cs typeface="Times New Roman" panose="02020603050405020304" pitchFamily="18" charset="0"/>
              </a:rPr>
              <a:t>Comment</a:t>
            </a:r>
          </a:p>
          <a:p>
            <a:pPr algn="l"/>
            <a:r>
              <a:rPr lang="en-US" sz="2600" b="0" i="0" u="none" strike="noStrike" baseline="0" dirty="0">
                <a:latin typeface="Times New Roman" panose="02020603050405020304" pitchFamily="18" charset="0"/>
                <a:cs typeface="Times New Roman" panose="02020603050405020304" pitchFamily="18" charset="0"/>
              </a:rPr>
              <a:t>There are several usability issues to consider. Some that you might be particularly interested in finding out about include how comfortable the device is to wear, how clearly the information is presented, what other information is presented (for example, time), how long the battery lasts before it needs to be recharged, and so forth. </a:t>
            </a:r>
          </a:p>
          <a:p>
            <a:pPr algn="l"/>
            <a:r>
              <a:rPr lang="en-US" sz="2600" b="0" i="0" u="none" strike="noStrike" baseline="0" dirty="0">
                <a:latin typeface="Times New Roman" panose="02020603050405020304" pitchFamily="18" charset="0"/>
                <a:cs typeface="Times New Roman" panose="02020603050405020304" pitchFamily="18" charset="0"/>
              </a:rPr>
              <a:t>Most important of all might be how accurate the device is, particularly for recording heart rate if that is a concern for you.</a:t>
            </a:r>
          </a:p>
        </p:txBody>
      </p:sp>
      <p:sp>
        <p:nvSpPr>
          <p:cNvPr id="4" name="Slide Number Placeholder 3">
            <a:extLst>
              <a:ext uri="{FF2B5EF4-FFF2-40B4-BE49-F238E27FC236}">
                <a16:creationId xmlns:a16="http://schemas.microsoft.com/office/drawing/2014/main" id="{D56115E0-B750-0BCC-4E84-5BCEF78F1326}"/>
              </a:ext>
            </a:extLst>
          </p:cNvPr>
          <p:cNvSpPr>
            <a:spLocks noGrp="1"/>
          </p:cNvSpPr>
          <p:nvPr>
            <p:ph type="sldNum" sz="quarter" idx="12"/>
          </p:nvPr>
        </p:nvSpPr>
        <p:spPr/>
        <p:txBody>
          <a:bodyPr/>
          <a:lstStyle/>
          <a:p>
            <a:pPr>
              <a:defRPr/>
            </a:pPr>
            <a:fld id="{784CB106-59EF-4E38-AE9E-B3544BD66F06}" type="slidenum">
              <a:rPr lang="en-GB" altLang="en-US" smtClean="0"/>
              <a:pPr>
                <a:defRPr/>
              </a:pPr>
              <a:t>67</a:t>
            </a:fld>
            <a:endParaRPr lang="en-GB" altLang="en-US"/>
          </a:p>
        </p:txBody>
      </p:sp>
    </p:spTree>
    <p:extLst>
      <p:ext uri="{BB962C8B-B14F-4D97-AF65-F5344CB8AC3E}">
        <p14:creationId xmlns:p14="http://schemas.microsoft.com/office/powerpoint/2010/main" val="12491490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22E73-4F74-56F0-2C29-7EDCE6F1A1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834BF2-20E9-DEF6-D44B-34D547B87A90}"/>
              </a:ext>
            </a:extLst>
          </p:cNvPr>
          <p:cNvSpPr>
            <a:spLocks noGrp="1"/>
          </p:cNvSpPr>
          <p:nvPr>
            <p:ph idx="1"/>
          </p:nvPr>
        </p:nvSpPr>
        <p:spPr/>
        <p:txBody>
          <a:bodyPr/>
          <a:lstStyle/>
          <a:p>
            <a:pPr algn="l"/>
            <a:r>
              <a:rPr lang="en-US" sz="2600" b="0" i="0" u="none" strike="noStrike" baseline="0" dirty="0">
                <a:latin typeface="Times New Roman" panose="02020603050405020304" pitchFamily="18" charset="0"/>
                <a:cs typeface="Times New Roman" panose="02020603050405020304" pitchFamily="18" charset="0"/>
              </a:rPr>
              <a:t>Since these devices are worn on your wrist, they can be considered to be fashion items.</a:t>
            </a:r>
          </a:p>
          <a:p>
            <a:pPr algn="l"/>
            <a:r>
              <a:rPr lang="en-US" sz="2600" b="0" i="0" u="none" strike="noStrike" baseline="0" dirty="0">
                <a:latin typeface="Times New Roman" panose="02020603050405020304" pitchFamily="18" charset="0"/>
                <a:cs typeface="Times New Roman" panose="02020603050405020304" pitchFamily="18" charset="0"/>
              </a:rPr>
              <a:t>Therefore, you might want to know whether they are available in different colors, whether they are bulky and likely to rub on clothes and cause damage, and whether they are discrete or clearly noticeable.</a:t>
            </a:r>
            <a:endParaRPr lang="en-US" sz="2600" dirty="0">
              <a:latin typeface="Times New Roman" panose="02020603050405020304" pitchFamily="18" charset="0"/>
              <a:cs typeface="Times New Roman" panose="02020603050405020304" pitchFamily="18" charset="0"/>
            </a:endParaRPr>
          </a:p>
          <a:p>
            <a:endParaRPr lang="en-US" sz="2600" dirty="0"/>
          </a:p>
        </p:txBody>
      </p:sp>
      <p:sp>
        <p:nvSpPr>
          <p:cNvPr id="4" name="Slide Number Placeholder 3">
            <a:extLst>
              <a:ext uri="{FF2B5EF4-FFF2-40B4-BE49-F238E27FC236}">
                <a16:creationId xmlns:a16="http://schemas.microsoft.com/office/drawing/2014/main" id="{74D69485-9D04-5751-B4A0-C3549B98B76F}"/>
              </a:ext>
            </a:extLst>
          </p:cNvPr>
          <p:cNvSpPr>
            <a:spLocks noGrp="1"/>
          </p:cNvSpPr>
          <p:nvPr>
            <p:ph type="sldNum" sz="quarter" idx="12"/>
          </p:nvPr>
        </p:nvSpPr>
        <p:spPr/>
        <p:txBody>
          <a:bodyPr/>
          <a:lstStyle/>
          <a:p>
            <a:pPr>
              <a:defRPr/>
            </a:pPr>
            <a:fld id="{784CB106-59EF-4E38-AE9E-B3544BD66F06}" type="slidenum">
              <a:rPr lang="en-GB" altLang="en-US" smtClean="0"/>
              <a:pPr>
                <a:defRPr/>
              </a:pPr>
              <a:t>68</a:t>
            </a:fld>
            <a:endParaRPr lang="en-GB" altLang="en-US"/>
          </a:p>
        </p:txBody>
      </p:sp>
    </p:spTree>
    <p:extLst>
      <p:ext uri="{BB962C8B-B14F-4D97-AF65-F5344CB8AC3E}">
        <p14:creationId xmlns:p14="http://schemas.microsoft.com/office/powerpoint/2010/main" val="12367954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7FAEF-4ECE-BDCE-0A01-F1DE67A5C69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Evaluation: Issues to consider</a:t>
            </a:r>
          </a:p>
        </p:txBody>
      </p:sp>
      <p:sp>
        <p:nvSpPr>
          <p:cNvPr id="3" name="Content Placeholder 2">
            <a:extLst>
              <a:ext uri="{FF2B5EF4-FFF2-40B4-BE49-F238E27FC236}">
                <a16:creationId xmlns:a16="http://schemas.microsoft.com/office/drawing/2014/main" id="{84057279-69C1-D526-CF46-FC7E36332E64}"/>
              </a:ext>
            </a:extLst>
          </p:cNvPr>
          <p:cNvSpPr>
            <a:spLocks noGrp="1"/>
          </p:cNvSpPr>
          <p:nvPr>
            <p:ph idx="1"/>
          </p:nvPr>
        </p:nvSpPr>
        <p:spPr/>
        <p:txBody>
          <a:bodyPr/>
          <a:lstStyle/>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What do you have to tell participants, and what if they decide part way through the study that they don’t want to continue to the end? Can they stop, or do they have to continue? </a:t>
            </a: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Two central issues are:</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Informing participants about their rights</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Making sure you take into account biases and other influences that impact how you</a:t>
            </a:r>
          </a:p>
          <a:p>
            <a:pPr algn="l"/>
            <a:r>
              <a:rPr lang="en-US" sz="2600" b="0" i="0" u="none" strike="noStrike" baseline="0" dirty="0">
                <a:solidFill>
                  <a:srgbClr val="000000"/>
                </a:solidFill>
                <a:latin typeface="Times New Roman" panose="02020603050405020304" pitchFamily="18" charset="0"/>
                <a:cs typeface="Times New Roman" panose="02020603050405020304" pitchFamily="18" charset="0"/>
              </a:rPr>
              <a:t>describe your evaluation findings</a:t>
            </a:r>
          </a:p>
          <a:p>
            <a:pPr algn="l"/>
            <a:r>
              <a:rPr lang="en-US" sz="2600" b="0" i="0" u="none" strike="noStrike" baseline="0" dirty="0">
                <a:solidFill>
                  <a:srgbClr val="0086B2"/>
                </a:solidFill>
                <a:latin typeface="Times New Roman" panose="02020603050405020304" pitchFamily="18" charset="0"/>
                <a:cs typeface="Times New Roman" panose="02020603050405020304" pitchFamily="18" charset="0"/>
              </a:rPr>
              <a:t>•• </a:t>
            </a:r>
            <a:r>
              <a:rPr lang="en-US" sz="2600" dirty="0">
                <a:solidFill>
                  <a:srgbClr val="000000"/>
                </a:solidFill>
                <a:latin typeface="Times New Roman" panose="02020603050405020304" pitchFamily="18" charset="0"/>
                <a:cs typeface="Times New Roman" panose="02020603050405020304" pitchFamily="18" charset="0"/>
              </a:rPr>
              <a:t>Ethical approval</a:t>
            </a:r>
            <a:endParaRPr lang="en-US"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3566A6A-5825-E6B6-CBBA-C081150950F4}"/>
              </a:ext>
            </a:extLst>
          </p:cNvPr>
          <p:cNvSpPr>
            <a:spLocks noGrp="1"/>
          </p:cNvSpPr>
          <p:nvPr>
            <p:ph type="sldNum" sz="quarter" idx="12"/>
          </p:nvPr>
        </p:nvSpPr>
        <p:spPr/>
        <p:txBody>
          <a:bodyPr/>
          <a:lstStyle/>
          <a:p>
            <a:pPr>
              <a:defRPr/>
            </a:pPr>
            <a:fld id="{784CB106-59EF-4E38-AE9E-B3544BD66F06}" type="slidenum">
              <a:rPr lang="en-GB" altLang="en-US" smtClean="0"/>
              <a:pPr>
                <a:defRPr/>
              </a:pPr>
              <a:t>69</a:t>
            </a:fld>
            <a:endParaRPr lang="en-GB" altLang="en-US"/>
          </a:p>
        </p:txBody>
      </p:sp>
    </p:spTree>
    <p:extLst>
      <p:ext uri="{BB962C8B-B14F-4D97-AF65-F5344CB8AC3E}">
        <p14:creationId xmlns:p14="http://schemas.microsoft.com/office/powerpoint/2010/main" val="5296014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pPr algn="ctr"/>
            <a:r>
              <a:rPr lang="en-US" altLang="en-US" dirty="0">
                <a:latin typeface="Times New Roman" panose="02020603050405020304" pitchFamily="18" charset="0"/>
                <a:cs typeface="Times New Roman" panose="02020603050405020304" pitchFamily="18" charset="0"/>
              </a:rPr>
              <a:t>Summary</a:t>
            </a:r>
          </a:p>
        </p:txBody>
      </p:sp>
      <p:sp>
        <p:nvSpPr>
          <p:cNvPr id="60419" name="Content Placeholder 2"/>
          <p:cNvSpPr>
            <a:spLocks noGrp="1"/>
          </p:cNvSpPr>
          <p:nvPr>
            <p:ph idx="1"/>
          </p:nvPr>
        </p:nvSpPr>
        <p:spPr>
          <a:xfrm>
            <a:off x="838200" y="1736725"/>
            <a:ext cx="10515600" cy="4440238"/>
          </a:xfrm>
        </p:spPr>
        <p:txBody>
          <a:bodyPr/>
          <a:lstStyle/>
          <a:p>
            <a:pPr>
              <a:buFont typeface="Wingdings" panose="05000000000000000000" pitchFamily="2" charset="2"/>
              <a:buChar char="§"/>
            </a:pPr>
            <a:r>
              <a:rPr lang="en-US" altLang="en-US" sz="2600" dirty="0">
                <a:latin typeface="Times New Roman" panose="02020603050405020304" pitchFamily="18" charset="0"/>
                <a:cs typeface="Times New Roman" panose="02020603050405020304" pitchFamily="18" charset="0"/>
              </a:rPr>
              <a:t>Evaluation is an integral part of the design process and should take place throughout the design life cycle. </a:t>
            </a:r>
          </a:p>
          <a:p>
            <a:pPr>
              <a:buFont typeface="Wingdings" panose="05000000000000000000" pitchFamily="2" charset="2"/>
              <a:buChar char="§"/>
            </a:pPr>
            <a:r>
              <a:rPr lang="en-US" altLang="en-US" sz="2600" dirty="0">
                <a:latin typeface="Times New Roman" panose="02020603050405020304" pitchFamily="18" charset="0"/>
                <a:cs typeface="Times New Roman" panose="02020603050405020304" pitchFamily="18" charset="0"/>
              </a:rPr>
              <a:t>Its aim is to test the functionality and usability of the design and to identify and rectify any problems.</a:t>
            </a:r>
          </a:p>
          <a:p>
            <a:pPr>
              <a:buFont typeface="Wingdings" panose="05000000000000000000" pitchFamily="2" charset="2"/>
              <a:buChar char="§"/>
            </a:pPr>
            <a:r>
              <a:rPr lang="en-US" altLang="en-US" sz="2600" dirty="0">
                <a:latin typeface="Times New Roman" panose="02020603050405020304" pitchFamily="18" charset="0"/>
                <a:cs typeface="Times New Roman" panose="02020603050405020304" pitchFamily="18" charset="0"/>
              </a:rPr>
              <a:t> It can also try to determine the user’s attitude and response to the system. </a:t>
            </a:r>
          </a:p>
          <a:p>
            <a:pPr>
              <a:buFont typeface="Wingdings" panose="05000000000000000000" pitchFamily="2" charset="2"/>
              <a:buChar char="§"/>
            </a:pPr>
            <a:endParaRPr lang="en-US" alt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altLang="en-US" sz="2600" dirty="0">
                <a:latin typeface="Times New Roman" panose="02020603050405020304" pitchFamily="18" charset="0"/>
                <a:cs typeface="Times New Roman" panose="02020603050405020304" pitchFamily="18" charset="0"/>
              </a:rPr>
              <a:t>It can take place in a specialist laboratory or in the user’s workplace, and may or may not involve active participation on the part of the user.</a:t>
            </a:r>
          </a:p>
          <a:p>
            <a:endParaRPr lang="en-US" altLang="en-US" sz="2600" dirty="0">
              <a:latin typeface="Times New Roman" panose="02020603050405020304" pitchFamily="18" charset="0"/>
              <a:cs typeface="Times New Roman" panose="02020603050405020304" pitchFamily="18" charset="0"/>
            </a:endParaRPr>
          </a:p>
        </p:txBody>
      </p:sp>
      <p:sp>
        <p:nvSpPr>
          <p:cNvPr id="6042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8581D8F-2D30-4D18-B727-F2908829BF5E}" type="slidenum">
              <a:rPr lang="en-GB" altLang="en-US">
                <a:solidFill>
                  <a:srgbClr val="FFC551"/>
                </a:solidFill>
                <a:latin typeface="Century Gothic" panose="020B0502020202020204" pitchFamily="34" charset="0"/>
              </a:rPr>
              <a:pPr/>
              <a:t>70</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7185113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pPr algn="ctr"/>
            <a:r>
              <a:rPr lang="en-US" altLang="en-US" dirty="0">
                <a:latin typeface="Times New Roman" panose="02020603050405020304" pitchFamily="18" charset="0"/>
                <a:cs typeface="Times New Roman" panose="02020603050405020304" pitchFamily="18" charset="0"/>
              </a:rPr>
              <a:t>Summary</a:t>
            </a:r>
          </a:p>
        </p:txBody>
      </p:sp>
      <p:sp>
        <p:nvSpPr>
          <p:cNvPr id="60419" name="Content Placeholder 2"/>
          <p:cNvSpPr>
            <a:spLocks noGrp="1"/>
          </p:cNvSpPr>
          <p:nvPr>
            <p:ph idx="1"/>
          </p:nvPr>
        </p:nvSpPr>
        <p:spPr>
          <a:xfrm>
            <a:off x="838200" y="2132855"/>
            <a:ext cx="10515600" cy="4044107"/>
          </a:xfrm>
        </p:spPr>
        <p:txBody>
          <a:bodyPr/>
          <a:lstStyle/>
          <a:p>
            <a:endParaRPr lang="en-US" alt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altLang="en-US" sz="2600" dirty="0">
                <a:latin typeface="Times New Roman" panose="02020603050405020304" pitchFamily="18" charset="0"/>
                <a:cs typeface="Times New Roman" panose="02020603050405020304" pitchFamily="18" charset="0"/>
              </a:rPr>
              <a:t>A design can be evaluated before any implementation work has started, to minimize the cost of early design errors. </a:t>
            </a:r>
          </a:p>
          <a:p>
            <a:pPr>
              <a:buFont typeface="Wingdings" panose="05000000000000000000" pitchFamily="2" charset="2"/>
              <a:buChar char="§"/>
            </a:pPr>
            <a:endParaRPr lang="en-US" alt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altLang="en-US" sz="2600" dirty="0">
                <a:latin typeface="Times New Roman" panose="02020603050405020304" pitchFamily="18" charset="0"/>
                <a:cs typeface="Times New Roman" panose="02020603050405020304" pitchFamily="18" charset="0"/>
              </a:rPr>
              <a:t>Most techniques for evaluation at this stage are analytic and involve using an expert to assess the design against cognitive and usability principles.</a:t>
            </a:r>
          </a:p>
        </p:txBody>
      </p:sp>
      <p:sp>
        <p:nvSpPr>
          <p:cNvPr id="6042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8581D8F-2D30-4D18-B727-F2908829BF5E}" type="slidenum">
              <a:rPr lang="en-GB" altLang="en-US">
                <a:solidFill>
                  <a:srgbClr val="FFC551"/>
                </a:solidFill>
                <a:latin typeface="Century Gothic" panose="020B0502020202020204" pitchFamily="34" charset="0"/>
              </a:rPr>
              <a:pPr/>
              <a:t>71</a:t>
            </a:fld>
            <a:endParaRPr lang="en-GB" altLang="en-US">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7888985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p:cNvSpPr>
            <a:spLocks noGrp="1" noChangeArrowheads="1"/>
          </p:cNvSpPr>
          <p:nvPr>
            <p:ph idx="1"/>
          </p:nvPr>
        </p:nvSpPr>
        <p:spPr>
          <a:xfrm>
            <a:off x="3124200" y="2924175"/>
            <a:ext cx="7086600" cy="2376488"/>
          </a:xfrm>
        </p:spPr>
        <p:txBody>
          <a:bodyPr/>
          <a:lstStyle/>
          <a:p>
            <a:pPr marL="0" indent="0" eaLnBrk="1" hangingPunct="1">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marL="0" indent="0" algn="ctr" eaLnBrk="1" hangingPunct="1">
              <a:buFont typeface="Arial" panose="020B0604020202020204" pitchFamily="34" charset="0"/>
              <a:buNone/>
            </a:pPr>
            <a:r>
              <a:rPr lang="en-US" altLang="en-US" sz="6600" dirty="0">
                <a:latin typeface="Times New Roman" panose="02020603050405020304" pitchFamily="18" charset="0"/>
                <a:cs typeface="Times New Roman" panose="02020603050405020304" pitchFamily="18" charset="0"/>
              </a:rPr>
              <a:t>THANK YOU</a:t>
            </a:r>
          </a:p>
        </p:txBody>
      </p:sp>
      <p:sp>
        <p:nvSpPr>
          <p:cNvPr id="59397" name="Date Placeholder 4"/>
          <p:cNvSpPr>
            <a:spLocks noGrp="1"/>
          </p:cNvSpPr>
          <p:nvPr>
            <p:ph type="dt" sz="quarter" idx="10"/>
          </p:nvPr>
        </p:nvSpPr>
        <p:spPr/>
        <p:txBody>
          <a:bodyPr/>
          <a:lstStyle/>
          <a:p>
            <a:pPr>
              <a:defRPr/>
            </a:pPr>
            <a:fld id="{BDEEDA69-C557-4CF5-B18C-B3053D04829F}" type="datetime1">
              <a:rPr lang="en-GB">
                <a:solidFill>
                  <a:schemeClr val="tx1">
                    <a:tint val="75000"/>
                  </a:schemeClr>
                </a:solidFill>
              </a:rPr>
              <a:pPr>
                <a:defRPr/>
              </a:pPr>
              <a:t>07/01/2023</a:t>
            </a:fld>
            <a:endParaRPr lang="en-GB" dirty="0">
              <a:solidFill>
                <a:schemeClr val="tx1">
                  <a:tint val="75000"/>
                </a:schemeClr>
              </a:solidFill>
            </a:endParaRPr>
          </a:p>
        </p:txBody>
      </p:sp>
      <p:sp>
        <p:nvSpPr>
          <p:cNvPr id="870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76A2730-E7D1-47D9-B442-8B365F6A2DBC}" type="slidenum">
              <a:rPr lang="en-GB" altLang="en-US" sz="2800">
                <a:solidFill>
                  <a:schemeClr val="folHlink"/>
                </a:solidFill>
                <a:latin typeface="Arial" panose="020B0604020202020204" pitchFamily="34" charset="0"/>
                <a:cs typeface="Arial" panose="020B0604020202020204" pitchFamily="34" charset="0"/>
              </a:rPr>
              <a:pPr/>
              <a:t>72</a:t>
            </a:fld>
            <a:endParaRPr lang="en-GB" altLang="en-US" sz="2800">
              <a:solidFill>
                <a:schemeClr val="folHlink"/>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17528</TotalTime>
  <Words>5062</Words>
  <Application>Microsoft Office PowerPoint</Application>
  <PresentationFormat>Widescreen</PresentationFormat>
  <Paragraphs>465</Paragraphs>
  <Slides>72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Arial</vt:lpstr>
      <vt:lpstr>Calibri</vt:lpstr>
      <vt:lpstr>Calibri Light</vt:lpstr>
      <vt:lpstr>Century Gothic</vt:lpstr>
      <vt:lpstr>Futura Md BT</vt:lpstr>
      <vt:lpstr>Times New Roman</vt:lpstr>
      <vt:lpstr>Wingdings</vt:lpstr>
      <vt:lpstr>Retrospect</vt:lpstr>
      <vt:lpstr> CSM 357 Human-Computer Interaction lecture 5: Evaluation Techniques</vt:lpstr>
      <vt:lpstr>PowerPoint Presentation</vt:lpstr>
      <vt:lpstr>Evaluation Techniques</vt:lpstr>
      <vt:lpstr>Goals of Evaluation</vt:lpstr>
      <vt:lpstr>Evaluation Techniques</vt:lpstr>
      <vt:lpstr>Evaluation Techniques</vt:lpstr>
      <vt:lpstr>Evaluation through expert analysis</vt:lpstr>
      <vt:lpstr>Evaluation through expert analysis</vt:lpstr>
      <vt:lpstr>Evaluation through expert analysis: 1. cognitive walkthrough </vt:lpstr>
      <vt:lpstr>Evaluation through expert analysis: 1. cognitive walkthrough </vt:lpstr>
      <vt:lpstr>Evaluation through expert analysis: 1. cognitive walkthrough </vt:lpstr>
      <vt:lpstr>Evaluation through expert analysis: 1. cognitive walkthrough </vt:lpstr>
      <vt:lpstr>Evaluation through expert analysis: 1. cognitive walkthrough </vt:lpstr>
      <vt:lpstr>Evaluation through expert analysis: 2. Heuristic evaluation</vt:lpstr>
      <vt:lpstr>How to perform a heuristic evaluation</vt:lpstr>
      <vt:lpstr>How to perform heuristic evaluation cont’d</vt:lpstr>
      <vt:lpstr>How to perform heuristic evaluation cont’d</vt:lpstr>
      <vt:lpstr>Nielson’s Heuristics</vt:lpstr>
      <vt:lpstr>Ten Usability Heuristics (from Jakob Nielsen): Heuristic 1: Visibility of System status</vt:lpstr>
      <vt:lpstr>Ten Usability Heuristics (from Jakob Nielsen): Heuristic 2: Match between system and the real world </vt:lpstr>
      <vt:lpstr>Ten Usability Heuristics (from Jakob Nielsen): Heuristic 3: User control and freedom </vt:lpstr>
      <vt:lpstr>Ten Usability Heuristics (from Jakob Nielsen): Heuristic 4: Consistency and standards </vt:lpstr>
      <vt:lpstr>Ten Usability Heuristics (from Jakob Nielsen): Heuristic 5: Error prevention </vt:lpstr>
      <vt:lpstr>Ten Usability Heuristics (from Jakob Nielsen): Heuristic 6 Recognition rather than recall  </vt:lpstr>
      <vt:lpstr>Ten Usability Heuristics (from Jakob Nielsen): Heuristic 7. Flexibility and efficiency of use  </vt:lpstr>
      <vt:lpstr>  Ten Usability Heuristics (from Jakob Nielsen): Heuristic 8. Aesthetic and minimalist design   </vt:lpstr>
      <vt:lpstr>  Ten Usability Heuristics (from Jakob Nielsen): Heuristic 9. Help users recognize, diagnose and recover from errors  </vt:lpstr>
      <vt:lpstr>  Ten Usability Heuristics (from Jakob Nielsen): Heuristic 10. Help and documentation  </vt:lpstr>
      <vt:lpstr>Pros of Heuristic Evaluation </vt:lpstr>
      <vt:lpstr>Cons of Heuristic Evaluation </vt:lpstr>
      <vt:lpstr>Heuristic Evaluation Reading assignment</vt:lpstr>
      <vt:lpstr>Evaluation through expert analysis: 3. the use of models  </vt:lpstr>
      <vt:lpstr>Evaluation through expert analysis: 4. Using previous studies in evaluation</vt:lpstr>
      <vt:lpstr>PowerPoint Presentation</vt:lpstr>
      <vt:lpstr> Evaluation through user participation  </vt:lpstr>
      <vt:lpstr>Evaluation Through User Participation </vt:lpstr>
      <vt:lpstr>Evaluation Through User Participation: experimental/empirical  evaluation</vt:lpstr>
      <vt:lpstr>Evaluation Through User Participation: experimental/empirical  evaluation</vt:lpstr>
      <vt:lpstr>Participants</vt:lpstr>
      <vt:lpstr>Variables</vt:lpstr>
      <vt:lpstr>PowerPoint Presentation</vt:lpstr>
      <vt:lpstr>PowerPoint Presentation</vt:lpstr>
      <vt:lpstr>Hypotheses </vt:lpstr>
      <vt:lpstr>Experimental design</vt:lpstr>
      <vt:lpstr>Experimental design: Between-subjects</vt:lpstr>
      <vt:lpstr>PowerPoint Presentation</vt:lpstr>
      <vt:lpstr>Case study: Within subjects and between subjects</vt:lpstr>
      <vt:lpstr>Advantages and Disadvantages of Between-subjects experimental design</vt:lpstr>
      <vt:lpstr>Experimental design: Within-subjects</vt:lpstr>
      <vt:lpstr>Empirical research: Example 1</vt:lpstr>
      <vt:lpstr>Empirical research: Example 2</vt:lpstr>
      <vt:lpstr>Evaluation Through User Participation: Observational techniques</vt:lpstr>
      <vt:lpstr>Evaluation Through User Participation: Observational techniques</vt:lpstr>
      <vt:lpstr>Some of the techniques used to evaluate systems by observing user behavior.</vt:lpstr>
      <vt:lpstr>Assignment</vt:lpstr>
      <vt:lpstr>Protocol analysis</vt:lpstr>
      <vt:lpstr>Automatic protocol analysis tools </vt:lpstr>
      <vt:lpstr>Evaluation Through User Participation: Query Techniques</vt:lpstr>
      <vt:lpstr>Evaluation Through User Participation: Evaluation through monitoring physiological responses</vt:lpstr>
      <vt:lpstr>Choose an appropriate evaluation method for each of the following situations. </vt:lpstr>
      <vt:lpstr>Choose an appropriate evaluation method for each of the following situations. </vt:lpstr>
      <vt:lpstr>Styles of evaluation</vt:lpstr>
      <vt:lpstr>Styles of Evaluation: Laboratory studies</vt:lpstr>
      <vt:lpstr>Laboratory studies</vt:lpstr>
      <vt:lpstr>Styles of Evaluation: Field studies</vt:lpstr>
      <vt:lpstr>PowerPoint Presentation</vt:lpstr>
      <vt:lpstr>PowerPoint Presentation</vt:lpstr>
      <vt:lpstr>PowerPoint Presentation</vt:lpstr>
      <vt:lpstr>Evaluation: Issues to consider</vt:lpstr>
      <vt:lpstr>Summary</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knowledge management</dc:title>
  <dc:creator>Pierro</dc:creator>
  <cp:lastModifiedBy>Kaku Kyle</cp:lastModifiedBy>
  <cp:revision>487</cp:revision>
  <cp:lastPrinted>2018-09-24T12:35:42Z</cp:lastPrinted>
  <dcterms:created xsi:type="dcterms:W3CDTF">2011-10-18T10:49:17Z</dcterms:created>
  <dcterms:modified xsi:type="dcterms:W3CDTF">2023-01-07T02:53:05Z</dcterms:modified>
</cp:coreProperties>
</file>